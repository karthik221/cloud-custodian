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1e91cac2-31ca-77d8-240a-9866dc611707}">
          <p14:sldIdLst>
            <p14:sldId id="256"/>
            <p14:sldId id="257"/>
            <p14:sldId id="258"/>
            <p14:sldId id="259"/>
          </p14:sldIdLst>
        </p14:section>
        <p14:section name="Comparison" id="{1882027b-484c-8e9b-6038-fe83d51f20aa}">
          <p14:sldIdLst>
            <p14:sldId id="260"/>
            <p14:sldId id="261"/>
            <p14:sldId id="262"/>
            <p14:sldId id="263"/>
            <p14:sldId id="264"/>
            <p14:sldId id="265"/>
            <p14:sldId id="266"/>
            <p14:sldId id="267"/>
          </p14:sldIdLst>
        </p14:section>
        <p14:section name="Decision" id="{ceb8a479-8a62-2d2e-ea79-b820c72354dc}">
          <p14:sldIdLst>
            <p14:sldId id="268"/>
            <p14:sldId id="269"/>
            <p14:sldId id="270"/>
          </p14:sldIdLst>
        </p14:section>
        <p14:section name="Appendix" id="{0f7289ff-ca77-6bdf-5779-888edec2baa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 (%)</c:v>
                </c:pt>
              </c:strCache>
            </c:strRef>
          </c:tx>
          <c:spPr>
            <a:solidFill>
              <a:srgbClr val="16324F"/>
            </a:solidFill>
            <a:effectLst/>
          </c:spPr>
          <c:invertIfNegative val="0"/>
          <c:dLbls>
            <c:numFmt formatCode="0&quot;%&quot;" sourceLinked="0"/>
            <c:txPr>
              <a:bodyPr/>
              <a:lstStyle/>
              <a:p>
                <a:pPr>
                  <a:defRPr b="1" i="0" strike="noStrike" sz="1300" u="none">
                    <a:solidFill>
                      <a:srgbClr val="0B1F33"/>
                    </a:solidFill>
                    <a:latin typeface="+mn-lt"/>
                  </a:defRPr>
                </a:pPr>
              </a:p>
            </c:txPr>
            <c:showLegendKey val="0"/>
            <c:showVal val="1"/>
            <c:showCatName val="0"/>
            <c:showSerName val="0"/>
            <c:showPercent val="0"/>
            <c:showBubbleSize val="0"/>
            <c:showLeaderLines val="0"/>
          </c:dLbls>
          <c:cat>
            <c:multiLvlStrRef>
              <c:f>Sheet1!$A$2:$A$10</c:f>
              <c:multiLvlStrCache>
                <c:ptCount val="9"/>
                <c:lvl>
                  <c:pt idx="0">
                    <c:v>Identity and access (Entra ID)</c:v>
                  </c:pt>
                  <c:pt idx="1">
                    <c:v>Security, guardrails and policy</c:v>
                  </c:pt>
                  <c:pt idx="2">
                    <c:v>Data gravity and Databricks access</c:v>
                  </c:pt>
                  <c:pt idx="3">
                    <c:v>Observability (Dynatrace)</c:v>
                  </c:pt>
                  <c:pt idx="4">
                    <c:v>Gateway fit (Kong)</c:v>
                  </c:pt>
                  <c:pt idx="5">
                    <c:v>Runtime capability and dev flexibility</c:v>
                  </c:pt>
                  <c:pt idx="6">
                    <c:v>Maturity and future-proofing</c:v>
                  </c:pt>
                  <c:pt idx="7">
                    <c:v>Cost and TCO</c:v>
                  </c:pt>
                  <c:pt idx="8">
                    <c:v>Operational overhead</c:v>
                  </c:pt>
                </c:lvl>
              </c:multiLvlStrCache>
            </c:multiLvlStrRef>
          </c:cat>
          <c:val>
            <c:numRef>
              <c:f>Sheet1!$B$2:$B$10</c:f>
              <c:numCache>
                <c:formatCode>General</c:formatCode>
                <c:ptCount val="9"/>
                <c:pt idx="0">
                  <c:v>15</c:v>
                </c:pt>
                <c:pt idx="1">
                  <c:v>15</c:v>
                </c:pt>
                <c:pt idx="2">
                  <c:v>15</c:v>
                </c:pt>
                <c:pt idx="3">
                  <c:v>10</c:v>
                </c:pt>
                <c:pt idx="4">
                  <c:v>10</c:v>
                </c:pt>
                <c:pt idx="5">
                  <c:v>10</c:v>
                </c:pt>
                <c:pt idx="6">
                  <c:v>10</c:v>
                </c:pt>
                <c:pt idx="7">
                  <c:v>8</c:v>
                </c:pt>
                <c:pt idx="8">
                  <c:v>7</c:v>
                </c:pt>
              </c:numCache>
            </c:numRef>
          </c:val>
        </c:ser>
        <c:dLbls>
          <c:numFmt formatCode="0&quot;%&quot;" sourceLinked="0"/>
          <c:txPr>
            <a:bodyPr/>
            <a:lstStyle/>
            <a:p>
              <a:pPr>
                <a:defRPr b="1" i="0" strike="noStrike" sz="1300" u="none">
                  <a:solidFill>
                    <a:srgbClr val="0B1F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Monthly runtime compute (illustrative, USD)</a:t>
            </a:r>
          </a:p>
        </c:rich>
      </c:tx>
      <c:layout/>
      <c:overlay val="0"/>
    </c:title>
    <c:autoTitleDeleted val="0"/>
    <c:plotArea>
      <c:layout/>
      <c:barChart>
        <c:barDir val="col"/>
        <c:grouping val="clustered"/>
        <c:varyColors val="0"/>
        <c:ser>
          <c:idx val="0"/>
          <c:order val="0"/>
          <c:tx>
            <c:strRef>
              <c:f>Sheet1!$B$1</c:f>
              <c:strCache>
                <c:ptCount val="1"/>
                <c:pt idx="0">
                  <c:v>AgentCore Runtime v1</c:v>
                </c:pt>
              </c:strCache>
            </c:strRef>
          </c:tx>
          <c:spPr>
            <a:solidFill>
              <a:srgbClr val="E07B00"/>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Sheet1!$A$2:$A$3</c:f>
              <c:multiLvlStrCache>
                <c:ptCount val="2"/>
                <c:lvl>
                  <c:pt idx="0">
                    <c:v>10K tasks per month</c:v>
                  </c:pt>
                  <c:pt idx="1">
                    <c:v>100K tasks per month</c:v>
                  </c:pt>
                </c:lvl>
              </c:multiLvlStrCache>
            </c:multiLvlStrRef>
          </c:cat>
          <c:val>
            <c:numRef>
              <c:f>Sheet1!$B$2:$B$3</c:f>
              <c:numCache>
                <c:formatCode>General</c:formatCode>
                <c:ptCount val="2"/>
                <c:pt idx="0">
                  <c:v>18</c:v>
                </c:pt>
                <c:pt idx="1">
                  <c:v>181</c:v>
                </c:pt>
              </c:numCache>
            </c:numRef>
          </c:val>
        </c:ser>
        <c:ser>
          <c:idx val="1"/>
          <c:order val="1"/>
          <c:tx>
            <c:strRef>
              <c:f>Sheet1!$C$1</c:f>
              <c:strCache>
                <c:ptCount val="1"/>
                <c:pt idx="0">
                  <c:v>AgentCore Runtime v2</c:v>
                </c:pt>
              </c:strCache>
            </c:strRef>
          </c:tx>
          <c:spPr>
            <a:solidFill>
              <a:srgbClr val="9C5300"/>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Sheet1!$A$2:$A$3</c:f>
              <c:multiLvlStrCache>
                <c:ptCount val="2"/>
                <c:lvl>
                  <c:pt idx="0">
                    <c:v>10K tasks per month</c:v>
                  </c:pt>
                  <c:pt idx="1">
                    <c:v>100K tasks per month</c:v>
                  </c:pt>
                </c:lvl>
              </c:multiLvlStrCache>
            </c:multiLvlStrRef>
          </c:cat>
          <c:val>
            <c:numRef>
              <c:f>Sheet1!$C$2:$C$3</c:f>
              <c:numCache>
                <c:formatCode>General</c:formatCode>
                <c:ptCount val="2"/>
                <c:pt idx="0">
                  <c:v>27</c:v>
                </c:pt>
                <c:pt idx="1">
                  <c:v>269</c:v>
                </c:pt>
              </c:numCache>
            </c:numRef>
          </c:val>
        </c:ser>
        <c:ser>
          <c:idx val="2"/>
          <c:order val="2"/>
          <c:tx>
            <c:strRef>
              <c:f>Sheet1!$D$1</c:f>
              <c:strCache>
                <c:ptCount val="1"/>
                <c:pt idx="0">
                  <c:v>Foundry hosted agents</c:v>
                </c:pt>
              </c:strCache>
            </c:strRef>
          </c:tx>
          <c:spPr>
            <a:solidFill>
              <a:srgbClr val="0F6CBD"/>
            </a:solidFill>
            <a:effectLst/>
          </c:spPr>
          <c:invertIfNegative val="0"/>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Sheet1!$A$2:$A$3</c:f>
              <c:multiLvlStrCache>
                <c:ptCount val="2"/>
                <c:lvl>
                  <c:pt idx="0">
                    <c:v>10K tasks per month</c:v>
                  </c:pt>
                  <c:pt idx="1">
                    <c:v>100K tasks per month</c:v>
                  </c:pt>
                </c:lvl>
              </c:multiLvlStrCache>
            </c:multiLvlStrRef>
          </c:cat>
          <c:val>
            <c:numRef>
              <c:f>Sheet1!$D$2:$D$3</c:f>
              <c:numCache>
                <c:formatCode>General</c:formatCode>
                <c:ptCount val="2"/>
                <c:pt idx="0">
                  <c:v>21</c:v>
                </c:pt>
                <c:pt idx="1">
                  <c:v>205</c:v>
                </c:pt>
              </c:numCache>
            </c:numRef>
          </c:val>
        </c:ser>
        <c:dLbls>
          <c:numFmt formatCode="$#,##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3"/>
                </a:solidFill>
                <a:latin typeface="+mn-lt"/>
              </a:defRPr>
            </a:pPr>
            <a:r>
              <a:rPr sz="1400" b="0" i="0" u="none" strike="noStrike">
                <a:solidFill>
                  <a:srgbClr val="0B1F33"/>
                </a:solidFill>
                <a:latin typeface="+mn-lt"/>
              </a:rPr>
              <a:t>Sensitivity to weighting (out of 5)</a:t>
            </a:r>
          </a:p>
        </c:rich>
      </c:tx>
      <c:layout/>
      <c:overlay val="0"/>
    </c:title>
    <c:autoTitleDeleted val="0"/>
    <c:plotArea>
      <c:layout/>
      <c:barChart>
        <c:barDir val="col"/>
        <c:grouping val="clustered"/>
        <c:varyColors val="0"/>
        <c:ser>
          <c:idx val="0"/>
          <c:order val="0"/>
          <c:tx>
            <c:strRef>
              <c:f>Sheet1!$B$1</c:f>
              <c:strCache>
                <c:ptCount val="1"/>
                <c:pt idx="0">
                  <c:v>AgentCore</c:v>
                </c:pt>
              </c:strCache>
            </c:strRef>
          </c:tx>
          <c:spPr>
            <a:solidFill>
              <a:srgbClr val="E07B00"/>
            </a:solidFill>
            <a:effectLst/>
          </c:spPr>
          <c:invertIfNegative val="0"/>
          <c:dLbls>
            <c:numFmt formatCode="0.0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Sheet1!$A$2:$A$4</c:f>
              <c:multiLvlStrCache>
                <c:ptCount val="3"/>
                <c:lvl>
                  <c:pt idx="0">
                    <c:v>Our weights</c:v>
                  </c:pt>
                  <c:pt idx="1">
                    <c:v>Equal weights</c:v>
                  </c:pt>
                  <c:pt idx="2">
                    <c:v>Merit only</c:v>
                  </c:pt>
                </c:lvl>
              </c:multiLvlStrCache>
            </c:multiLvlStrRef>
          </c:cat>
          <c:val>
            <c:numRef>
              <c:f>Sheet1!$B$2:$B$4</c:f>
              <c:numCache>
                <c:formatCode>General</c:formatCode>
                <c:ptCount val="3"/>
                <c:pt idx="0">
                  <c:v>3.75</c:v>
                </c:pt>
                <c:pt idx="1">
                  <c:v>3.72</c:v>
                </c:pt>
                <c:pt idx="2">
                  <c:v>3.96</c:v>
                </c:pt>
              </c:numCache>
            </c:numRef>
          </c:val>
        </c:ser>
        <c:ser>
          <c:idx val="1"/>
          <c:order val="1"/>
          <c:tx>
            <c:strRef>
              <c:f>Sheet1!$C$1</c:f>
              <c:strCache>
                <c:ptCount val="1"/>
                <c:pt idx="0">
                  <c:v>Foundry</c:v>
                </c:pt>
              </c:strCache>
            </c:strRef>
          </c:tx>
          <c:spPr>
            <a:solidFill>
              <a:srgbClr val="0F6CBD"/>
            </a:solidFill>
            <a:effectLst/>
          </c:spPr>
          <c:invertIfNegative val="0"/>
          <c:dLbls>
            <c:numFmt formatCode="0.0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cat>
            <c:multiLvlStrRef>
              <c:f>Sheet1!$A$2:$A$4</c:f>
              <c:multiLvlStrCache>
                <c:ptCount val="3"/>
                <c:lvl>
                  <c:pt idx="0">
                    <c:v>Our weights</c:v>
                  </c:pt>
                  <c:pt idx="1">
                    <c:v>Equal weights</c:v>
                  </c:pt>
                  <c:pt idx="2">
                    <c:v>Merit only</c:v>
                  </c:pt>
                </c:lvl>
              </c:multiLvlStrCache>
            </c:multiLvlStrRef>
          </c:cat>
          <c:val>
            <c:numRef>
              <c:f>Sheet1!$C$2:$C$4</c:f>
              <c:numCache>
                <c:formatCode>General</c:formatCode>
                <c:ptCount val="3"/>
                <c:pt idx="0">
                  <c:v>4.13</c:v>
                </c:pt>
                <c:pt idx="1">
                  <c:v>4.06</c:v>
                </c:pt>
                <c:pt idx="2">
                  <c:v>3.75</c:v>
                </c:pt>
              </c:numCache>
            </c:numRef>
          </c:val>
        </c:ser>
        <c:dLbls>
          <c:numFmt formatCode="0.00" sourceLinked="0"/>
          <c:txPr>
            <a:bodyPr/>
            <a:lstStyle/>
            <a:p>
              <a:pPr>
                <a:defRPr b="0" i="0" strike="noStrike" sz="1200" u="none">
                  <a:solidFill>
                    <a:srgbClr val="0B1F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F33"/>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F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ask leadership to endorse a runtime standard for agents. We compared AWS Bedrock AgentCore and Microsoft Foundry Agent Service against our actual constraints: Entra ID identity, Kong AI Gateway, Dynatrace monitoring, and data that is mostly in Azure with Databricks connectivity. All facts reflect public documentation and pricing as of October 27,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Foundry is the default because our identity and data are Azure-centric; AgentCore remains a sanctioned option where workloads and data live in AWS. We are not claiming Foundry is the better platform in the abstract: on platform merit alone AgentCore scores slightly higher. The ask is a short PoC to validate the open items before we lock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standards are non-negotiable inputs. Entra ID and Azure data gravity favor Foundry. Kong and Dynatrace are platform-neutral in principle but each has a caveat we test in the PoC. Databricks location is an assumption: we assumed Azure Databricks. If a key workload's Databricks workspace is in AWS, that workload's data-gravity score flips.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total 100. Identity, security and data gravity carry the most weight at 15 each because they are the hardest to retrofit. Scores are architect judgment from public documentation, not benchmark results, so we show sensitivity on slide 12 and validate in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platform is limited on capability. AgentCore is a set of composable services you adopt independently; Foundry is a more integrated platform with a tighter Microsoft ecosystem story. Session limits and built-in tools differ, but both support any major agent framework through code-based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convenience-and-governance gap, not a hard blocker. AgentCore accepts any OIDC identity provider, and Entra tokens work. The difference is that Foundry provisions and governs a first-class Entra identity per agent, which simplifies access reviews and audit. Parts of the Entra governance integration are still in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Policy is GA and intercepts tool calls at the Gateway with deterministic Cedar rules; Guardrails inside Policy went GA in June 2026. Foundry's model-level guardrails are GA, but agent-level controls including tool-call and tool-response checks are still preview and apply only to supported tools. Foundry brings Defender and Entra integration. Policy applies only to traffic that goes through the Gateway, so tools must not be reachable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swing factor. Most agent value comes from reaching data, and ours is mostly in Azure. Agents on AgentCore can reach Azure data and Databricks over a private cloud interconnect, but we then own a second network path, egress cost and a second security perimeter. Foundry has Databricks Genie connectors via MCP; they were public preview when announced in November 2025, so verify current status. The advantage reverses for workloads whose data is in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Kong is not a differentiator for code-based agents because the agent controls its model endpoint and we enforce Kong with network egress rules. The caveat is Foundry prompt agents, where the service itself makes the model call; Microsoft's bring-your-own AI gateway feature, which names Kong, was public preview in November 2025, so confirm GA status in the PoC. Dynatrace has a first-class AgentCore integration; Foundry emits OpenTelemetry that Dynatrace can ingest.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10K and 100K tasks a month the runtime compute difference between platforms is tens to low hundreds of dollars, negligible next to LLM tokens. The real cost drivers are tokens (the same through Kong on either platform), observability ingestion, cross-cloud data movement if agents sit away from the data, and engineering effort. Pricing is volatile: AgentCore moved short-term memory to per-GB pricing on Oct 6, 2026 and introduced a v2 runtime with higher unit rates; Foundry compute is region-banded. Re-baseline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is about a year older in GA terms and has a more stable service shape, though pricing meters are still evolving. Foundry has the stronger strategic pull in a Microsoft estate but has shown churn: product renames, the workflow agent retirement on Dec 1, 2026, and several controls that remain preview. The mitigation is portability: keep agent logic framework-neutral and put identity, gateway and telemetry in the shared contract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scores are architect judgment from public documentation as of Oct 27, 2026, not benchmarks. The honest message: AgentCore is arguably the stronger standalone platform on security enforcement, runtime flexibility and maturity. Foundry wins in our environment because identity and data gravity are Azure-centric. 'Merit only' removes the identity and data criteria and rescales the remaining seven weights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Standardize the contract, not just the runtime. Whichever runtime a team uses, identity is Entra, model traffic goes through Kong, telemetry is OpenTelemetry into Dynatrace, and tools are MCP. That keeps the runtime decision reversible. Foundry is the default for Azure-data workloads; AgentCore is an approved exception under the same contract. The flip conditions are explicit so the decision can be revisited 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deploys one reference agent on both platforms under identical standards. Each exit criterion maps to an open question from this analysis: Entra on-behalf-of to Databricks, Kong enforcement, Dynatrace fidelity, guardrail and policy behavior, real cost including egress, and developer experience. Results re-score the rubric and either confirm or flip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risks are mostly about preview features and assumptions we can verify in six weeks. The decision we need today is to authorize the proof of concept, name accountable owners, and commit to a ratification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Prices are US list prices and move frequently. Re-verify preview versus GA status for any feature that gates production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ph idx="101" type="title" hasCustomPrompt="1"/>
          </p:nvPr>
        </p:nvSpPr>
        <p:spPr>
          <a:xfrm>
            <a:off x="640080" y="1554480"/>
            <a:ext cx="60350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640080" y="3840480"/>
            <a:ext cx="60350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Agentic runtime standard  |  Senior leadership brief  |  Oct 27, 2026</a:t>
            </a:r>
            <a:endParaRPr lang="en-US" sz="1000" dirty="0"/>
          </a:p>
        </p:txBody>
      </p:sp>
      <p:sp>
        <p:nvSpPr>
          <p:cNvPr id="3" name="Text 1"/>
          <p:cNvSpPr/>
          <p:nvPr>
            <p:ph idx="101"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Agentic runtime standard  |  Senior leadership brief  |  Oct 27, 2026</a:t>
            </a:r>
            <a:endParaRPr lang="en-US" sz="1000" dirty="0"/>
          </a:p>
        </p:txBody>
      </p:sp>
      <p:sp>
        <p:nvSpPr>
          <p:cNvPr id="4" name="Text 2"/>
          <p:cNvSpPr/>
          <p:nvPr>
            <p:ph idx="102"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554480"/>
            <a:ext cx="6035040" cy="2103120"/>
          </a:xfrm>
          <a:prstGeom prst="rect">
            <a:avLst/>
          </a:prstGeom>
          <a:noFill/>
          <a:ln/>
        </p:spPr>
        <p:txBody>
          <a:bodyPr wrap="square" lIns="0" tIns="0" rIns="0" bIns="0" rtlCol="0" anchor="b"/>
          <a:lstStyle/>
          <a:p>
            <a:pPr algn="l" indent="0" marL="0">
              <a:buNone/>
            </a:pPr>
            <a:r>
              <a:rPr lang="en-US" sz="4400" b="1" dirty="0">
                <a:solidFill>
                  <a:schemeClr val="bg1"/>
                </a:solidFill>
              </a:rPr>
              <a:t>Standardizing the Agentic Runtime</a:t>
            </a:r>
            <a:endParaRPr lang="en-US" sz="4400" dirty="0"/>
          </a:p>
        </p:txBody>
      </p:sp>
      <p:sp>
        <p:nvSpPr>
          <p:cNvPr id="3" name="Text 1"/>
          <p:cNvSpPr/>
          <p:nvPr>
            <p:ph idx="102" type="body" hasCustomPrompt="1"/>
          </p:nvPr>
        </p:nvSpPr>
        <p:spPr>
          <a:xfrm>
            <a:off x="640080" y="3840480"/>
            <a:ext cx="6035040" cy="914400"/>
          </a:xfrm>
          <a:prstGeom prst="rect">
            <a:avLst/>
          </a:prstGeom>
          <a:noFill/>
          <a:ln/>
        </p:spPr>
        <p:txBody>
          <a:bodyPr wrap="square" lIns="0" tIns="0" rIns="0" bIns="0" rtlCol="0" anchor="t"/>
          <a:lstStyle/>
          <a:p>
            <a:pPr algn="l" indent="0" marL="0">
              <a:buNone/>
            </a:pPr>
            <a:r>
              <a:rPr lang="en-US" sz="2000" dirty="0">
                <a:solidFill>
                  <a:schemeClr val="bg2"/>
                </a:solidFill>
              </a:rPr>
              <a:t>AWS Bedrock AgentCore vs. Microsoft Foundry Agent Service</a:t>
            </a:r>
            <a:endParaRPr lang="en-US" sz="2000" dirty="0"/>
          </a:p>
        </p:txBody>
      </p:sp>
      <p:sp>
        <p:nvSpPr>
          <p:cNvPr id="4" name="Date line"/>
          <p:cNvSpPr txBox="1"/>
          <p:nvPr/>
        </p:nvSpPr>
        <p:spPr>
          <a:xfrm>
            <a:off x="640080" y="5120640"/>
            <a:ext cx="6035040" cy="365760"/>
          </a:xfrm>
          <a:prstGeom prst="rect">
            <a:avLst/>
          </a:prstGeom>
          <a:noFill/>
          <a:ln/>
        </p:spPr>
        <p:txBody>
          <a:bodyPr wrap="square" lIns="0" tIns="0" rIns="0" bIns="0" rtlCol="0" anchor="t"/>
          <a:lstStyle/>
          <a:p>
            <a:pPr indent="0" marL="0">
              <a:buNone/>
            </a:pPr>
            <a:r>
              <a:rPr lang="en-US" sz="1400" dirty="0">
                <a:solidFill>
                  <a:schemeClr val="accent4"/>
                </a:solidFill>
              </a:rPr>
              <a:t>Decision brief for Senior Leadership  |  October 27, 2026</a:t>
            </a:r>
            <a:endParaRPr lang="en-US" sz="1400" dirty="0"/>
          </a:p>
        </p:txBody>
      </p:sp>
      <p:sp>
        <p:nvSpPr>
          <p:cNvPr id="5" name="AgentCore circle"/>
          <p:cNvSpPr/>
          <p:nvPr/>
        </p:nvSpPr>
        <p:spPr>
          <a:xfrm>
            <a:off x="6766560" y="1371600"/>
            <a:ext cx="3566160" cy="3566160"/>
          </a:xfrm>
          <a:prstGeom prst="ellipse">
            <a:avLst/>
          </a:prstGeom>
          <a:solidFill>
            <a:schemeClr val="accent2">
              <a:alpha val="75000"/>
            </a:schemeClr>
          </a:solidFill>
          <a:ln/>
        </p:spPr>
      </p:sp>
      <p:sp>
        <p:nvSpPr>
          <p:cNvPr id="6" name="Foundry circle"/>
          <p:cNvSpPr/>
          <p:nvPr/>
        </p:nvSpPr>
        <p:spPr>
          <a:xfrm>
            <a:off x="8229600" y="1371600"/>
            <a:ext cx="3566160" cy="3566160"/>
          </a:xfrm>
          <a:prstGeom prst="ellipse">
            <a:avLst/>
          </a:prstGeom>
          <a:solidFill>
            <a:schemeClr val="accent1">
              <a:alpha val="75000"/>
            </a:schemeClr>
          </a:solidFill>
          <a:ln/>
        </p:spPr>
      </p:sp>
      <p:sp>
        <p:nvSpPr>
          <p:cNvPr id="7" name="AgentCore label"/>
          <p:cNvSpPr txBox="1"/>
          <p:nvPr/>
        </p:nvSpPr>
        <p:spPr>
          <a:xfrm>
            <a:off x="6903720" y="2697480"/>
            <a:ext cx="1280160" cy="822960"/>
          </a:xfrm>
          <a:prstGeom prst="rect">
            <a:avLst/>
          </a:prstGeom>
          <a:noFill/>
          <a:ln/>
        </p:spPr>
        <p:txBody>
          <a:bodyPr wrap="square" lIns="0" tIns="0" rIns="0" bIns="0" rtlCol="0" anchor="ctr"/>
          <a:lstStyle/>
          <a:p>
            <a:pPr algn="ctr" indent="0" marL="0">
              <a:buNone/>
            </a:pPr>
            <a:r>
              <a:rPr lang="en-US" sz="1600" b="1" dirty="0">
                <a:solidFill>
                  <a:schemeClr val="bg1"/>
                </a:solidFill>
              </a:rPr>
              <a:t>AWS Bedrock</a:t>
            </a:r>
            <a:endParaRPr lang="en-US" sz="1600" dirty="0"/>
          </a:p>
          <a:p>
            <a:pPr algn="ctr" indent="0" marL="0">
              <a:buNone/>
            </a:pPr>
            <a:r>
              <a:rPr lang="en-US" sz="1600" b="1" dirty="0">
                <a:solidFill>
                  <a:schemeClr val="bg1"/>
                </a:solidFill>
              </a:rPr>
              <a:t>AgentCore</a:t>
            </a:r>
            <a:endParaRPr lang="en-US" sz="1600" dirty="0"/>
          </a:p>
        </p:txBody>
      </p:sp>
      <p:sp>
        <p:nvSpPr>
          <p:cNvPr id="8" name="Foundry label"/>
          <p:cNvSpPr txBox="1"/>
          <p:nvPr/>
        </p:nvSpPr>
        <p:spPr>
          <a:xfrm>
            <a:off x="10424160" y="2697480"/>
            <a:ext cx="1280160" cy="822960"/>
          </a:xfrm>
          <a:prstGeom prst="rect">
            <a:avLst/>
          </a:prstGeom>
          <a:noFill/>
          <a:ln/>
        </p:spPr>
        <p:txBody>
          <a:bodyPr wrap="square" lIns="0" tIns="0" rIns="0" bIns="0" rtlCol="0" anchor="ctr"/>
          <a:lstStyle/>
          <a:p>
            <a:pPr algn="ctr" indent="0" marL="0">
              <a:buNone/>
            </a:pPr>
            <a:r>
              <a:rPr lang="en-US" sz="1600" b="1" dirty="0">
                <a:solidFill>
                  <a:schemeClr val="bg1"/>
                </a:solidFill>
              </a:rPr>
              <a:t>Microsoft</a:t>
            </a:r>
            <a:endParaRPr lang="en-US" sz="1600" dirty="0"/>
          </a:p>
          <a:p>
            <a:pPr algn="ctr" indent="0" marL="0">
              <a:buNone/>
            </a:pPr>
            <a:r>
              <a:rPr lang="en-US" sz="1600" b="1" dirty="0">
                <a:solidFill>
                  <a:schemeClr val="bg1"/>
                </a:solidFill>
              </a:rPr>
              <a:t>Foundry</a:t>
            </a:r>
            <a:endParaRPr lang="en-US" sz="1600" dirty="0"/>
          </a:p>
        </p:txBody>
      </p:sp>
      <p:sp>
        <p:nvSpPr>
          <p:cNvPr id="9" name="Standards line"/>
          <p:cNvSpPr txBox="1"/>
          <p:nvPr/>
        </p:nvSpPr>
        <p:spPr>
          <a:xfrm>
            <a:off x="6766560" y="5257800"/>
            <a:ext cx="5029200" cy="548640"/>
          </a:xfrm>
          <a:prstGeom prst="rect">
            <a:avLst/>
          </a:prstGeom>
          <a:noFill/>
          <a:ln/>
        </p:spPr>
        <p:txBody>
          <a:bodyPr wrap="square" lIns="0" tIns="0" rIns="0" bIns="0" rtlCol="0" anchor="t"/>
          <a:lstStyle/>
          <a:p>
            <a:pPr algn="l" indent="0" marL="0">
              <a:buNone/>
            </a:pPr>
            <a:r>
              <a:rPr lang="en-US" sz="1400" dirty="0">
                <a:solidFill>
                  <a:schemeClr val="bg2"/>
                </a:solidFill>
              </a:rPr>
              <a:t>Same standards underneath:</a:t>
            </a:r>
            <a:endParaRPr lang="en-US" sz="1400" dirty="0"/>
          </a:p>
          <a:p>
            <a:pPr algn="l" indent="0" marL="0">
              <a:buNone/>
            </a:pPr>
            <a:r>
              <a:rPr lang="en-US" sz="1400" dirty="0">
                <a:solidFill>
                  <a:schemeClr val="bg2"/>
                </a:solidFill>
              </a:rPr>
              <a:t>Entra ID  |  Kong  |  Dynatrace  |  Databricks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Bottom line: Foundry first, AgentCore by exception</a:t>
            </a:r>
            <a:endParaRPr lang="en-US" sz="3200" dirty="0"/>
          </a:p>
        </p:txBody>
      </p:sp>
      <p:sp>
        <p:nvSpPr>
          <p:cNvPr id="3" name="Recommendation card"/>
          <p:cNvSpPr/>
          <p:nvPr/>
        </p:nvSpPr>
        <p:spPr>
          <a:xfrm>
            <a:off x="548640" y="1325880"/>
            <a:ext cx="5120640" cy="4069080"/>
          </a:xfrm>
          <a:prstGeom prst="roundRect">
            <a:avLst>
              <a:gd name="adj" fmla="val 2697"/>
            </a:avLst>
          </a:prstGeom>
          <a:solidFill>
            <a:schemeClr val="tx2"/>
          </a:solidFill>
          <a:ln/>
        </p:spPr>
      </p:sp>
      <p:sp>
        <p:nvSpPr>
          <p:cNvPr id="4" name="Rec label"/>
          <p:cNvSpPr txBox="1"/>
          <p:nvPr/>
        </p:nvSpPr>
        <p:spPr>
          <a:xfrm>
            <a:off x="868680" y="1600200"/>
            <a:ext cx="448056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RECOMMENDATION</a:t>
            </a:r>
            <a:endParaRPr lang="en-US" sz="1200" dirty="0"/>
          </a:p>
        </p:txBody>
      </p:sp>
      <p:sp>
        <p:nvSpPr>
          <p:cNvPr id="5" name="Rec headline"/>
          <p:cNvSpPr txBox="1"/>
          <p:nvPr/>
        </p:nvSpPr>
        <p:spPr>
          <a:xfrm>
            <a:off x="868680" y="1965960"/>
            <a:ext cx="4480560" cy="11887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Adopt Microsoft Foundry Agent Service (hosted agents) as the default agentic runtime.</a:t>
            </a:r>
            <a:endParaRPr lang="en-US" sz="2200" dirty="0"/>
          </a:p>
        </p:txBody>
      </p:sp>
      <p:sp>
        <p:nvSpPr>
          <p:cNvPr id="6" name="Rec bullets"/>
          <p:cNvSpPr txBox="1"/>
          <p:nvPr/>
        </p:nvSpPr>
        <p:spPr>
          <a:xfrm>
            <a:off x="868680" y="3337560"/>
            <a:ext cx="44805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2"/>
                </a:solidFill>
              </a:rPr>
              <a:t>Keep AWS Bedrock AgentCore as an approved exception for AWS-resident workloads</a:t>
            </a:r>
            <a:endParaRPr lang="en-US" sz="1400" dirty="0"/>
          </a:p>
          <a:p>
            <a:pPr marL="342900" indent="-342900">
              <a:spcAft>
                <a:spcPts val="600"/>
              </a:spcAft>
              <a:buSzPct val="100000"/>
              <a:buChar char="•"/>
            </a:pPr>
            <a:r>
              <a:rPr lang="en-US" sz="1500" dirty="0">
                <a:solidFill>
                  <a:schemeClr val="bg2"/>
                </a:solidFill>
              </a:rPr>
              <a:t>Standardize the contract on both: Entra ID, Kong, OpenTelemetry to Dynatrace, MCP tools</a:t>
            </a:r>
            <a:endParaRPr lang="en-US" sz="1400" dirty="0"/>
          </a:p>
        </p:txBody>
      </p:sp>
      <p:sp>
        <p:nvSpPr>
          <p:cNvPr id="7" name="Why card 1"/>
          <p:cNvSpPr/>
          <p:nvPr/>
        </p:nvSpPr>
        <p:spPr>
          <a:xfrm>
            <a:off x="5943600" y="1325880"/>
            <a:ext cx="5669280" cy="1234440"/>
          </a:xfrm>
          <a:prstGeom prst="roundRect">
            <a:avLst>
              <a:gd name="adj" fmla="val 8889"/>
            </a:avLst>
          </a:prstGeom>
          <a:solidFill>
            <a:schemeClr val="bg2"/>
          </a:solidFill>
          <a:ln/>
        </p:spPr>
      </p:sp>
      <p:sp>
        <p:nvSpPr>
          <p:cNvPr id="8" name="Why 1 circle"/>
          <p:cNvSpPr/>
          <p:nvPr/>
        </p:nvSpPr>
        <p:spPr>
          <a:xfrm>
            <a:off x="6172200" y="1627632"/>
            <a:ext cx="640080" cy="640080"/>
          </a:xfrm>
          <a:prstGeom prst="ellipse">
            <a:avLst/>
          </a:prstGeom>
          <a:solidFill>
            <a:schemeClr val="accent3"/>
          </a:solidFill>
          <a:ln/>
        </p:spPr>
      </p:sp>
      <p:pic>
        <p:nvPicPr>
          <p:cNvPr id="9" name="Why 1 icon" descr="Why 1">    </p:cNvPr>
          <p:cNvPicPr>
            <a:picLocks noChangeAspect="1"/>
          </p:cNvPicPr>
          <p:nvPr/>
        </p:nvPicPr>
        <p:blipFill>
          <a:blip r:embed="rId1"/>
          <a:stretch>
            <a:fillRect/>
          </a:stretch>
        </p:blipFill>
        <p:spPr>
          <a:xfrm>
            <a:off x="6313018" y="1768450"/>
            <a:ext cx="358445" cy="358445"/>
          </a:xfrm>
          <a:prstGeom prst="rect">
            <a:avLst/>
          </a:prstGeom>
        </p:spPr>
      </p:pic>
      <p:sp>
        <p:nvSpPr>
          <p:cNvPr id="10" name="Why head 1"/>
          <p:cNvSpPr txBox="1"/>
          <p:nvPr/>
        </p:nvSpPr>
        <p:spPr>
          <a:xfrm>
            <a:off x="7040880" y="1463040"/>
            <a:ext cx="4389120" cy="320040"/>
          </a:xfrm>
          <a:prstGeom prst="rect">
            <a:avLst/>
          </a:prstGeom>
          <a:noFill/>
          <a:ln/>
        </p:spPr>
        <p:txBody>
          <a:bodyPr wrap="square" lIns="0" tIns="0" rIns="0" bIns="0" rtlCol="0" anchor="t"/>
          <a:lstStyle/>
          <a:p>
            <a:pPr indent="0" marL="0">
              <a:buNone/>
            </a:pPr>
            <a:r>
              <a:rPr lang="en-US" sz="1800" b="1" dirty="0">
                <a:solidFill>
                  <a:schemeClr val="tx1"/>
                </a:solidFill>
              </a:rPr>
              <a:t>Our environment decides it</a:t>
            </a:r>
            <a:endParaRPr lang="en-US" sz="1800" dirty="0"/>
          </a:p>
        </p:txBody>
      </p:sp>
      <p:sp>
        <p:nvSpPr>
          <p:cNvPr id="11" name="Why body 1"/>
          <p:cNvSpPr txBox="1"/>
          <p:nvPr/>
        </p:nvSpPr>
        <p:spPr>
          <a:xfrm>
            <a:off x="7040880" y="1828800"/>
            <a:ext cx="4389120" cy="640080"/>
          </a:xfrm>
          <a:prstGeom prst="rect">
            <a:avLst/>
          </a:prstGeom>
          <a:noFill/>
          <a:ln/>
        </p:spPr>
        <p:txBody>
          <a:bodyPr wrap="square" lIns="0" tIns="0" rIns="0" bIns="0" rtlCol="0" anchor="t"/>
          <a:lstStyle/>
          <a:p>
            <a:pPr indent="0" marL="0">
              <a:buNone/>
            </a:pPr>
            <a:r>
              <a:rPr lang="en-US" sz="1400" dirty="0">
                <a:solidFill>
                  <a:schemeClr val="tx1"/>
                </a:solidFill>
              </a:rPr>
              <a:t>Entra ID identity and Azure-resident data remove a cloud hop and an identity federation layer.</a:t>
            </a:r>
            <a:endParaRPr lang="en-US" sz="1400" dirty="0"/>
          </a:p>
        </p:txBody>
      </p:sp>
      <p:sp>
        <p:nvSpPr>
          <p:cNvPr id="12" name="Why card 2"/>
          <p:cNvSpPr/>
          <p:nvPr/>
        </p:nvSpPr>
        <p:spPr>
          <a:xfrm>
            <a:off x="5943600" y="2743200"/>
            <a:ext cx="5669280" cy="1234440"/>
          </a:xfrm>
          <a:prstGeom prst="roundRect">
            <a:avLst>
              <a:gd name="adj" fmla="val 8889"/>
            </a:avLst>
          </a:prstGeom>
          <a:solidFill>
            <a:schemeClr val="bg2"/>
          </a:solidFill>
          <a:ln/>
        </p:spPr>
      </p:sp>
      <p:sp>
        <p:nvSpPr>
          <p:cNvPr id="13" name="Why 2 circle"/>
          <p:cNvSpPr/>
          <p:nvPr/>
        </p:nvSpPr>
        <p:spPr>
          <a:xfrm>
            <a:off x="6172200" y="3044952"/>
            <a:ext cx="640080" cy="640080"/>
          </a:xfrm>
          <a:prstGeom prst="ellipse">
            <a:avLst/>
          </a:prstGeom>
          <a:solidFill>
            <a:schemeClr val="accent4"/>
          </a:solidFill>
          <a:ln/>
        </p:spPr>
      </p:sp>
      <p:pic>
        <p:nvPicPr>
          <p:cNvPr id="14" name="Why 2 icon" descr="Why 2">    </p:cNvPr>
          <p:cNvPicPr>
            <a:picLocks noChangeAspect="1"/>
          </p:cNvPicPr>
          <p:nvPr/>
        </p:nvPicPr>
        <p:blipFill>
          <a:blip r:embed="rId2"/>
          <a:stretch>
            <a:fillRect/>
          </a:stretch>
        </p:blipFill>
        <p:spPr>
          <a:xfrm>
            <a:off x="6313018" y="3185770"/>
            <a:ext cx="358445" cy="358445"/>
          </a:xfrm>
          <a:prstGeom prst="rect">
            <a:avLst/>
          </a:prstGeom>
        </p:spPr>
      </p:pic>
      <p:sp>
        <p:nvSpPr>
          <p:cNvPr id="15" name="Why head 2"/>
          <p:cNvSpPr txBox="1"/>
          <p:nvPr/>
        </p:nvSpPr>
        <p:spPr>
          <a:xfrm>
            <a:off x="7040880" y="2880360"/>
            <a:ext cx="4389120" cy="320040"/>
          </a:xfrm>
          <a:prstGeom prst="rect">
            <a:avLst/>
          </a:prstGeom>
          <a:noFill/>
          <a:ln/>
        </p:spPr>
        <p:txBody>
          <a:bodyPr wrap="square" lIns="0" tIns="0" rIns="0" bIns="0" rtlCol="0" anchor="t"/>
          <a:lstStyle/>
          <a:p>
            <a:pPr indent="0" marL="0">
              <a:buNone/>
            </a:pPr>
            <a:r>
              <a:rPr lang="en-US" sz="1800" b="1" dirty="0">
                <a:solidFill>
                  <a:schemeClr val="tx1"/>
                </a:solidFill>
              </a:rPr>
              <a:t>On pure merit it is close</a:t>
            </a:r>
            <a:endParaRPr lang="en-US" sz="1800" dirty="0"/>
          </a:p>
        </p:txBody>
      </p:sp>
      <p:sp>
        <p:nvSpPr>
          <p:cNvPr id="16" name="Why body 2"/>
          <p:cNvSpPr txBox="1"/>
          <p:nvPr/>
        </p:nvSpPr>
        <p:spPr>
          <a:xfrm>
            <a:off x="7040880" y="3246120"/>
            <a:ext cx="4389120" cy="640080"/>
          </a:xfrm>
          <a:prstGeom prst="rect">
            <a:avLst/>
          </a:prstGeom>
          <a:noFill/>
          <a:ln/>
        </p:spPr>
        <p:txBody>
          <a:bodyPr wrap="square" lIns="0" tIns="0" rIns="0" bIns="0" rtlCol="0" anchor="t"/>
          <a:lstStyle/>
          <a:p>
            <a:pPr indent="0" marL="0">
              <a:buNone/>
            </a:pPr>
            <a:r>
              <a:rPr lang="en-US" sz="1400" dirty="0">
                <a:solidFill>
                  <a:schemeClr val="tx1"/>
                </a:solidFill>
              </a:rPr>
              <a:t>Scored on platform capability alone, AgentCore edges ahead (3.96 vs 3.75 out of 5).</a:t>
            </a:r>
            <a:endParaRPr lang="en-US" sz="1400" dirty="0"/>
          </a:p>
        </p:txBody>
      </p:sp>
      <p:sp>
        <p:nvSpPr>
          <p:cNvPr id="17" name="Why card 3"/>
          <p:cNvSpPr/>
          <p:nvPr/>
        </p:nvSpPr>
        <p:spPr>
          <a:xfrm>
            <a:off x="5943600" y="4160520"/>
            <a:ext cx="5669280" cy="1234440"/>
          </a:xfrm>
          <a:prstGeom prst="roundRect">
            <a:avLst>
              <a:gd name="adj" fmla="val 8889"/>
            </a:avLst>
          </a:prstGeom>
          <a:solidFill>
            <a:schemeClr val="bg2"/>
          </a:solidFill>
          <a:ln/>
        </p:spPr>
      </p:sp>
      <p:sp>
        <p:nvSpPr>
          <p:cNvPr id="18" name="Why 3 circle"/>
          <p:cNvSpPr/>
          <p:nvPr/>
        </p:nvSpPr>
        <p:spPr>
          <a:xfrm>
            <a:off x="6172200" y="4462272"/>
            <a:ext cx="640080" cy="640080"/>
          </a:xfrm>
          <a:prstGeom prst="ellipse">
            <a:avLst/>
          </a:prstGeom>
          <a:solidFill>
            <a:schemeClr val="accent2"/>
          </a:solidFill>
          <a:ln/>
        </p:spPr>
      </p:sp>
      <p:pic>
        <p:nvPicPr>
          <p:cNvPr id="19" name="Why 3 icon" descr="Why 3">    </p:cNvPr>
          <p:cNvPicPr>
            <a:picLocks noChangeAspect="1"/>
          </p:cNvPicPr>
          <p:nvPr/>
        </p:nvPicPr>
        <p:blipFill>
          <a:blip r:embed="rId3"/>
          <a:stretch>
            <a:fillRect/>
          </a:stretch>
        </p:blipFill>
        <p:spPr>
          <a:xfrm>
            <a:off x="6313018" y="4603090"/>
            <a:ext cx="358445" cy="358445"/>
          </a:xfrm>
          <a:prstGeom prst="rect">
            <a:avLst/>
          </a:prstGeom>
        </p:spPr>
      </p:pic>
      <p:sp>
        <p:nvSpPr>
          <p:cNvPr id="20" name="Why head 3"/>
          <p:cNvSpPr txBox="1"/>
          <p:nvPr/>
        </p:nvSpPr>
        <p:spPr>
          <a:xfrm>
            <a:off x="7040880" y="4297680"/>
            <a:ext cx="4389120" cy="320040"/>
          </a:xfrm>
          <a:prstGeom prst="rect">
            <a:avLst/>
          </a:prstGeom>
          <a:noFill/>
          <a:ln/>
        </p:spPr>
        <p:txBody>
          <a:bodyPr wrap="square" lIns="0" tIns="0" rIns="0" bIns="0" rtlCol="0" anchor="t"/>
          <a:lstStyle/>
          <a:p>
            <a:pPr indent="0" marL="0">
              <a:buNone/>
            </a:pPr>
            <a:r>
              <a:rPr lang="en-US" sz="1800" b="1" dirty="0">
                <a:solidFill>
                  <a:schemeClr val="tx1"/>
                </a:solidFill>
              </a:rPr>
              <a:t>Cost is not the lever</a:t>
            </a:r>
            <a:endParaRPr lang="en-US" sz="1800" dirty="0"/>
          </a:p>
        </p:txBody>
      </p:sp>
      <p:sp>
        <p:nvSpPr>
          <p:cNvPr id="21" name="Why body 3"/>
          <p:cNvSpPr txBox="1"/>
          <p:nvPr/>
        </p:nvSpPr>
        <p:spPr>
          <a:xfrm>
            <a:off x="7040880" y="4663440"/>
            <a:ext cx="4389120" cy="640080"/>
          </a:xfrm>
          <a:prstGeom prst="rect">
            <a:avLst/>
          </a:prstGeom>
          <a:noFill/>
          <a:ln/>
        </p:spPr>
        <p:txBody>
          <a:bodyPr wrap="square" lIns="0" tIns="0" rIns="0" bIns="0" rtlCol="0" anchor="t"/>
          <a:lstStyle/>
          <a:p>
            <a:pPr indent="0" marL="0">
              <a:buNone/>
            </a:pPr>
            <a:r>
              <a:rPr lang="en-US" sz="1400" dirty="0">
                <a:solidFill>
                  <a:schemeClr val="tx1"/>
                </a:solidFill>
              </a:rPr>
              <a:t>Runtime compute is about 1% of run cost at 10K to 100K tasks a month. LLM tokens dominate.</a:t>
            </a:r>
            <a:endParaRPr lang="en-US" sz="1400" dirty="0"/>
          </a:p>
        </p:txBody>
      </p:sp>
      <p:sp>
        <p:nvSpPr>
          <p:cNvPr id="22" name="Decision bar"/>
          <p:cNvSpPr/>
          <p:nvPr/>
        </p:nvSpPr>
        <p:spPr>
          <a:xfrm>
            <a:off x="548640" y="5577840"/>
            <a:ext cx="11064240" cy="640080"/>
          </a:xfrm>
          <a:prstGeom prst="roundRect">
            <a:avLst>
              <a:gd name="adj" fmla="val 17143"/>
            </a:avLst>
          </a:prstGeom>
          <a:solidFill>
            <a:schemeClr val="accent3"/>
          </a:solidFill>
          <a:ln/>
        </p:spPr>
      </p:sp>
      <p:sp>
        <p:nvSpPr>
          <p:cNvPr id="23" name="Decision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600" b="1" dirty="0">
                <a:solidFill>
                  <a:schemeClr val="bg1"/>
                </a:solidFill>
              </a:rPr>
              <a:t>Decision requested:  </a:t>
            </a:r>
            <a:pPr indent="0" marL="0">
              <a:buNone/>
            </a:pPr>
            <a:r>
              <a:rPr lang="en-US" sz="1600" dirty="0">
                <a:solidFill>
                  <a:schemeClr val="bg1"/>
                </a:solidFill>
              </a:rPr>
              <a:t>approve a 6-week proof of concept on both runtimes, then ratify the standard.</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Our standards pull the decision toward Azure</a:t>
            </a:r>
            <a:endParaRPr lang="en-US" sz="3200" dirty="0"/>
          </a:p>
        </p:txBody>
      </p:sp>
      <p:sp>
        <p:nvSpPr>
          <p:cNvPr id="3" name="Constraint row 1"/>
          <p:cNvSpPr/>
          <p:nvPr/>
        </p:nvSpPr>
        <p:spPr>
          <a:xfrm>
            <a:off x="548640" y="1280160"/>
            <a:ext cx="11064240" cy="868680"/>
          </a:xfrm>
          <a:prstGeom prst="roundRect">
            <a:avLst>
              <a:gd name="adj" fmla="val 12632"/>
            </a:avLst>
          </a:prstGeom>
          <a:solidFill>
            <a:schemeClr val="bg2"/>
          </a:solidFill>
          <a:ln/>
        </p:spPr>
      </p:sp>
      <p:sp>
        <p:nvSpPr>
          <p:cNvPr id="4" name="Constraint 1 circle"/>
          <p:cNvSpPr/>
          <p:nvPr/>
        </p:nvSpPr>
        <p:spPr>
          <a:xfrm>
            <a:off x="777240" y="1435608"/>
            <a:ext cx="566928" cy="566928"/>
          </a:xfrm>
          <a:prstGeom prst="ellipse">
            <a:avLst/>
          </a:prstGeom>
          <a:solidFill>
            <a:schemeClr val="accent1"/>
          </a:solidFill>
          <a:ln/>
        </p:spPr>
      </p:sp>
      <p:pic>
        <p:nvPicPr>
          <p:cNvPr id="5" name="Constraint 1 icon" descr="Constraint 1">    </p:cNvPr>
          <p:cNvPicPr>
            <a:picLocks noChangeAspect="1"/>
          </p:cNvPicPr>
          <p:nvPr/>
        </p:nvPicPr>
        <p:blipFill>
          <a:blip r:embed="rId1"/>
          <a:stretch>
            <a:fillRect/>
          </a:stretch>
        </p:blipFill>
        <p:spPr>
          <a:xfrm>
            <a:off x="901964" y="1560332"/>
            <a:ext cx="317480" cy="317480"/>
          </a:xfrm>
          <a:prstGeom prst="rect">
            <a:avLst/>
          </a:prstGeom>
        </p:spPr>
      </p:pic>
      <p:sp>
        <p:nvSpPr>
          <p:cNvPr id="6" name="Constraint name 1"/>
          <p:cNvSpPr txBox="1"/>
          <p:nvPr/>
        </p:nvSpPr>
        <p:spPr>
          <a:xfrm>
            <a:off x="1600200" y="1389888"/>
            <a:ext cx="2926080" cy="365760"/>
          </a:xfrm>
          <a:prstGeom prst="rect">
            <a:avLst/>
          </a:prstGeom>
          <a:noFill/>
          <a:ln/>
        </p:spPr>
        <p:txBody>
          <a:bodyPr wrap="square" lIns="0" tIns="0" rIns="0" bIns="0" rtlCol="0" anchor="t"/>
          <a:lstStyle/>
          <a:p>
            <a:pPr indent="0" marL="0">
              <a:buNone/>
            </a:pPr>
            <a:r>
              <a:rPr lang="en-US" sz="1800" b="1" dirty="0">
                <a:solidFill>
                  <a:schemeClr val="tx1"/>
                </a:solidFill>
              </a:rPr>
              <a:t>Entra ID</a:t>
            </a:r>
            <a:endParaRPr lang="en-US" sz="1800" dirty="0"/>
          </a:p>
        </p:txBody>
      </p:sp>
      <p:sp>
        <p:nvSpPr>
          <p:cNvPr id="7" name="Constraint sub 1"/>
          <p:cNvSpPr txBox="1"/>
          <p:nvPr/>
        </p:nvSpPr>
        <p:spPr>
          <a:xfrm>
            <a:off x="1600200" y="1755648"/>
            <a:ext cx="2926080" cy="274320"/>
          </a:xfrm>
          <a:prstGeom prst="rect">
            <a:avLst/>
          </a:prstGeom>
          <a:noFill/>
          <a:ln/>
        </p:spPr>
        <p:txBody>
          <a:bodyPr wrap="square" lIns="0" tIns="0" rIns="0" bIns="0" rtlCol="0" anchor="t"/>
          <a:lstStyle/>
          <a:p>
            <a:pPr indent="0" marL="0">
              <a:buNone/>
            </a:pPr>
            <a:r>
              <a:rPr lang="en-US" sz="1200" dirty="0">
                <a:solidFill>
                  <a:schemeClr val="accent4"/>
                </a:solidFill>
              </a:rPr>
              <a:t>Identity provider for agents</a:t>
            </a:r>
            <a:endParaRPr lang="en-US" sz="1200" dirty="0"/>
          </a:p>
        </p:txBody>
      </p:sp>
      <p:sp>
        <p:nvSpPr>
          <p:cNvPr id="8" name="Constraint implication 1"/>
          <p:cNvSpPr txBox="1"/>
          <p:nvPr/>
        </p:nvSpPr>
        <p:spPr>
          <a:xfrm>
            <a:off x="4754880" y="1371600"/>
            <a:ext cx="6675120" cy="713232"/>
          </a:xfrm>
          <a:prstGeom prst="rect">
            <a:avLst/>
          </a:prstGeom>
          <a:noFill/>
          <a:ln/>
        </p:spPr>
        <p:txBody>
          <a:bodyPr wrap="square" lIns="0" tIns="0" rIns="0" bIns="0" rtlCol="0" anchor="ctr"/>
          <a:lstStyle/>
          <a:p>
            <a:pPr indent="0" marL="0">
              <a:buNone/>
            </a:pPr>
            <a:r>
              <a:rPr lang="en-US" sz="1400" dirty="0">
                <a:solidFill>
                  <a:schemeClr val="tx1"/>
                </a:solidFill>
              </a:rPr>
              <a:t>Favors native Entra Agent ID. Other runtimes must federate through OIDC and on-behalf-of token exchange.</a:t>
            </a:r>
            <a:endParaRPr lang="en-US" sz="1400" dirty="0"/>
          </a:p>
        </p:txBody>
      </p:sp>
      <p:sp>
        <p:nvSpPr>
          <p:cNvPr id="9" name="Constraint row 2"/>
          <p:cNvSpPr/>
          <p:nvPr/>
        </p:nvSpPr>
        <p:spPr>
          <a:xfrm>
            <a:off x="548640" y="2267712"/>
            <a:ext cx="11064240" cy="868680"/>
          </a:xfrm>
          <a:prstGeom prst="roundRect">
            <a:avLst>
              <a:gd name="adj" fmla="val 12632"/>
            </a:avLst>
          </a:prstGeom>
          <a:solidFill>
            <a:schemeClr val="bg2"/>
          </a:solidFill>
          <a:ln/>
        </p:spPr>
      </p:sp>
      <p:sp>
        <p:nvSpPr>
          <p:cNvPr id="10" name="Constraint 2 circle"/>
          <p:cNvSpPr/>
          <p:nvPr/>
        </p:nvSpPr>
        <p:spPr>
          <a:xfrm>
            <a:off x="777240" y="2423160"/>
            <a:ext cx="566928" cy="566928"/>
          </a:xfrm>
          <a:prstGeom prst="ellipse">
            <a:avLst/>
          </a:prstGeom>
          <a:solidFill>
            <a:schemeClr val="accent1"/>
          </a:solidFill>
          <a:ln/>
        </p:spPr>
      </p:sp>
      <p:pic>
        <p:nvPicPr>
          <p:cNvPr id="11" name="Constraint 2 icon" descr="Constraint 2">    </p:cNvPr>
          <p:cNvPicPr>
            <a:picLocks noChangeAspect="1"/>
          </p:cNvPicPr>
          <p:nvPr/>
        </p:nvPicPr>
        <p:blipFill>
          <a:blip r:embed="rId2"/>
          <a:stretch>
            <a:fillRect/>
          </a:stretch>
        </p:blipFill>
        <p:spPr>
          <a:xfrm>
            <a:off x="901964" y="2547884"/>
            <a:ext cx="317480" cy="317480"/>
          </a:xfrm>
          <a:prstGeom prst="rect">
            <a:avLst/>
          </a:prstGeom>
        </p:spPr>
      </p:pic>
      <p:sp>
        <p:nvSpPr>
          <p:cNvPr id="12" name="Constraint name 2"/>
          <p:cNvSpPr txBox="1"/>
          <p:nvPr/>
        </p:nvSpPr>
        <p:spPr>
          <a:xfrm>
            <a:off x="1600200" y="2377440"/>
            <a:ext cx="2926080" cy="365760"/>
          </a:xfrm>
          <a:prstGeom prst="rect">
            <a:avLst/>
          </a:prstGeom>
          <a:noFill/>
          <a:ln/>
        </p:spPr>
        <p:txBody>
          <a:bodyPr wrap="square" lIns="0" tIns="0" rIns="0" bIns="0" rtlCol="0" anchor="t"/>
          <a:lstStyle/>
          <a:p>
            <a:pPr indent="0" marL="0">
              <a:buNone/>
            </a:pPr>
            <a:r>
              <a:rPr lang="en-US" sz="1800" b="1" dirty="0">
                <a:solidFill>
                  <a:schemeClr val="tx1"/>
                </a:solidFill>
              </a:rPr>
              <a:t>Data in Azure</a:t>
            </a:r>
            <a:endParaRPr lang="en-US" sz="1800" dirty="0"/>
          </a:p>
        </p:txBody>
      </p:sp>
      <p:sp>
        <p:nvSpPr>
          <p:cNvPr id="13" name="Constraint sub 2"/>
          <p:cNvSpPr txBox="1"/>
          <p:nvPr/>
        </p:nvSpPr>
        <p:spPr>
          <a:xfrm>
            <a:off x="1600200" y="2743200"/>
            <a:ext cx="2926080" cy="274320"/>
          </a:xfrm>
          <a:prstGeom prst="rect">
            <a:avLst/>
          </a:prstGeom>
          <a:noFill/>
          <a:ln/>
        </p:spPr>
        <p:txBody>
          <a:bodyPr wrap="square" lIns="0" tIns="0" rIns="0" bIns="0" rtlCol="0" anchor="t"/>
          <a:lstStyle/>
          <a:p>
            <a:pPr indent="0" marL="0">
              <a:buNone/>
            </a:pPr>
            <a:r>
              <a:rPr lang="en-US" sz="1200" dirty="0">
                <a:solidFill>
                  <a:schemeClr val="accent4"/>
                </a:solidFill>
              </a:rPr>
              <a:t>Majority of enterprise data</a:t>
            </a:r>
            <a:endParaRPr lang="en-US" sz="1200" dirty="0"/>
          </a:p>
        </p:txBody>
      </p:sp>
      <p:sp>
        <p:nvSpPr>
          <p:cNvPr id="14" name="Constraint implication 2"/>
          <p:cNvSpPr txBox="1"/>
          <p:nvPr/>
        </p:nvSpPr>
        <p:spPr>
          <a:xfrm>
            <a:off x="4754880" y="2359152"/>
            <a:ext cx="6675120" cy="713232"/>
          </a:xfrm>
          <a:prstGeom prst="rect">
            <a:avLst/>
          </a:prstGeom>
          <a:noFill/>
          <a:ln/>
        </p:spPr>
        <p:txBody>
          <a:bodyPr wrap="square" lIns="0" tIns="0" rIns="0" bIns="0" rtlCol="0" anchor="ctr"/>
          <a:lstStyle/>
          <a:p>
            <a:pPr indent="0" marL="0">
              <a:buNone/>
            </a:pPr>
            <a:r>
              <a:rPr lang="en-US" sz="1400" dirty="0">
                <a:solidFill>
                  <a:schemeClr val="tx1"/>
                </a:solidFill>
              </a:rPr>
              <a:t>Running agents beside the data avoids cross-cloud egress, latency and a second security perimeter.</a:t>
            </a:r>
            <a:endParaRPr lang="en-US" sz="1400" dirty="0"/>
          </a:p>
        </p:txBody>
      </p:sp>
      <p:sp>
        <p:nvSpPr>
          <p:cNvPr id="15" name="Constraint row 3"/>
          <p:cNvSpPr/>
          <p:nvPr/>
        </p:nvSpPr>
        <p:spPr>
          <a:xfrm>
            <a:off x="548640" y="3255264"/>
            <a:ext cx="11064240" cy="868680"/>
          </a:xfrm>
          <a:prstGeom prst="roundRect">
            <a:avLst>
              <a:gd name="adj" fmla="val 12632"/>
            </a:avLst>
          </a:prstGeom>
          <a:solidFill>
            <a:schemeClr val="bg2"/>
          </a:solidFill>
          <a:ln/>
        </p:spPr>
      </p:sp>
      <p:sp>
        <p:nvSpPr>
          <p:cNvPr id="16" name="Constraint 3 circle"/>
          <p:cNvSpPr/>
          <p:nvPr/>
        </p:nvSpPr>
        <p:spPr>
          <a:xfrm>
            <a:off x="777240" y="3410712"/>
            <a:ext cx="566928" cy="566928"/>
          </a:xfrm>
          <a:prstGeom prst="ellipse">
            <a:avLst/>
          </a:prstGeom>
          <a:solidFill>
            <a:schemeClr val="accent4"/>
          </a:solidFill>
          <a:ln/>
        </p:spPr>
      </p:sp>
      <p:pic>
        <p:nvPicPr>
          <p:cNvPr id="17" name="Constraint 3 icon" descr="Constraint 3">    </p:cNvPr>
          <p:cNvPicPr>
            <a:picLocks noChangeAspect="1"/>
          </p:cNvPicPr>
          <p:nvPr/>
        </p:nvPicPr>
        <p:blipFill>
          <a:blip r:embed="rId3"/>
          <a:stretch>
            <a:fillRect/>
          </a:stretch>
        </p:blipFill>
        <p:spPr>
          <a:xfrm>
            <a:off x="901964" y="3535436"/>
            <a:ext cx="317480" cy="317480"/>
          </a:xfrm>
          <a:prstGeom prst="rect">
            <a:avLst/>
          </a:prstGeom>
        </p:spPr>
      </p:pic>
      <p:sp>
        <p:nvSpPr>
          <p:cNvPr id="18" name="Constraint name 3"/>
          <p:cNvSpPr txBox="1"/>
          <p:nvPr/>
        </p:nvSpPr>
        <p:spPr>
          <a:xfrm>
            <a:off x="1600200" y="3364992"/>
            <a:ext cx="2926080" cy="365760"/>
          </a:xfrm>
          <a:prstGeom prst="rect">
            <a:avLst/>
          </a:prstGeom>
          <a:noFill/>
          <a:ln/>
        </p:spPr>
        <p:txBody>
          <a:bodyPr wrap="square" lIns="0" tIns="0" rIns="0" bIns="0" rtlCol="0" anchor="t"/>
          <a:lstStyle/>
          <a:p>
            <a:pPr indent="0" marL="0">
              <a:buNone/>
            </a:pPr>
            <a:r>
              <a:rPr lang="en-US" sz="1800" b="1" dirty="0">
                <a:solidFill>
                  <a:schemeClr val="tx1"/>
                </a:solidFill>
              </a:rPr>
              <a:t>Databricks</a:t>
            </a:r>
            <a:endParaRPr lang="en-US" sz="1800" dirty="0"/>
          </a:p>
        </p:txBody>
      </p:sp>
      <p:sp>
        <p:nvSpPr>
          <p:cNvPr id="19" name="Constraint sub 3"/>
          <p:cNvSpPr txBox="1"/>
          <p:nvPr/>
        </p:nvSpPr>
        <p:spPr>
          <a:xfrm>
            <a:off x="1600200" y="3730752"/>
            <a:ext cx="2926080" cy="274320"/>
          </a:xfrm>
          <a:prstGeom prst="rect">
            <a:avLst/>
          </a:prstGeom>
          <a:noFill/>
          <a:ln/>
        </p:spPr>
        <p:txBody>
          <a:bodyPr wrap="square" lIns="0" tIns="0" rIns="0" bIns="0" rtlCol="0" anchor="t"/>
          <a:lstStyle/>
          <a:p>
            <a:pPr indent="0" marL="0">
              <a:buNone/>
            </a:pPr>
            <a:r>
              <a:rPr lang="en-US" sz="1200" dirty="0">
                <a:solidFill>
                  <a:schemeClr val="accent4"/>
                </a:solidFill>
              </a:rPr>
              <a:t>Connectivity required</a:t>
            </a:r>
            <a:endParaRPr lang="en-US" sz="1200" dirty="0"/>
          </a:p>
        </p:txBody>
      </p:sp>
      <p:sp>
        <p:nvSpPr>
          <p:cNvPr id="20" name="Constraint implication 3"/>
          <p:cNvSpPr txBox="1"/>
          <p:nvPr/>
        </p:nvSpPr>
        <p:spPr>
          <a:xfrm>
            <a:off x="4754880" y="3346704"/>
            <a:ext cx="6675120" cy="713232"/>
          </a:xfrm>
          <a:prstGeom prst="rect">
            <a:avLst/>
          </a:prstGeom>
          <a:noFill/>
          <a:ln/>
        </p:spPr>
        <p:txBody>
          <a:bodyPr wrap="square" lIns="0" tIns="0" rIns="0" bIns="0" rtlCol="0" anchor="ctr"/>
          <a:lstStyle/>
          <a:p>
            <a:pPr indent="0" marL="0">
              <a:buNone/>
            </a:pPr>
            <a:r>
              <a:rPr lang="en-US" sz="1400" dirty="0">
                <a:solidFill>
                  <a:schemeClr val="tx1"/>
                </a:solidFill>
              </a:rPr>
              <a:t>Needs private, identity-aware access. Workspace location matters; this analysis assumes Azure Databricks.</a:t>
            </a:r>
            <a:endParaRPr lang="en-US" sz="1400" dirty="0"/>
          </a:p>
        </p:txBody>
      </p:sp>
      <p:sp>
        <p:nvSpPr>
          <p:cNvPr id="21" name="Constraint row 4"/>
          <p:cNvSpPr/>
          <p:nvPr/>
        </p:nvSpPr>
        <p:spPr>
          <a:xfrm>
            <a:off x="548640" y="4242816"/>
            <a:ext cx="11064240" cy="868680"/>
          </a:xfrm>
          <a:prstGeom prst="roundRect">
            <a:avLst>
              <a:gd name="adj" fmla="val 12632"/>
            </a:avLst>
          </a:prstGeom>
          <a:solidFill>
            <a:schemeClr val="bg2"/>
          </a:solidFill>
          <a:ln/>
        </p:spPr>
      </p:sp>
      <p:sp>
        <p:nvSpPr>
          <p:cNvPr id="22" name="Constraint 4 circle"/>
          <p:cNvSpPr/>
          <p:nvPr/>
        </p:nvSpPr>
        <p:spPr>
          <a:xfrm>
            <a:off x="777240" y="4398264"/>
            <a:ext cx="566928" cy="566928"/>
          </a:xfrm>
          <a:prstGeom prst="ellipse">
            <a:avLst/>
          </a:prstGeom>
          <a:solidFill>
            <a:schemeClr val="accent3"/>
          </a:solidFill>
          <a:ln/>
        </p:spPr>
      </p:sp>
      <p:pic>
        <p:nvPicPr>
          <p:cNvPr id="23" name="Constraint 4 icon" descr="Constraint 4">    </p:cNvPr>
          <p:cNvPicPr>
            <a:picLocks noChangeAspect="1"/>
          </p:cNvPicPr>
          <p:nvPr/>
        </p:nvPicPr>
        <p:blipFill>
          <a:blip r:embed="rId4"/>
          <a:stretch>
            <a:fillRect/>
          </a:stretch>
        </p:blipFill>
        <p:spPr>
          <a:xfrm>
            <a:off x="901964" y="4522988"/>
            <a:ext cx="317480" cy="317480"/>
          </a:xfrm>
          <a:prstGeom prst="rect">
            <a:avLst/>
          </a:prstGeom>
        </p:spPr>
      </p:pic>
      <p:sp>
        <p:nvSpPr>
          <p:cNvPr id="24" name="Constraint name 4"/>
          <p:cNvSpPr txBox="1"/>
          <p:nvPr/>
        </p:nvSpPr>
        <p:spPr>
          <a:xfrm>
            <a:off x="1600200" y="4352544"/>
            <a:ext cx="2926080" cy="365760"/>
          </a:xfrm>
          <a:prstGeom prst="rect">
            <a:avLst/>
          </a:prstGeom>
          <a:noFill/>
          <a:ln/>
        </p:spPr>
        <p:txBody>
          <a:bodyPr wrap="square" lIns="0" tIns="0" rIns="0" bIns="0" rtlCol="0" anchor="t"/>
          <a:lstStyle/>
          <a:p>
            <a:pPr indent="0" marL="0">
              <a:buNone/>
            </a:pPr>
            <a:r>
              <a:rPr lang="en-US" sz="1800" b="1" dirty="0">
                <a:solidFill>
                  <a:schemeClr val="tx1"/>
                </a:solidFill>
              </a:rPr>
              <a:t>Kong AI Gateway</a:t>
            </a:r>
            <a:endParaRPr lang="en-US" sz="1800" dirty="0"/>
          </a:p>
        </p:txBody>
      </p:sp>
      <p:sp>
        <p:nvSpPr>
          <p:cNvPr id="25" name="Constraint sub 4"/>
          <p:cNvSpPr txBox="1"/>
          <p:nvPr/>
        </p:nvSpPr>
        <p:spPr>
          <a:xfrm>
            <a:off x="1600200" y="4718304"/>
            <a:ext cx="2926080" cy="274320"/>
          </a:xfrm>
          <a:prstGeom prst="rect">
            <a:avLst/>
          </a:prstGeom>
          <a:noFill/>
          <a:ln/>
        </p:spPr>
        <p:txBody>
          <a:bodyPr wrap="square" lIns="0" tIns="0" rIns="0" bIns="0" rtlCol="0" anchor="t"/>
          <a:lstStyle/>
          <a:p>
            <a:pPr indent="0" marL="0">
              <a:buNone/>
            </a:pPr>
            <a:r>
              <a:rPr lang="en-US" sz="1200" dirty="0">
                <a:solidFill>
                  <a:schemeClr val="accent4"/>
                </a:solidFill>
              </a:rPr>
              <a:t>All LLM requests routed through it</a:t>
            </a:r>
            <a:endParaRPr lang="en-US" sz="1200" dirty="0"/>
          </a:p>
        </p:txBody>
      </p:sp>
      <p:sp>
        <p:nvSpPr>
          <p:cNvPr id="26" name="Constraint implication 4"/>
          <p:cNvSpPr txBox="1"/>
          <p:nvPr/>
        </p:nvSpPr>
        <p:spPr>
          <a:xfrm>
            <a:off x="4754880" y="4334256"/>
            <a:ext cx="6675120" cy="713232"/>
          </a:xfrm>
          <a:prstGeom prst="rect">
            <a:avLst/>
          </a:prstGeom>
          <a:noFill/>
          <a:ln/>
        </p:spPr>
        <p:txBody>
          <a:bodyPr wrap="square" lIns="0" tIns="0" rIns="0" bIns="0" rtlCol="0" anchor="ctr"/>
          <a:lstStyle/>
          <a:p>
            <a:pPr indent="0" marL="0">
              <a:buNone/>
            </a:pPr>
            <a:r>
              <a:rPr lang="en-US" sz="1400" dirty="0">
                <a:solidFill>
                  <a:schemeClr val="tx1"/>
                </a:solidFill>
              </a:rPr>
              <a:t>Runtime must let us force model traffic through Kong, enforced by network rules rather than developer discipline.</a:t>
            </a:r>
            <a:endParaRPr lang="en-US" sz="1400" dirty="0"/>
          </a:p>
        </p:txBody>
      </p:sp>
      <p:sp>
        <p:nvSpPr>
          <p:cNvPr id="27" name="Constraint row 5"/>
          <p:cNvSpPr/>
          <p:nvPr/>
        </p:nvSpPr>
        <p:spPr>
          <a:xfrm>
            <a:off x="548640" y="5230368"/>
            <a:ext cx="11064240" cy="868680"/>
          </a:xfrm>
          <a:prstGeom prst="roundRect">
            <a:avLst>
              <a:gd name="adj" fmla="val 12632"/>
            </a:avLst>
          </a:prstGeom>
          <a:solidFill>
            <a:schemeClr val="bg2"/>
          </a:solidFill>
          <a:ln/>
        </p:spPr>
      </p:sp>
      <p:sp>
        <p:nvSpPr>
          <p:cNvPr id="28" name="Constraint 5 circle"/>
          <p:cNvSpPr/>
          <p:nvPr/>
        </p:nvSpPr>
        <p:spPr>
          <a:xfrm>
            <a:off x="777240" y="5385816"/>
            <a:ext cx="566928" cy="566928"/>
          </a:xfrm>
          <a:prstGeom prst="ellipse">
            <a:avLst/>
          </a:prstGeom>
          <a:solidFill>
            <a:schemeClr val="accent3"/>
          </a:solidFill>
          <a:ln/>
        </p:spPr>
      </p:sp>
      <p:pic>
        <p:nvPicPr>
          <p:cNvPr id="29" name="Constraint 5 icon" descr="Constraint 5">    </p:cNvPr>
          <p:cNvPicPr>
            <a:picLocks noChangeAspect="1"/>
          </p:cNvPicPr>
          <p:nvPr/>
        </p:nvPicPr>
        <p:blipFill>
          <a:blip r:embed="rId5"/>
          <a:stretch>
            <a:fillRect/>
          </a:stretch>
        </p:blipFill>
        <p:spPr>
          <a:xfrm>
            <a:off x="901964" y="5510540"/>
            <a:ext cx="317480" cy="317480"/>
          </a:xfrm>
          <a:prstGeom prst="rect">
            <a:avLst/>
          </a:prstGeom>
        </p:spPr>
      </p:pic>
      <p:sp>
        <p:nvSpPr>
          <p:cNvPr id="30" name="Constraint name 5"/>
          <p:cNvSpPr txBox="1"/>
          <p:nvPr/>
        </p:nvSpPr>
        <p:spPr>
          <a:xfrm>
            <a:off x="1600200" y="5340096"/>
            <a:ext cx="2926080" cy="365760"/>
          </a:xfrm>
          <a:prstGeom prst="rect">
            <a:avLst/>
          </a:prstGeom>
          <a:noFill/>
          <a:ln/>
        </p:spPr>
        <p:txBody>
          <a:bodyPr wrap="square" lIns="0" tIns="0" rIns="0" bIns="0" rtlCol="0" anchor="t"/>
          <a:lstStyle/>
          <a:p>
            <a:pPr indent="0" marL="0">
              <a:buNone/>
            </a:pPr>
            <a:r>
              <a:rPr lang="en-US" sz="1800" b="1" dirty="0">
                <a:solidFill>
                  <a:schemeClr val="tx1"/>
                </a:solidFill>
              </a:rPr>
              <a:t>Dynatrace</a:t>
            </a:r>
            <a:endParaRPr lang="en-US" sz="1800" dirty="0"/>
          </a:p>
        </p:txBody>
      </p:sp>
      <p:sp>
        <p:nvSpPr>
          <p:cNvPr id="31" name="Constraint sub 5"/>
          <p:cNvSpPr txBox="1"/>
          <p:nvPr/>
        </p:nvSpPr>
        <p:spPr>
          <a:xfrm>
            <a:off x="1600200" y="5705856"/>
            <a:ext cx="2926080" cy="274320"/>
          </a:xfrm>
          <a:prstGeom prst="rect">
            <a:avLst/>
          </a:prstGeom>
          <a:noFill/>
          <a:ln/>
        </p:spPr>
        <p:txBody>
          <a:bodyPr wrap="square" lIns="0" tIns="0" rIns="0" bIns="0" rtlCol="0" anchor="t"/>
          <a:lstStyle/>
          <a:p>
            <a:pPr indent="0" marL="0">
              <a:buNone/>
            </a:pPr>
            <a:r>
              <a:rPr lang="en-US" sz="1200" dirty="0">
                <a:solidFill>
                  <a:schemeClr val="accent4"/>
                </a:solidFill>
              </a:rPr>
              <a:t>Standard monitoring tool</a:t>
            </a:r>
            <a:endParaRPr lang="en-US" sz="1200" dirty="0"/>
          </a:p>
        </p:txBody>
      </p:sp>
      <p:sp>
        <p:nvSpPr>
          <p:cNvPr id="32" name="Constraint implication 5"/>
          <p:cNvSpPr txBox="1"/>
          <p:nvPr/>
        </p:nvSpPr>
        <p:spPr>
          <a:xfrm>
            <a:off x="4754880" y="5321808"/>
            <a:ext cx="6675120" cy="713232"/>
          </a:xfrm>
          <a:prstGeom prst="rect">
            <a:avLst/>
          </a:prstGeom>
          <a:noFill/>
          <a:ln/>
        </p:spPr>
        <p:txBody>
          <a:bodyPr wrap="square" lIns="0" tIns="0" rIns="0" bIns="0" rtlCol="0" anchor="ctr"/>
          <a:lstStyle/>
          <a:p>
            <a:pPr indent="0" marL="0">
              <a:buNone/>
            </a:pPr>
            <a:r>
              <a:rPr lang="en-US" sz="1400" dirty="0">
                <a:solidFill>
                  <a:schemeClr val="tx1"/>
                </a:solidFill>
              </a:rPr>
              <a:t>Needs OpenTelemetry export with GenAI attributes. Platform dashboards cannot be the system of record.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Nine weighted criteria, scored on public evidence</a:t>
            </a:r>
            <a:endParaRPr lang="en-US" sz="3200" dirty="0"/>
          </a:p>
        </p:txBody>
      </p:sp>
      <p:graphicFrame>
        <p:nvGraphicFramePr>
          <p:cNvPr id="3" name="Chart 0"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Method card"/>
          <p:cNvSpPr/>
          <p:nvPr/>
        </p:nvSpPr>
        <p:spPr>
          <a:xfrm>
            <a:off x="7680960" y="1280160"/>
            <a:ext cx="3931920" cy="4846320"/>
          </a:xfrm>
          <a:prstGeom prst="roundRect">
            <a:avLst>
              <a:gd name="adj" fmla="val 2791"/>
            </a:avLst>
          </a:prstGeom>
          <a:solidFill>
            <a:schemeClr val="bg2"/>
          </a:solidFill>
          <a:ln/>
        </p:spPr>
      </p:sp>
      <p:sp>
        <p:nvSpPr>
          <p:cNvPr id="5" name="Method head"/>
          <p:cNvSpPr txBox="1"/>
          <p:nvPr/>
        </p:nvSpPr>
        <p:spPr>
          <a:xfrm>
            <a:off x="7955280" y="1463040"/>
            <a:ext cx="3383280" cy="365760"/>
          </a:xfrm>
          <a:prstGeom prst="rect">
            <a:avLst/>
          </a:prstGeom>
          <a:noFill/>
          <a:ln/>
        </p:spPr>
        <p:txBody>
          <a:bodyPr wrap="square" lIns="0" tIns="0" rIns="0" bIns="0" rtlCol="0" anchor="t"/>
          <a:lstStyle/>
          <a:p>
            <a:pPr indent="0" marL="0">
              <a:buNone/>
            </a:pPr>
            <a:r>
              <a:rPr lang="en-US" sz="1800" b="1" dirty="0">
                <a:solidFill>
                  <a:schemeClr val="tx1"/>
                </a:solidFill>
              </a:rPr>
              <a:t>How we scored</a:t>
            </a:r>
            <a:endParaRPr lang="en-US" sz="1800" dirty="0"/>
          </a:p>
        </p:txBody>
      </p:sp>
      <p:sp>
        <p:nvSpPr>
          <p:cNvPr id="6" name="Method bullets"/>
          <p:cNvSpPr txBox="1"/>
          <p:nvPr/>
        </p:nvSpPr>
        <p:spPr>
          <a:xfrm>
            <a:off x="7955280" y="1965960"/>
            <a:ext cx="3383280" cy="3931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 to 5 scale. 5 means fully met with GA features and low effort</a:t>
            </a:r>
            <a:endParaRPr lang="en-US" sz="1400" dirty="0"/>
          </a:p>
          <a:p>
            <a:pPr marL="342900" indent="-342900">
              <a:spcAft>
                <a:spcPts val="600"/>
              </a:spcAft>
              <a:buSzPct val="100000"/>
              <a:buChar char="•"/>
            </a:pPr>
            <a:r>
              <a:rPr lang="en-US" sz="1400" dirty="0">
                <a:solidFill>
                  <a:schemeClr val="tx1"/>
                </a:solidFill>
              </a:rPr>
              <a:t>Evidence: vendor docs, pricing pages and release notes as of Oct 27, 2026</a:t>
            </a:r>
            <a:endParaRPr lang="en-US" sz="1400" dirty="0"/>
          </a:p>
          <a:p>
            <a:pPr marL="342900" indent="-342900">
              <a:spcAft>
                <a:spcPts val="600"/>
              </a:spcAft>
              <a:buSzPct val="100000"/>
              <a:buChar char="•"/>
            </a:pPr>
            <a:r>
              <a:rPr lang="en-US" sz="1400" dirty="0">
                <a:solidFill>
                  <a:schemeClr val="tx1"/>
                </a:solidFill>
              </a:rPr>
              <a:t>Preview features are not scored as production-ready</a:t>
            </a:r>
            <a:endParaRPr lang="en-US" sz="1400" dirty="0"/>
          </a:p>
          <a:p>
            <a:pPr marL="342900" indent="-342900">
              <a:spcAft>
                <a:spcPts val="600"/>
              </a:spcAft>
              <a:buSzPct val="100000"/>
              <a:buChar char="•"/>
            </a:pPr>
            <a:r>
              <a:rPr lang="en-US" sz="1400" dirty="0">
                <a:solidFill>
                  <a:schemeClr val="tx1"/>
                </a:solidFill>
              </a:rPr>
              <a:t>Weights reflect our standards. Slide 12 shows how the result moves if they change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Both are capable runtimes with different shapes</a:t>
            </a:r>
            <a:endParaRPr lang="en-US" sz="3200" dirty="0"/>
          </a:p>
        </p:txBody>
      </p:sp>
      <p:graphicFrame>
        <p:nvGraphicFramePr>
          <p:cNvPr id="6" name="Capability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920240"/>
                <a:gridCol w="4572000"/>
                <a:gridCol w="4572000"/>
              </a:tblGrid>
              <a:tr h="411480">
                <a:tc>
                  <a:txBody>
                    <a:bodyPr/>
                    <a:lstStyle/>
                    <a:p>
                      <a:pPr indent="0" marL="0">
                        <a:buNone/>
                      </a:pP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bg1"/>
                          </a:solidFill>
                        </a:rPr>
                        <a:t>AWS Bedrock AgentCore</a:t>
                      </a:r>
                      <a:endParaRPr lang="en-US" sz="14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2"/>
                    </a:solidFill>
                  </a:tcPr>
                </a:tc>
                <a:tc>
                  <a:txBody>
                    <a:bodyPr/>
                    <a:lstStyle/>
                    <a:p>
                      <a:pPr algn="l" indent="0" marL="0">
                        <a:buNone/>
                      </a:pPr>
                      <a:r>
                        <a:rPr lang="en-US" sz="1400" b="1" dirty="0">
                          <a:solidFill>
                            <a:schemeClr val="bg1"/>
                          </a:solidFill>
                        </a:rPr>
                        <a:t>Microsoft Foundry Agent Service</a:t>
                      </a:r>
                      <a:endParaRPr lang="en-US" sz="14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1"/>
                    </a:solidFill>
                  </a:tcPr>
                </a:tc>
              </a:tr>
              <a:tr h="548640">
                <a:tc>
                  <a:txBody>
                    <a:bodyPr/>
                    <a:lstStyle/>
                    <a:p>
                      <a:pPr indent="0" marL="0">
                        <a:buNone/>
                      </a:pPr>
                      <a:r>
                        <a:rPr lang="en-US" sz="1300" b="1" dirty="0">
                          <a:solidFill>
                            <a:schemeClr val="tx1"/>
                          </a:solidFill>
                        </a:rPr>
                        <a:t>Hosting model</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Serverless microVM per session; modular services adopted one by one</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 platform: prompt agents plus hosted code agents with built-in Toolbox</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Frameworks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Any: LangGraph, CrewAI, Strands, OpenAI Agents SDK, custom</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Any via hosted agents: Agent Framework, LangGraph, OpenAI and Claude SDKs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Models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Any model, in or outside Bedrock</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Foundry catalog (OpenAI, Claude, Llama and more); any model through code</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Protocols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MCP and A2A</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Responses API, MCP and other open protocols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Session limits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Up to 8 hours on microVMs; up to 14 days on Instances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Persistent sessions up to 30 days with a durable file system</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Built-in tools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Gateway (APIs and Lambda to MCP), Browser, Code Interpreter</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Toolbox, Foundry IQ, Fabric and Databricks Genie connectors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Evaluation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AgentCore Evaluations, online and batch</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Evaluations with continuous monitoring; Agent Optimizer (preview)</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Distribution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Your own apps and APIs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One-click publish to Teams and Microsoft 365 Copilot</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Identity: Foundry is native, AgentCore is federated</a:t>
            </a:r>
            <a:endParaRPr lang="en-US" sz="3200" dirty="0"/>
          </a:p>
        </p:txBody>
      </p:sp>
      <p:sp>
        <p:nvSpPr>
          <p:cNvPr id="3" name="AgentCore identity card"/>
          <p:cNvSpPr/>
          <p:nvPr/>
        </p:nvSpPr>
        <p:spPr>
          <a:xfrm>
            <a:off x="548640" y="1280160"/>
            <a:ext cx="5394960" cy="4023360"/>
          </a:xfrm>
          <a:prstGeom prst="roundRect">
            <a:avLst>
              <a:gd name="adj" fmla="val 2727"/>
            </a:avLst>
          </a:prstGeom>
          <a:solidFill>
            <a:schemeClr val="accent2">
              <a:alpha val="12000"/>
            </a:schemeClr>
          </a:solidFill>
          <a:ln/>
        </p:spPr>
      </p:sp>
      <p:sp>
        <p:nvSpPr>
          <p:cNvPr id="4" name="Foundry identity card"/>
          <p:cNvSpPr/>
          <p:nvPr/>
        </p:nvSpPr>
        <p:spPr>
          <a:xfrm>
            <a:off x="6217920" y="1280160"/>
            <a:ext cx="5394960" cy="4023360"/>
          </a:xfrm>
          <a:prstGeom prst="roundRect">
            <a:avLst>
              <a:gd name="adj" fmla="val 2727"/>
            </a:avLst>
          </a:prstGeom>
          <a:solidFill>
            <a:schemeClr val="accent1">
              <a:alpha val="12000"/>
            </a:schemeClr>
          </a:solidFill>
          <a:ln/>
        </p:spPr>
      </p:sp>
      <p:sp>
        <p:nvSpPr>
          <p:cNvPr id="5" name="Pill AWS Bedrock AgentCor"/>
          <p:cNvSpPr/>
          <p:nvPr/>
        </p:nvSpPr>
        <p:spPr>
          <a:xfrm>
            <a:off x="777240" y="1463040"/>
            <a:ext cx="2560320" cy="384048"/>
          </a:xfrm>
          <a:prstGeom prst="roundRect">
            <a:avLst>
              <a:gd name="adj" fmla="val 50000"/>
            </a:avLst>
          </a:prstGeom>
          <a:solidFill>
            <a:schemeClr val="accent2"/>
          </a:solidFill>
          <a:ln/>
        </p:spPr>
      </p:sp>
      <p:sp>
        <p:nvSpPr>
          <p:cNvPr id="6" name="Text 4"/>
          <p:cNvSpPr txBox="1"/>
          <p:nvPr/>
        </p:nvSpPr>
        <p:spPr>
          <a:xfrm>
            <a:off x="777240" y="1463040"/>
            <a:ext cx="2560320" cy="384048"/>
          </a:xfrm>
          <a:prstGeom prst="rect">
            <a:avLst/>
          </a:prstGeom>
          <a:noFill/>
          <a:ln/>
        </p:spPr>
        <p:txBody>
          <a:bodyPr wrap="square" lIns="0" tIns="0" rIns="0" bIns="0" rtlCol="0" anchor="ctr"/>
          <a:lstStyle/>
          <a:p>
            <a:pPr algn="ctr" indent="0" marL="0">
              <a:buNone/>
            </a:pPr>
            <a:r>
              <a:rPr lang="en-US" sz="1400" b="1" dirty="0">
                <a:solidFill>
                  <a:schemeClr val="bg1"/>
                </a:solidFill>
              </a:rPr>
              <a:t>AWS Bedrock AgentCore</a:t>
            </a:r>
            <a:endParaRPr lang="en-US" sz="1400" dirty="0"/>
          </a:p>
        </p:txBody>
      </p:sp>
      <p:sp>
        <p:nvSpPr>
          <p:cNvPr id="7" name="Pill Microsoft Foundry"/>
          <p:cNvSpPr/>
          <p:nvPr/>
        </p:nvSpPr>
        <p:spPr>
          <a:xfrm>
            <a:off x="6446520" y="1463040"/>
            <a:ext cx="2286000" cy="384048"/>
          </a:xfrm>
          <a:prstGeom prst="roundRect">
            <a:avLst>
              <a:gd name="adj" fmla="val 50000"/>
            </a:avLst>
          </a:prstGeom>
          <a:solidFill>
            <a:schemeClr val="accent1"/>
          </a:solidFill>
          <a:ln/>
        </p:spPr>
      </p:sp>
      <p:sp>
        <p:nvSpPr>
          <p:cNvPr id="8" name="Text 6"/>
          <p:cNvSpPr txBox="1"/>
          <p:nvPr/>
        </p:nvSpPr>
        <p:spPr>
          <a:xfrm>
            <a:off x="6446520" y="1463040"/>
            <a:ext cx="2286000" cy="384048"/>
          </a:xfrm>
          <a:prstGeom prst="rect">
            <a:avLst/>
          </a:prstGeom>
          <a:noFill/>
          <a:ln/>
        </p:spPr>
        <p:txBody>
          <a:bodyPr wrap="square" lIns="0" tIns="0" rIns="0" bIns="0" rtlCol="0" anchor="ctr"/>
          <a:lstStyle/>
          <a:p>
            <a:pPr algn="ctr" indent="0" marL="0">
              <a:buNone/>
            </a:pPr>
            <a:r>
              <a:rPr lang="en-US" sz="1400" b="1" dirty="0">
                <a:solidFill>
                  <a:schemeClr val="bg1"/>
                </a:solidFill>
              </a:rPr>
              <a:t>Microsoft Foundry</a:t>
            </a:r>
            <a:endParaRPr lang="en-US" sz="1400" dirty="0"/>
          </a:p>
        </p:txBody>
      </p:sp>
      <p:sp>
        <p:nvSpPr>
          <p:cNvPr id="9" name="AgentCore identity bullets"/>
          <p:cNvSpPr txBox="1"/>
          <p:nvPr/>
        </p:nvSpPr>
        <p:spPr>
          <a:xfrm>
            <a:off x="777240" y="2011680"/>
            <a:ext cx="493776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Inbound: JWT authorizer validates Entra-issued tokens (issuer, audience, client ID) on Runtime and Gateway</a:t>
            </a:r>
            <a:endParaRPr lang="en-US" sz="1400" dirty="0"/>
          </a:p>
          <a:p>
            <a:pPr marL="342900" indent="-342900">
              <a:spcAft>
                <a:spcPts val="1200"/>
              </a:spcAft>
              <a:buSzPct val="100000"/>
              <a:buChar char="•"/>
            </a:pPr>
            <a:r>
              <a:rPr lang="en-US" sz="1700" dirty="0">
                <a:solidFill>
                  <a:schemeClr val="tx1"/>
                </a:solidFill>
              </a:rPr>
              <a:t>Outbound: AgentCore Identity brokers OAuth, including on-behalf-of exchange for Entra-protected APIs</a:t>
            </a:r>
            <a:endParaRPr lang="en-US" sz="1400" dirty="0"/>
          </a:p>
          <a:p>
            <a:pPr marL="342900" indent="-342900">
              <a:spcAft>
                <a:spcPts val="1200"/>
              </a:spcAft>
              <a:buSzPct val="100000"/>
              <a:buChar char="•"/>
            </a:pPr>
            <a:r>
              <a:rPr lang="en-US" sz="1700" dirty="0">
                <a:solidFill>
                  <a:schemeClr val="tx1"/>
                </a:solidFill>
              </a:rPr>
              <a:t>Entra Agent ID can be held by an AWS-hosted agent, but it is custom wiring, not a managed path</a:t>
            </a:r>
            <a:endParaRPr lang="en-US" sz="1400" dirty="0"/>
          </a:p>
          <a:p>
            <a:pPr marL="342900" indent="-342900">
              <a:spcAft>
                <a:spcPts val="1200"/>
              </a:spcAft>
              <a:buSzPct val="100000"/>
              <a:buChar char="•"/>
            </a:pPr>
            <a:r>
              <a:rPr lang="en-US" sz="1700" dirty="0">
                <a:solidFill>
                  <a:schemeClr val="tx1"/>
                </a:solidFill>
              </a:rPr>
              <a:t>Two identity planes to audit: Entra plus AWS IAM</a:t>
            </a:r>
            <a:endParaRPr lang="en-US" sz="1400" dirty="0"/>
          </a:p>
        </p:txBody>
      </p:sp>
      <p:sp>
        <p:nvSpPr>
          <p:cNvPr id="10" name="Foundry identity bullets"/>
          <p:cNvSpPr txBox="1"/>
          <p:nvPr/>
        </p:nvSpPr>
        <p:spPr>
          <a:xfrm>
            <a:off x="6446520" y="2011680"/>
            <a:ext cx="4937760" cy="32004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Every hosted agent gets its own Entra Agent ID, provisioned automatically</a:t>
            </a:r>
            <a:endParaRPr lang="en-US" sz="1400" dirty="0"/>
          </a:p>
          <a:p>
            <a:pPr marL="342900" indent="-342900">
              <a:spcAft>
                <a:spcPts val="1200"/>
              </a:spcAft>
              <a:buSzPct val="100000"/>
              <a:buChar char="•"/>
            </a:pPr>
            <a:r>
              <a:rPr lang="en-US" sz="1700" dirty="0">
                <a:solidFill>
                  <a:schemeClr val="tx1"/>
                </a:solidFill>
              </a:rPr>
              <a:t>Unified Foundry RBAC on Entra; API keys can be disabled in production</a:t>
            </a:r>
            <a:endParaRPr lang="en-US" sz="1400" dirty="0"/>
          </a:p>
          <a:p>
            <a:pPr marL="342900" indent="-342900">
              <a:spcAft>
                <a:spcPts val="1200"/>
              </a:spcAft>
              <a:buSzPct val="100000"/>
              <a:buChar char="•"/>
            </a:pPr>
            <a:r>
              <a:rPr lang="en-US" sz="1700" dirty="0">
                <a:solidFill>
                  <a:schemeClr val="tx1"/>
                </a:solidFill>
              </a:rPr>
              <a:t>On-behalf-of flows to MCP tools through agent identity, managed identity or OAuth passthrough</a:t>
            </a:r>
            <a:endParaRPr lang="en-US" sz="1400" dirty="0"/>
          </a:p>
          <a:p>
            <a:pPr marL="342900" indent="-342900">
              <a:spcAft>
                <a:spcPts val="1200"/>
              </a:spcAft>
              <a:buSzPct val="100000"/>
              <a:buChar char="•"/>
            </a:pPr>
            <a:r>
              <a:rPr lang="en-US" sz="1700" dirty="0">
                <a:solidFill>
                  <a:schemeClr val="tx1"/>
                </a:solidFill>
              </a:rPr>
              <a:t>Lifecycle and access reviews extend to agents through Entra governance (parts still preview)</a:t>
            </a:r>
            <a:endParaRPr lang="en-US" sz="1400" dirty="0"/>
          </a:p>
        </p:txBody>
      </p:sp>
      <p:sp>
        <p:nvSpPr>
          <p:cNvPr id="11" name="Identity verdict"/>
          <p:cNvSpPr/>
          <p:nvPr/>
        </p:nvSpPr>
        <p:spPr>
          <a:xfrm>
            <a:off x="548640" y="5486400"/>
            <a:ext cx="11064240" cy="685800"/>
          </a:xfrm>
          <a:prstGeom prst="roundRect">
            <a:avLst>
              <a:gd name="adj" fmla="val 16000"/>
            </a:avLst>
          </a:prstGeom>
          <a:solidFill>
            <a:schemeClr val="accent1"/>
          </a:solidFill>
          <a:ln/>
        </p:spPr>
      </p:sp>
      <p:sp>
        <p:nvSpPr>
          <p:cNvPr id="12" name="Identity verdict text"/>
          <p:cNvSpPr txBox="1"/>
          <p:nvPr/>
        </p:nvSpPr>
        <p:spPr>
          <a:xfrm>
            <a:off x="822960" y="5486400"/>
            <a:ext cx="10515600" cy="685800"/>
          </a:xfrm>
          <a:prstGeom prst="rect">
            <a:avLst/>
          </a:prstGeom>
          <a:noFill/>
          <a:ln/>
        </p:spPr>
        <p:txBody>
          <a:bodyPr wrap="square" lIns="0" tIns="0" rIns="0" bIns="0" rtlCol="0" anchor="ctr"/>
          <a:lstStyle/>
          <a:p>
            <a:pPr indent="0" marL="0">
              <a:buNone/>
            </a:pPr>
            <a:r>
              <a:rPr lang="en-US" sz="1500" b="1" dirty="0">
                <a:solidFill>
                  <a:schemeClr val="bg1"/>
                </a:solidFill>
              </a:rPr>
              <a:t>Edge: Foundry.  </a:t>
            </a:r>
            <a:pPr indent="0" marL="0">
              <a:buNone/>
            </a:pPr>
            <a:r>
              <a:rPr lang="en-US" sz="1500" dirty="0">
                <a:solidFill>
                  <a:schemeClr val="bg1"/>
                </a:solidFill>
              </a:rPr>
              <a:t>AgentCore works with Entra through standard OIDC, but there is more to configure, audit and keep consistent.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Security: different strengths, no clean winner</a:t>
            </a:r>
            <a:endParaRPr lang="en-US" sz="3200" dirty="0"/>
          </a:p>
        </p:txBody>
      </p:sp>
      <p:graphicFrame>
        <p:nvGraphicFramePr>
          <p:cNvPr id="8" name="Security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4480560"/>
                <a:gridCol w="4480560"/>
              </a:tblGrid>
              <a:tr h="411480">
                <a:tc>
                  <a:txBody>
                    <a:bodyPr/>
                    <a:lstStyle/>
                    <a:p>
                      <a:pPr indent="0" marL="0">
                        <a:buNone/>
                      </a:pP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bg1"/>
                          </a:solidFill>
                        </a:rPr>
                        <a:t>AWS Bedrock AgentCore</a:t>
                      </a:r>
                      <a:endParaRPr lang="en-US" sz="14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2"/>
                    </a:solidFill>
                  </a:tcPr>
                </a:tc>
                <a:tc>
                  <a:txBody>
                    <a:bodyPr/>
                    <a:lstStyle/>
                    <a:p>
                      <a:pPr algn="l" indent="0" marL="0">
                        <a:buNone/>
                      </a:pPr>
                      <a:r>
                        <a:rPr lang="en-US" sz="1400" b="1" dirty="0">
                          <a:solidFill>
                            <a:schemeClr val="bg1"/>
                          </a:solidFill>
                        </a:rPr>
                        <a:t>Microsoft Foundry Agent Service</a:t>
                      </a:r>
                      <a:endParaRPr lang="en-US" sz="14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1"/>
                    </a:solidFill>
                  </a:tcPr>
                </a:tc>
              </a:tr>
              <a:tr h="585216">
                <a:tc>
                  <a:txBody>
                    <a:bodyPr/>
                    <a:lstStyle/>
                    <a:p>
                      <a:pPr indent="0" marL="0">
                        <a:buNone/>
                      </a:pPr>
                      <a:r>
                        <a:rPr lang="en-US" sz="1300" b="1" dirty="0">
                          <a:solidFill>
                            <a:schemeClr val="tx1"/>
                          </a:solidFill>
                        </a:rPr>
                        <a:t>Session isolation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microVM per session; memory sanitized at session end</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Hypervisor-isolated sandbox per hosted agent session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1"/>
                          </a:solidFill>
                        </a:rPr>
                        <a:t>Private networking</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VPC and PrivateLink across services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BYO VNet, no public egress (tracing over VNet: preview)</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1"/>
                          </a:solidFill>
                        </a:rPr>
                        <a:t>Tool-call authorization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Cedar policies at Gateway, deny by default, natural-language authoring</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Preview  </a:t>
                      </a:r>
                      <a:pPr indent="0" marL="0">
                        <a:buNone/>
                      </a:pPr>
                      <a:r>
                        <a:rPr lang="en-US" sz="1300" dirty="0">
                          <a:solidFill>
                            <a:schemeClr val="tx1"/>
                          </a:solidFill>
                        </a:rPr>
                        <a:t>Tool-call guardrails and task adherence, only for supported tools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1"/>
                          </a:solidFill>
                        </a:rPr>
                        <a:t>Content guardrails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Bedrock Guardrails inside Policy (since June 2026)</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Model-level controls; agent-level controls are in preview</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1"/>
                          </a:solidFill>
                        </a:rPr>
                        <a:t>Threat detection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Through observability and SIEM integrations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GA  </a:t>
                      </a:r>
                      <a:pPr indent="0" marL="0">
                        <a:buNone/>
                      </a:pPr>
                      <a:r>
                        <a:rPr lang="en-US" sz="1300" dirty="0">
                          <a:solidFill>
                            <a:schemeClr val="tx1"/>
                          </a:solidFill>
                        </a:rPr>
                        <a:t>Defender for Cloud AI threat protection covers Foundry agents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85216">
                <a:tc>
                  <a:txBody>
                    <a:bodyPr/>
                    <a:lstStyle/>
                    <a:p>
                      <a:pPr indent="0" marL="0">
                        <a:buNone/>
                      </a:pPr>
                      <a:r>
                        <a:rPr lang="en-US" sz="1300" b="1" dirty="0">
                          <a:solidFill>
                            <a:schemeClr val="tx1"/>
                          </a:solidFill>
                        </a:rPr>
                        <a:t>Configurability</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Policy as code (Cedar) in repos; guardrail configs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Portal and API guardrails per agent; annotate or block actions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Security verdict"/>
          <p:cNvSpPr/>
          <p:nvPr/>
        </p:nvSpPr>
        <p:spPr>
          <a:xfrm>
            <a:off x="548640" y="5440680"/>
            <a:ext cx="11064240" cy="777240"/>
          </a:xfrm>
          <a:prstGeom prst="roundRect">
            <a:avLst>
              <a:gd name="adj" fmla="val 14118"/>
            </a:avLst>
          </a:prstGeom>
          <a:solidFill>
            <a:schemeClr val="accent4"/>
          </a:solidFill>
          <a:ln/>
        </p:spPr>
      </p:sp>
      <p:sp>
        <p:nvSpPr>
          <p:cNvPr id="5" name="Security verdict tex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500" b="1" dirty="0">
                <a:solidFill>
                  <a:schemeClr val="bg1"/>
                </a:solidFill>
              </a:rPr>
              <a:t>Edge: AgentCore on enforceable tool-call policy today; Foundry on Microsoft security integration.  </a:t>
            </a:r>
            <a:pPr indent="0" marL="0">
              <a:buNone/>
            </a:pPr>
            <a:r>
              <a:rPr lang="en-US" sz="1500" dirty="0">
                <a:solidFill>
                  <a:schemeClr val="bg1"/>
                </a:solidFill>
              </a:rPr>
              <a:t>Neither replaces business-level authorization inside the tool itself.</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Data gravity: Azure data favors Foundry</a:t>
            </a:r>
            <a:endParaRPr lang="en-US" sz="3200" dirty="0"/>
          </a:p>
        </p:txBody>
      </p:sp>
      <p:sp>
        <p:nvSpPr>
          <p:cNvPr id="3" name="Foundry lane"/>
          <p:cNvSpPr/>
          <p:nvPr/>
        </p:nvSpPr>
        <p:spPr>
          <a:xfrm>
            <a:off x="548640" y="1280160"/>
            <a:ext cx="11064240" cy="1417320"/>
          </a:xfrm>
          <a:prstGeom prst="roundRect">
            <a:avLst>
              <a:gd name="adj" fmla="val 7742"/>
            </a:avLst>
          </a:prstGeom>
          <a:solidFill>
            <a:schemeClr val="accent1">
              <a:alpha val="12000"/>
            </a:schemeClr>
          </a:solidFill>
          <a:ln/>
        </p:spPr>
      </p:sp>
      <p:sp>
        <p:nvSpPr>
          <p:cNvPr id="4" name="AgentCore lane"/>
          <p:cNvSpPr/>
          <p:nvPr/>
        </p:nvSpPr>
        <p:spPr>
          <a:xfrm>
            <a:off x="548640" y="2880360"/>
            <a:ext cx="11064240" cy="1600200"/>
          </a:xfrm>
          <a:prstGeom prst="roundRect">
            <a:avLst>
              <a:gd name="adj" fmla="val 6857"/>
            </a:avLst>
          </a:prstGeom>
          <a:solidFill>
            <a:schemeClr val="accent2">
              <a:alpha val="12000"/>
            </a:schemeClr>
          </a:solidFill>
          <a:ln/>
        </p:spPr>
      </p:sp>
      <p:sp>
        <p:nvSpPr>
          <p:cNvPr id="5" name="Pill Foundry"/>
          <p:cNvSpPr/>
          <p:nvPr/>
        </p:nvSpPr>
        <p:spPr>
          <a:xfrm>
            <a:off x="731520" y="1371600"/>
            <a:ext cx="1188720" cy="310896"/>
          </a:xfrm>
          <a:prstGeom prst="roundRect">
            <a:avLst>
              <a:gd name="adj" fmla="val 50000"/>
            </a:avLst>
          </a:prstGeom>
          <a:solidFill>
            <a:schemeClr val="accent1"/>
          </a:solidFill>
          <a:ln/>
        </p:spPr>
      </p:sp>
      <p:sp>
        <p:nvSpPr>
          <p:cNvPr id="6" name="Text 4"/>
          <p:cNvSpPr txBox="1"/>
          <p:nvPr/>
        </p:nvSpPr>
        <p:spPr>
          <a:xfrm>
            <a:off x="731520" y="137160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Foundry</a:t>
            </a:r>
            <a:endParaRPr lang="en-US" sz="1200" dirty="0"/>
          </a:p>
        </p:txBody>
      </p:sp>
      <p:sp>
        <p:nvSpPr>
          <p:cNvPr id="7" name="Pill AgentCore"/>
          <p:cNvSpPr/>
          <p:nvPr/>
        </p:nvSpPr>
        <p:spPr>
          <a:xfrm>
            <a:off x="731520" y="2971800"/>
            <a:ext cx="1371600" cy="310896"/>
          </a:xfrm>
          <a:prstGeom prst="roundRect">
            <a:avLst>
              <a:gd name="adj" fmla="val 50000"/>
            </a:avLst>
          </a:prstGeom>
          <a:solidFill>
            <a:schemeClr val="accent2"/>
          </a:solidFill>
          <a:ln/>
        </p:spPr>
      </p:sp>
      <p:sp>
        <p:nvSpPr>
          <p:cNvPr id="8" name="Text 6"/>
          <p:cNvSpPr txBox="1"/>
          <p:nvPr/>
        </p:nvSpPr>
        <p:spPr>
          <a:xfrm>
            <a:off x="731520" y="297180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AgentCore</a:t>
            </a:r>
            <a:endParaRPr lang="en-US" sz="1200" dirty="0"/>
          </a:p>
        </p:txBody>
      </p:sp>
      <p:sp>
        <p:nvSpPr>
          <p:cNvPr id="9" name="Box Hosted agent in your VNet"/>
          <p:cNvSpPr/>
          <p:nvPr/>
        </p:nvSpPr>
        <p:spPr>
          <a:xfrm>
            <a:off x="914400" y="1783080"/>
            <a:ext cx="2286000" cy="731520"/>
          </a:xfrm>
          <a:prstGeom prst="roundRect">
            <a:avLst>
              <a:gd name="adj" fmla="val 15000"/>
            </a:avLst>
          </a:prstGeom>
          <a:solidFill>
            <a:schemeClr val="accent1"/>
          </a:solidFill>
          <a:ln/>
        </p:spPr>
      </p:sp>
      <p:sp>
        <p:nvSpPr>
          <p:cNvPr id="10" name="Text 8"/>
          <p:cNvSpPr txBox="1"/>
          <p:nvPr/>
        </p:nvSpPr>
        <p:spPr>
          <a:xfrm>
            <a:off x="914400" y="1783080"/>
            <a:ext cx="228600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Hosted agent in your VNet</a:t>
            </a:r>
            <a:endParaRPr lang="en-US" sz="1300" dirty="0"/>
          </a:p>
        </p:txBody>
      </p:sp>
      <p:sp>
        <p:nvSpPr>
          <p:cNvPr id="11" name="Foundry arrow"/>
          <p:cNvSpPr/>
          <p:nvPr/>
        </p:nvSpPr>
        <p:spPr>
          <a:xfrm>
            <a:off x="3200400" y="2148840"/>
            <a:ext cx="5943600" cy="0"/>
          </a:xfrm>
          <a:prstGeom prst="line">
            <a:avLst/>
          </a:prstGeom>
          <a:noFill/>
          <a:ln w="31750">
            <a:solidFill>
              <a:schemeClr val="accent1"/>
            </a:solidFill>
            <a:prstDash val="solid"/>
            <a:tailEnd type="triangle"/>
          </a:ln>
        </p:spPr>
      </p:sp>
      <p:sp>
        <p:nvSpPr>
          <p:cNvPr id="12" name="Foundry arrow label"/>
          <p:cNvSpPr txBox="1"/>
          <p:nvPr/>
        </p:nvSpPr>
        <p:spPr>
          <a:xfrm>
            <a:off x="3657600" y="1783080"/>
            <a:ext cx="5029200" cy="274320"/>
          </a:xfrm>
          <a:prstGeom prst="rect">
            <a:avLst/>
          </a:prstGeom>
          <a:noFill/>
          <a:ln/>
        </p:spPr>
        <p:txBody>
          <a:bodyPr wrap="square" lIns="0" tIns="0" rIns="0" bIns="0" rtlCol="0" anchor="t"/>
          <a:lstStyle/>
          <a:p>
            <a:pPr algn="ctr" indent="0" marL="0">
              <a:buNone/>
            </a:pPr>
            <a:r>
              <a:rPr lang="en-US" sz="1300" b="1" dirty="0">
                <a:solidFill>
                  <a:schemeClr val="accent1"/>
                </a:solidFill>
              </a:rPr>
              <a:t>Private endpoint, same cloud and tenant</a:t>
            </a:r>
            <a:endParaRPr lang="en-US" sz="1300" dirty="0"/>
          </a:p>
        </p:txBody>
      </p:sp>
      <p:sp>
        <p:nvSpPr>
          <p:cNvPr id="13" name="Box Azure data and Azure Databricks"/>
          <p:cNvSpPr/>
          <p:nvPr/>
        </p:nvSpPr>
        <p:spPr>
          <a:xfrm>
            <a:off x="9144000" y="1783080"/>
            <a:ext cx="2286000" cy="731520"/>
          </a:xfrm>
          <a:prstGeom prst="roundRect">
            <a:avLst>
              <a:gd name="adj" fmla="val 15000"/>
            </a:avLst>
          </a:prstGeom>
          <a:solidFill>
            <a:schemeClr val="tx2"/>
          </a:solidFill>
          <a:ln/>
        </p:spPr>
      </p:sp>
      <p:sp>
        <p:nvSpPr>
          <p:cNvPr id="14" name="Text 12"/>
          <p:cNvSpPr txBox="1"/>
          <p:nvPr/>
        </p:nvSpPr>
        <p:spPr>
          <a:xfrm>
            <a:off x="9144000" y="1783080"/>
            <a:ext cx="228600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Azure data and Azure Databricks</a:t>
            </a:r>
            <a:endParaRPr lang="en-US" sz="1300" dirty="0"/>
          </a:p>
        </p:txBody>
      </p:sp>
      <p:sp>
        <p:nvSpPr>
          <p:cNvPr id="15" name="Box AgentCore Runtime in AWS VPC"/>
          <p:cNvSpPr/>
          <p:nvPr/>
        </p:nvSpPr>
        <p:spPr>
          <a:xfrm>
            <a:off x="914400" y="3474720"/>
            <a:ext cx="2286000" cy="731520"/>
          </a:xfrm>
          <a:prstGeom prst="roundRect">
            <a:avLst>
              <a:gd name="adj" fmla="val 15000"/>
            </a:avLst>
          </a:prstGeom>
          <a:solidFill>
            <a:schemeClr val="accent2"/>
          </a:solidFill>
          <a:ln/>
        </p:spPr>
      </p:sp>
      <p:sp>
        <p:nvSpPr>
          <p:cNvPr id="16" name="Text 14"/>
          <p:cNvSpPr txBox="1"/>
          <p:nvPr/>
        </p:nvSpPr>
        <p:spPr>
          <a:xfrm>
            <a:off x="914400" y="3474720"/>
            <a:ext cx="228600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AgentCore Runtime in AWS VPC</a:t>
            </a:r>
            <a:endParaRPr lang="en-US" sz="1300" dirty="0"/>
          </a:p>
        </p:txBody>
      </p:sp>
      <p:sp>
        <p:nvSpPr>
          <p:cNvPr id="17" name="AC arrow 1"/>
          <p:cNvSpPr/>
          <p:nvPr/>
        </p:nvSpPr>
        <p:spPr>
          <a:xfrm>
            <a:off x="3200400" y="3840480"/>
            <a:ext cx="457200" cy="0"/>
          </a:xfrm>
          <a:prstGeom prst="line">
            <a:avLst/>
          </a:prstGeom>
          <a:noFill/>
          <a:ln w="31750">
            <a:solidFill>
              <a:schemeClr val="accent2"/>
            </a:solidFill>
            <a:prstDash val="solid"/>
            <a:tailEnd type="triangle"/>
          </a:ln>
        </p:spPr>
      </p:sp>
      <p:sp>
        <p:nvSpPr>
          <p:cNvPr id="18" name="Box Direct Connect with ExpressRoute, or VPN"/>
          <p:cNvSpPr/>
          <p:nvPr/>
        </p:nvSpPr>
        <p:spPr>
          <a:xfrm>
            <a:off x="3657600" y="3474720"/>
            <a:ext cx="2468880" cy="731520"/>
          </a:xfrm>
          <a:prstGeom prst="roundRect">
            <a:avLst>
              <a:gd name="adj" fmla="val 15000"/>
            </a:avLst>
          </a:prstGeom>
          <a:solidFill>
            <a:schemeClr val="accent4"/>
          </a:solidFill>
          <a:ln/>
        </p:spPr>
      </p:sp>
      <p:sp>
        <p:nvSpPr>
          <p:cNvPr id="19" name="Text 17"/>
          <p:cNvSpPr txBox="1"/>
          <p:nvPr/>
        </p:nvSpPr>
        <p:spPr>
          <a:xfrm>
            <a:off x="3657600" y="3474720"/>
            <a:ext cx="246888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Direct Connect with ExpressRoute, or VPN</a:t>
            </a:r>
            <a:endParaRPr lang="en-US" sz="1300" dirty="0"/>
          </a:p>
        </p:txBody>
      </p:sp>
      <p:sp>
        <p:nvSpPr>
          <p:cNvPr id="20" name="AC arrow 2"/>
          <p:cNvSpPr/>
          <p:nvPr/>
        </p:nvSpPr>
        <p:spPr>
          <a:xfrm>
            <a:off x="6126480" y="3840480"/>
            <a:ext cx="457200" cy="0"/>
          </a:xfrm>
          <a:prstGeom prst="line">
            <a:avLst/>
          </a:prstGeom>
          <a:noFill/>
          <a:ln w="31750">
            <a:solidFill>
              <a:schemeClr val="accent2"/>
            </a:solidFill>
            <a:prstDash val="solid"/>
            <a:tailEnd type="triangle"/>
          </a:ln>
        </p:spPr>
      </p:sp>
      <p:sp>
        <p:nvSpPr>
          <p:cNvPr id="21" name="Box Azure Private Link"/>
          <p:cNvSpPr/>
          <p:nvPr/>
        </p:nvSpPr>
        <p:spPr>
          <a:xfrm>
            <a:off x="6583680" y="3474720"/>
            <a:ext cx="2103120" cy="731520"/>
          </a:xfrm>
          <a:prstGeom prst="roundRect">
            <a:avLst>
              <a:gd name="adj" fmla="val 15000"/>
            </a:avLst>
          </a:prstGeom>
          <a:solidFill>
            <a:schemeClr val="accent4"/>
          </a:solidFill>
          <a:ln/>
        </p:spPr>
      </p:sp>
      <p:sp>
        <p:nvSpPr>
          <p:cNvPr id="22" name="Text 20"/>
          <p:cNvSpPr txBox="1"/>
          <p:nvPr/>
        </p:nvSpPr>
        <p:spPr>
          <a:xfrm>
            <a:off x="6583680" y="3474720"/>
            <a:ext cx="210312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Azure Private Link</a:t>
            </a:r>
            <a:endParaRPr lang="en-US" sz="1300" dirty="0"/>
          </a:p>
        </p:txBody>
      </p:sp>
      <p:sp>
        <p:nvSpPr>
          <p:cNvPr id="23" name="AC arrow 3"/>
          <p:cNvSpPr/>
          <p:nvPr/>
        </p:nvSpPr>
        <p:spPr>
          <a:xfrm>
            <a:off x="8686800" y="3840480"/>
            <a:ext cx="457200" cy="0"/>
          </a:xfrm>
          <a:prstGeom prst="line">
            <a:avLst/>
          </a:prstGeom>
          <a:noFill/>
          <a:ln w="31750">
            <a:solidFill>
              <a:schemeClr val="accent2"/>
            </a:solidFill>
            <a:prstDash val="solid"/>
            <a:tailEnd type="triangle"/>
          </a:ln>
        </p:spPr>
      </p:sp>
      <p:sp>
        <p:nvSpPr>
          <p:cNvPr id="24" name="Box Azure data and Azure Databricks"/>
          <p:cNvSpPr/>
          <p:nvPr/>
        </p:nvSpPr>
        <p:spPr>
          <a:xfrm>
            <a:off x="9144000" y="3474720"/>
            <a:ext cx="2286000" cy="731520"/>
          </a:xfrm>
          <a:prstGeom prst="roundRect">
            <a:avLst>
              <a:gd name="adj" fmla="val 15000"/>
            </a:avLst>
          </a:prstGeom>
          <a:solidFill>
            <a:schemeClr val="tx2"/>
          </a:solidFill>
          <a:ln/>
        </p:spPr>
      </p:sp>
      <p:sp>
        <p:nvSpPr>
          <p:cNvPr id="25" name="Text 23"/>
          <p:cNvSpPr txBox="1"/>
          <p:nvPr/>
        </p:nvSpPr>
        <p:spPr>
          <a:xfrm>
            <a:off x="9144000" y="3474720"/>
            <a:ext cx="2286000" cy="731520"/>
          </a:xfrm>
          <a:prstGeom prst="rect">
            <a:avLst/>
          </a:prstGeom>
          <a:noFill/>
          <a:ln/>
        </p:spPr>
        <p:txBody>
          <a:bodyPr wrap="square" lIns="635" tIns="635" rIns="635" bIns="635" rtlCol="0" anchor="ctr"/>
          <a:lstStyle/>
          <a:p>
            <a:pPr algn="ctr" indent="0" marL="0">
              <a:buNone/>
            </a:pPr>
            <a:r>
              <a:rPr lang="en-US" sz="1300" b="1" dirty="0">
                <a:solidFill>
                  <a:schemeClr val="bg1"/>
                </a:solidFill>
              </a:rPr>
              <a:t>Azure data and Azure Databricks</a:t>
            </a:r>
            <a:endParaRPr lang="en-US" sz="1300" dirty="0"/>
          </a:p>
        </p:txBody>
      </p:sp>
      <p:sp>
        <p:nvSpPr>
          <p:cNvPr id="26" name="Stat card 1"/>
          <p:cNvSpPr/>
          <p:nvPr/>
        </p:nvSpPr>
        <p:spPr>
          <a:xfrm>
            <a:off x="548640" y="4663440"/>
            <a:ext cx="3566160" cy="1005840"/>
          </a:xfrm>
          <a:prstGeom prst="roundRect">
            <a:avLst>
              <a:gd name="adj" fmla="val 10909"/>
            </a:avLst>
          </a:prstGeom>
          <a:solidFill>
            <a:schemeClr val="bg2"/>
          </a:solidFill>
          <a:ln/>
        </p:spPr>
      </p:sp>
      <p:sp>
        <p:nvSpPr>
          <p:cNvPr id="27" name="Stat head 1"/>
          <p:cNvSpPr txBox="1"/>
          <p:nvPr/>
        </p:nvSpPr>
        <p:spPr>
          <a:xfrm>
            <a:off x="731520" y="4754880"/>
            <a:ext cx="3200400" cy="274320"/>
          </a:xfrm>
          <a:prstGeom prst="rect">
            <a:avLst/>
          </a:prstGeom>
          <a:noFill/>
          <a:ln/>
        </p:spPr>
        <p:txBody>
          <a:bodyPr wrap="square" lIns="0" tIns="0" rIns="0" bIns="0" rtlCol="0" anchor="t"/>
          <a:lstStyle/>
          <a:p>
            <a:pPr indent="0" marL="0">
              <a:buNone/>
            </a:pPr>
            <a:r>
              <a:rPr lang="en-US" sz="1600" b="1" dirty="0">
                <a:solidFill>
                  <a:schemeClr val="tx1"/>
                </a:solidFill>
              </a:rPr>
              <a:t>Extra network path</a:t>
            </a:r>
            <a:endParaRPr lang="en-US" sz="1600" dirty="0"/>
          </a:p>
        </p:txBody>
      </p:sp>
      <p:sp>
        <p:nvSpPr>
          <p:cNvPr id="28" name="Stat body 1"/>
          <p:cNvSpPr txBox="1"/>
          <p:nvPr/>
        </p:nvSpPr>
        <p:spPr>
          <a:xfrm>
            <a:off x="731520" y="5074920"/>
            <a:ext cx="3200400" cy="548640"/>
          </a:xfrm>
          <a:prstGeom prst="rect">
            <a:avLst/>
          </a:prstGeom>
          <a:noFill/>
          <a:ln/>
        </p:spPr>
        <p:txBody>
          <a:bodyPr wrap="square" lIns="0" tIns="0" rIns="0" bIns="0" rtlCol="0" anchor="t"/>
          <a:lstStyle/>
          <a:p>
            <a:pPr indent="0" marL="0">
              <a:buNone/>
            </a:pPr>
            <a:r>
              <a:rPr lang="en-US" sz="1300" dirty="0">
                <a:solidFill>
                  <a:schemeClr val="tx1"/>
                </a:solidFill>
              </a:rPr>
              <a:t>A cloud interconnect to build, secure and operate</a:t>
            </a:r>
            <a:endParaRPr lang="en-US" sz="1300" dirty="0"/>
          </a:p>
        </p:txBody>
      </p:sp>
      <p:sp>
        <p:nvSpPr>
          <p:cNvPr id="29" name="Stat card 2"/>
          <p:cNvSpPr/>
          <p:nvPr/>
        </p:nvSpPr>
        <p:spPr>
          <a:xfrm>
            <a:off x="4297680" y="4663440"/>
            <a:ext cx="3566160" cy="1005840"/>
          </a:xfrm>
          <a:prstGeom prst="roundRect">
            <a:avLst>
              <a:gd name="adj" fmla="val 10909"/>
            </a:avLst>
          </a:prstGeom>
          <a:solidFill>
            <a:schemeClr val="bg2"/>
          </a:solidFill>
          <a:ln/>
        </p:spPr>
      </p:sp>
      <p:sp>
        <p:nvSpPr>
          <p:cNvPr id="30" name="Stat head 2"/>
          <p:cNvSpPr txBox="1"/>
          <p:nvPr/>
        </p:nvSpPr>
        <p:spPr>
          <a:xfrm>
            <a:off x="4480560" y="4754880"/>
            <a:ext cx="3200400" cy="274320"/>
          </a:xfrm>
          <a:prstGeom prst="rect">
            <a:avLst/>
          </a:prstGeom>
          <a:noFill/>
          <a:ln/>
        </p:spPr>
        <p:txBody>
          <a:bodyPr wrap="square" lIns="0" tIns="0" rIns="0" bIns="0" rtlCol="0" anchor="t"/>
          <a:lstStyle/>
          <a:p>
            <a:pPr indent="0" marL="0">
              <a:buNone/>
            </a:pPr>
            <a:r>
              <a:rPr lang="en-US" sz="1600" b="1" dirty="0">
                <a:solidFill>
                  <a:schemeClr val="tx1"/>
                </a:solidFill>
              </a:rPr>
              <a:t>Egress and latency</a:t>
            </a:r>
            <a:endParaRPr lang="en-US" sz="1600" dirty="0"/>
          </a:p>
        </p:txBody>
      </p:sp>
      <p:sp>
        <p:nvSpPr>
          <p:cNvPr id="31" name="Stat body 2"/>
          <p:cNvSpPr txBox="1"/>
          <p:nvPr/>
        </p:nvSpPr>
        <p:spPr>
          <a:xfrm>
            <a:off x="4480560" y="5074920"/>
            <a:ext cx="3200400" cy="548640"/>
          </a:xfrm>
          <a:prstGeom prst="rect">
            <a:avLst/>
          </a:prstGeom>
          <a:noFill/>
          <a:ln/>
        </p:spPr>
        <p:txBody>
          <a:bodyPr wrap="square" lIns="0" tIns="0" rIns="0" bIns="0" rtlCol="0" anchor="t"/>
          <a:lstStyle/>
          <a:p>
            <a:pPr indent="0" marL="0">
              <a:buNone/>
            </a:pPr>
            <a:r>
              <a:rPr lang="en-US" sz="1300" dirty="0">
                <a:solidFill>
                  <a:schemeClr val="tx1"/>
                </a:solidFill>
              </a:rPr>
              <a:t>Cross-cloud data movement adds fees and round-trip time</a:t>
            </a:r>
            <a:endParaRPr lang="en-US" sz="1300" dirty="0"/>
          </a:p>
        </p:txBody>
      </p:sp>
      <p:sp>
        <p:nvSpPr>
          <p:cNvPr id="32" name="Stat card 3"/>
          <p:cNvSpPr/>
          <p:nvPr/>
        </p:nvSpPr>
        <p:spPr>
          <a:xfrm>
            <a:off x="8046720" y="4663440"/>
            <a:ext cx="3566160" cy="1005840"/>
          </a:xfrm>
          <a:prstGeom prst="roundRect">
            <a:avLst>
              <a:gd name="adj" fmla="val 10909"/>
            </a:avLst>
          </a:prstGeom>
          <a:solidFill>
            <a:schemeClr val="bg2"/>
          </a:solidFill>
          <a:ln/>
        </p:spPr>
      </p:sp>
      <p:sp>
        <p:nvSpPr>
          <p:cNvPr id="33" name="Stat head 3"/>
          <p:cNvSpPr txBox="1"/>
          <p:nvPr/>
        </p:nvSpPr>
        <p:spPr>
          <a:xfrm>
            <a:off x="8229600" y="4754880"/>
            <a:ext cx="3200400" cy="274320"/>
          </a:xfrm>
          <a:prstGeom prst="rect">
            <a:avLst/>
          </a:prstGeom>
          <a:noFill/>
          <a:ln/>
        </p:spPr>
        <p:txBody>
          <a:bodyPr wrap="square" lIns="0" tIns="0" rIns="0" bIns="0" rtlCol="0" anchor="t"/>
          <a:lstStyle/>
          <a:p>
            <a:pPr indent="0" marL="0">
              <a:buNone/>
            </a:pPr>
            <a:r>
              <a:rPr lang="en-US" sz="1600" b="1" dirty="0">
                <a:solidFill>
                  <a:schemeClr val="tx1"/>
                </a:solidFill>
              </a:rPr>
              <a:t>Second security perimeter</a:t>
            </a:r>
            <a:endParaRPr lang="en-US" sz="1600" dirty="0"/>
          </a:p>
        </p:txBody>
      </p:sp>
      <p:sp>
        <p:nvSpPr>
          <p:cNvPr id="34" name="Stat body 3"/>
          <p:cNvSpPr txBox="1"/>
          <p:nvPr/>
        </p:nvSpPr>
        <p:spPr>
          <a:xfrm>
            <a:off x="8229600" y="5074920"/>
            <a:ext cx="3200400" cy="548640"/>
          </a:xfrm>
          <a:prstGeom prst="rect">
            <a:avLst/>
          </a:prstGeom>
          <a:noFill/>
          <a:ln/>
        </p:spPr>
        <p:txBody>
          <a:bodyPr wrap="square" lIns="0" tIns="0" rIns="0" bIns="0" rtlCol="0" anchor="t"/>
          <a:lstStyle/>
          <a:p>
            <a:pPr indent="0" marL="0">
              <a:buNone/>
            </a:pPr>
            <a:r>
              <a:rPr lang="en-US" sz="1300" dirty="0">
                <a:solidFill>
                  <a:schemeClr val="tx1"/>
                </a:solidFill>
              </a:rPr>
              <a:t>AWS IAM and VPC controls alongside Entra and Azure network rules</a:t>
            </a:r>
            <a:endParaRPr lang="en-US" sz="1300" dirty="0"/>
          </a:p>
        </p:txBody>
      </p:sp>
      <p:sp>
        <p:nvSpPr>
          <p:cNvPr id="35" name="Data caveat"/>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400" i="1" dirty="0">
                <a:solidFill>
                  <a:schemeClr val="accent5"/>
                </a:solidFill>
              </a:rPr>
              <a:t>Assumes Databricks runs on Azure. If a workload's data or Databricks workspace is in AWS, this advantage reverses for that workload.</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Kong and Dynatrace work with both, with caveats</a:t>
            </a:r>
            <a:endParaRPr lang="en-US" sz="3200" dirty="0"/>
          </a:p>
        </p:txBody>
      </p:sp>
      <p:sp>
        <p:nvSpPr>
          <p:cNvPr id="3" name="Kong panel"/>
          <p:cNvSpPr/>
          <p:nvPr/>
        </p:nvSpPr>
        <p:spPr>
          <a:xfrm>
            <a:off x="548640" y="1280160"/>
            <a:ext cx="5486400" cy="4160520"/>
          </a:xfrm>
          <a:prstGeom prst="roundRect">
            <a:avLst>
              <a:gd name="adj" fmla="val 2637"/>
            </a:avLst>
          </a:prstGeom>
          <a:solidFill>
            <a:schemeClr val="bg2"/>
          </a:solidFill>
          <a:ln/>
        </p:spPr>
      </p:sp>
      <p:sp>
        <p:nvSpPr>
          <p:cNvPr id="4" name="Kong circle"/>
          <p:cNvSpPr/>
          <p:nvPr/>
        </p:nvSpPr>
        <p:spPr>
          <a:xfrm>
            <a:off x="777240" y="1463040"/>
            <a:ext cx="502920" cy="502920"/>
          </a:xfrm>
          <a:prstGeom prst="ellipse">
            <a:avLst/>
          </a:prstGeom>
          <a:solidFill>
            <a:schemeClr val="accent3"/>
          </a:solidFill>
          <a:ln/>
        </p:spPr>
      </p:sp>
      <p:pic>
        <p:nvPicPr>
          <p:cNvPr id="5" name="Kong icon" descr="Kong">    </p:cNvPr>
          <p:cNvPicPr>
            <a:picLocks noChangeAspect="1"/>
          </p:cNvPicPr>
          <p:nvPr/>
        </p:nvPicPr>
        <p:blipFill>
          <a:blip r:embed="rId1"/>
          <a:stretch>
            <a:fillRect/>
          </a:stretch>
        </p:blipFill>
        <p:spPr>
          <a:xfrm>
            <a:off x="887882" y="1573682"/>
            <a:ext cx="281635" cy="281635"/>
          </a:xfrm>
          <a:prstGeom prst="rect">
            <a:avLst/>
          </a:prstGeom>
        </p:spPr>
      </p:pic>
      <p:sp>
        <p:nvSpPr>
          <p:cNvPr id="6" name="Kong head"/>
          <p:cNvSpPr txBox="1"/>
          <p:nvPr/>
        </p:nvSpPr>
        <p:spPr>
          <a:xfrm>
            <a:off x="1463040" y="1508760"/>
            <a:ext cx="4389120" cy="411480"/>
          </a:xfrm>
          <a:prstGeom prst="rect">
            <a:avLst/>
          </a:prstGeom>
          <a:noFill/>
          <a:ln/>
        </p:spPr>
        <p:txBody>
          <a:bodyPr wrap="square" lIns="0" tIns="0" rIns="0" bIns="0" rtlCol="0" anchor="ctr"/>
          <a:lstStyle/>
          <a:p>
            <a:pPr indent="0" marL="0">
              <a:buNone/>
            </a:pPr>
            <a:r>
              <a:rPr lang="en-US" sz="1800" b="1" dirty="0">
                <a:solidFill>
                  <a:schemeClr val="tx1"/>
                </a:solidFill>
              </a:rPr>
              <a:t>Kong: all model traffic</a:t>
            </a:r>
            <a:endParaRPr lang="en-US" sz="1800" dirty="0"/>
          </a:p>
        </p:txBody>
      </p:sp>
      <p:sp>
        <p:nvSpPr>
          <p:cNvPr id="7" name="Flow Agent runtime"/>
          <p:cNvSpPr/>
          <p:nvPr/>
        </p:nvSpPr>
        <p:spPr>
          <a:xfrm>
            <a:off x="777240" y="2194560"/>
            <a:ext cx="1417320" cy="685800"/>
          </a:xfrm>
          <a:prstGeom prst="roundRect">
            <a:avLst>
              <a:gd name="adj" fmla="val 16000"/>
            </a:avLst>
          </a:prstGeom>
          <a:solidFill>
            <a:schemeClr val="accent4"/>
          </a:solidFill>
          <a:ln/>
        </p:spPr>
      </p:sp>
      <p:sp>
        <p:nvSpPr>
          <p:cNvPr id="8" name="Text 5"/>
          <p:cNvSpPr txBox="1"/>
          <p:nvPr/>
        </p:nvSpPr>
        <p:spPr>
          <a:xfrm>
            <a:off x="777240" y="2194560"/>
            <a:ext cx="1417320" cy="685800"/>
          </a:xfrm>
          <a:prstGeom prst="rect">
            <a:avLst/>
          </a:prstGeom>
          <a:noFill/>
          <a:ln/>
        </p:spPr>
        <p:txBody>
          <a:bodyPr wrap="square" lIns="0" tIns="0" rIns="0" bIns="0" rtlCol="0" anchor="ctr"/>
          <a:lstStyle/>
          <a:p>
            <a:pPr algn="ctr" indent="0" marL="0">
              <a:buNone/>
            </a:pPr>
            <a:r>
              <a:rPr lang="en-US" sz="1300" b="1" dirty="0">
                <a:solidFill>
                  <a:schemeClr val="bg1"/>
                </a:solidFill>
              </a:rPr>
              <a:t>Agent runtime</a:t>
            </a:r>
            <a:endParaRPr lang="en-US" sz="1300" dirty="0"/>
          </a:p>
        </p:txBody>
      </p:sp>
      <p:sp>
        <p:nvSpPr>
          <p:cNvPr id="9" name="Flow arrow 1"/>
          <p:cNvSpPr/>
          <p:nvPr/>
        </p:nvSpPr>
        <p:spPr>
          <a:xfrm>
            <a:off x="2194560" y="2542032"/>
            <a:ext cx="457200" cy="0"/>
          </a:xfrm>
          <a:prstGeom prst="line">
            <a:avLst/>
          </a:prstGeom>
          <a:noFill/>
          <a:ln w="31750">
            <a:solidFill>
              <a:schemeClr val="tx1"/>
            </a:solidFill>
            <a:prstDash val="solid"/>
            <a:tailEnd type="triangle"/>
          </a:ln>
        </p:spPr>
      </p:sp>
      <p:sp>
        <p:nvSpPr>
          <p:cNvPr id="10" name="Flow Kong AI Gateway"/>
          <p:cNvSpPr/>
          <p:nvPr/>
        </p:nvSpPr>
        <p:spPr>
          <a:xfrm>
            <a:off x="2651760" y="2194560"/>
            <a:ext cx="1417320" cy="685800"/>
          </a:xfrm>
          <a:prstGeom prst="roundRect">
            <a:avLst>
              <a:gd name="adj" fmla="val 16000"/>
            </a:avLst>
          </a:prstGeom>
          <a:solidFill>
            <a:schemeClr val="accent3"/>
          </a:solidFill>
          <a:ln/>
        </p:spPr>
      </p:sp>
      <p:sp>
        <p:nvSpPr>
          <p:cNvPr id="11" name="Text 8"/>
          <p:cNvSpPr txBox="1"/>
          <p:nvPr/>
        </p:nvSpPr>
        <p:spPr>
          <a:xfrm>
            <a:off x="2651760" y="2194560"/>
            <a:ext cx="1417320" cy="685800"/>
          </a:xfrm>
          <a:prstGeom prst="rect">
            <a:avLst/>
          </a:prstGeom>
          <a:noFill/>
          <a:ln/>
        </p:spPr>
        <p:txBody>
          <a:bodyPr wrap="square" lIns="0" tIns="0" rIns="0" bIns="0" rtlCol="0" anchor="ctr"/>
          <a:lstStyle/>
          <a:p>
            <a:pPr algn="ctr" indent="0" marL="0">
              <a:buNone/>
            </a:pPr>
            <a:r>
              <a:rPr lang="en-US" sz="1300" b="1" dirty="0">
                <a:solidFill>
                  <a:schemeClr val="bg1"/>
                </a:solidFill>
              </a:rPr>
              <a:t>Kong AI Gateway</a:t>
            </a:r>
            <a:endParaRPr lang="en-US" sz="1300" dirty="0"/>
          </a:p>
        </p:txBody>
      </p:sp>
      <p:sp>
        <p:nvSpPr>
          <p:cNvPr id="12" name="Flow arrow 2"/>
          <p:cNvSpPr/>
          <p:nvPr/>
        </p:nvSpPr>
        <p:spPr>
          <a:xfrm>
            <a:off x="4069080" y="2542032"/>
            <a:ext cx="457200" cy="0"/>
          </a:xfrm>
          <a:prstGeom prst="line">
            <a:avLst/>
          </a:prstGeom>
          <a:noFill/>
          <a:ln w="31750">
            <a:solidFill>
              <a:schemeClr val="tx1"/>
            </a:solidFill>
            <a:prstDash val="solid"/>
            <a:tailEnd type="triangle"/>
          </a:ln>
        </p:spPr>
      </p:sp>
      <p:sp>
        <p:nvSpPr>
          <p:cNvPr id="13" name="Flow LLM providers"/>
          <p:cNvSpPr/>
          <p:nvPr/>
        </p:nvSpPr>
        <p:spPr>
          <a:xfrm>
            <a:off x="4526280" y="2194560"/>
            <a:ext cx="1417320" cy="685800"/>
          </a:xfrm>
          <a:prstGeom prst="roundRect">
            <a:avLst>
              <a:gd name="adj" fmla="val 16000"/>
            </a:avLst>
          </a:prstGeom>
          <a:solidFill>
            <a:schemeClr val="accent4"/>
          </a:solidFill>
          <a:ln/>
        </p:spPr>
      </p:sp>
      <p:sp>
        <p:nvSpPr>
          <p:cNvPr id="14" name="Text 11"/>
          <p:cNvSpPr txBox="1"/>
          <p:nvPr/>
        </p:nvSpPr>
        <p:spPr>
          <a:xfrm>
            <a:off x="4526280" y="2194560"/>
            <a:ext cx="1417320" cy="685800"/>
          </a:xfrm>
          <a:prstGeom prst="rect">
            <a:avLst/>
          </a:prstGeom>
          <a:noFill/>
          <a:ln/>
        </p:spPr>
        <p:txBody>
          <a:bodyPr wrap="square" lIns="0" tIns="0" rIns="0" bIns="0" rtlCol="0" anchor="ctr"/>
          <a:lstStyle/>
          <a:p>
            <a:pPr algn="ctr" indent="0" marL="0">
              <a:buNone/>
            </a:pPr>
            <a:r>
              <a:rPr lang="en-US" sz="1300" b="1" dirty="0">
                <a:solidFill>
                  <a:schemeClr val="bg1"/>
                </a:solidFill>
              </a:rPr>
              <a:t>LLM providers</a:t>
            </a:r>
            <a:endParaRPr lang="en-US" sz="1300" dirty="0"/>
          </a:p>
        </p:txBody>
      </p:sp>
      <p:sp>
        <p:nvSpPr>
          <p:cNvPr id="15" name="Kong bullets"/>
          <p:cNvSpPr txBox="1"/>
          <p:nvPr/>
        </p:nvSpPr>
        <p:spPr>
          <a:xfrm>
            <a:off x="777240" y="3108960"/>
            <a:ext cx="502920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Code-based agents on either platform can point at Kong; block direct model egress with security groups or NSGs and a firewall</a:t>
            </a:r>
            <a:endParaRPr lang="en-US" sz="1400" dirty="0"/>
          </a:p>
          <a:p>
            <a:pPr marL="342900" indent="-342900">
              <a:spcAft>
                <a:spcPts val="1000"/>
              </a:spcAft>
              <a:buSzPct val="100000"/>
              <a:buChar char="•"/>
            </a:pPr>
            <a:r>
              <a:rPr lang="en-US" sz="1600" dirty="0">
                <a:solidFill>
                  <a:schemeClr val="tx1"/>
                </a:solidFill>
              </a:rPr>
              <a:t>Foundry prompt agents call models inside the service; routing them through Kong relies on the BYO AI gateway feature (preview at last check)</a:t>
            </a:r>
            <a:endParaRPr lang="en-US" sz="1400" dirty="0"/>
          </a:p>
        </p:txBody>
      </p:sp>
      <p:sp>
        <p:nvSpPr>
          <p:cNvPr id="16" name="Dynatrace panel"/>
          <p:cNvSpPr/>
          <p:nvPr/>
        </p:nvSpPr>
        <p:spPr>
          <a:xfrm>
            <a:off x="6309360" y="1280160"/>
            <a:ext cx="5303520" cy="4160520"/>
          </a:xfrm>
          <a:prstGeom prst="roundRect">
            <a:avLst>
              <a:gd name="adj" fmla="val 2637"/>
            </a:avLst>
          </a:prstGeom>
          <a:solidFill>
            <a:schemeClr val="bg2"/>
          </a:solidFill>
          <a:ln/>
        </p:spPr>
      </p:sp>
      <p:sp>
        <p:nvSpPr>
          <p:cNvPr id="17" name="Dynatrace circle"/>
          <p:cNvSpPr/>
          <p:nvPr/>
        </p:nvSpPr>
        <p:spPr>
          <a:xfrm>
            <a:off x="6537960" y="1463040"/>
            <a:ext cx="502920" cy="502920"/>
          </a:xfrm>
          <a:prstGeom prst="ellipse">
            <a:avLst/>
          </a:prstGeom>
          <a:solidFill>
            <a:schemeClr val="accent3"/>
          </a:solidFill>
          <a:ln/>
        </p:spPr>
      </p:sp>
      <p:pic>
        <p:nvPicPr>
          <p:cNvPr id="18" name="Dynatrace icon" descr="Dynatrace">    </p:cNvPr>
          <p:cNvPicPr>
            <a:picLocks noChangeAspect="1"/>
          </p:cNvPicPr>
          <p:nvPr/>
        </p:nvPicPr>
        <p:blipFill>
          <a:blip r:embed="rId2"/>
          <a:stretch>
            <a:fillRect/>
          </a:stretch>
        </p:blipFill>
        <p:spPr>
          <a:xfrm>
            <a:off x="6648602" y="1573682"/>
            <a:ext cx="281635" cy="281635"/>
          </a:xfrm>
          <a:prstGeom prst="rect">
            <a:avLst/>
          </a:prstGeom>
        </p:spPr>
      </p:pic>
      <p:sp>
        <p:nvSpPr>
          <p:cNvPr id="19" name="Dynatrace head"/>
          <p:cNvSpPr txBox="1"/>
          <p:nvPr/>
        </p:nvSpPr>
        <p:spPr>
          <a:xfrm>
            <a:off x="7223760" y="1508760"/>
            <a:ext cx="4206240" cy="411480"/>
          </a:xfrm>
          <a:prstGeom prst="rect">
            <a:avLst/>
          </a:prstGeom>
          <a:noFill/>
          <a:ln/>
        </p:spPr>
        <p:txBody>
          <a:bodyPr wrap="square" lIns="0" tIns="0" rIns="0" bIns="0" rtlCol="0" anchor="ctr"/>
          <a:lstStyle/>
          <a:p>
            <a:pPr indent="0" marL="0">
              <a:buNone/>
            </a:pPr>
            <a:r>
              <a:rPr lang="en-US" sz="1800" b="1" dirty="0">
                <a:solidFill>
                  <a:schemeClr val="tx1"/>
                </a:solidFill>
              </a:rPr>
              <a:t>Dynatrace: one pane of glass</a:t>
            </a:r>
            <a:endParaRPr lang="en-US" sz="1800" dirty="0"/>
          </a:p>
        </p:txBody>
      </p:sp>
      <p:sp>
        <p:nvSpPr>
          <p:cNvPr id="20" name="Dynatrace bullets"/>
          <p:cNvSpPr txBox="1"/>
          <p:nvPr/>
        </p:nvSpPr>
        <p:spPr>
          <a:xfrm>
            <a:off x="6537960" y="2194560"/>
            <a:ext cx="4892040"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AgentCore: native Dynatrace integration through OTLP export, with an AI Observability app and topology view</a:t>
            </a:r>
            <a:endParaRPr lang="en-US" sz="1400" dirty="0"/>
          </a:p>
          <a:p>
            <a:pPr marL="342900" indent="-342900">
              <a:spcAft>
                <a:spcPts val="1200"/>
              </a:spcAft>
              <a:buSzPct val="100000"/>
              <a:buChar char="•"/>
            </a:pPr>
            <a:r>
              <a:rPr lang="en-US" sz="1700" dirty="0">
                <a:solidFill>
                  <a:schemeClr val="tx1"/>
                </a:solidFill>
              </a:rPr>
              <a:t>Foundry: OpenTelemetry tracing (GA for prompt and hosted agents); Dynatrace documents Azure AI Foundry and Microsoft Agent Framework integrations</a:t>
            </a:r>
            <a:endParaRPr lang="en-US" sz="1400" dirty="0"/>
          </a:p>
          <a:p>
            <a:pPr marL="342900" indent="-342900">
              <a:spcAft>
                <a:spcPts val="1200"/>
              </a:spcAft>
              <a:buSzPct val="100000"/>
              <a:buChar char="•"/>
            </a:pPr>
            <a:r>
              <a:rPr lang="en-US" sz="1700" dirty="0">
                <a:solidFill>
                  <a:schemeClr val="tx1"/>
                </a:solidFill>
              </a:rPr>
              <a:t>Both: standardize on OTel GenAI attributes so dashboards and alerts port across runtimes</a:t>
            </a:r>
            <a:endParaRPr lang="en-US" sz="1400" dirty="0"/>
          </a:p>
        </p:txBody>
      </p:sp>
      <p:sp>
        <p:nvSpPr>
          <p:cNvPr id="21" name="Design rule bar"/>
          <p:cNvSpPr/>
          <p:nvPr/>
        </p:nvSpPr>
        <p:spPr>
          <a:xfrm>
            <a:off x="548640" y="5623560"/>
            <a:ext cx="11064240" cy="594360"/>
          </a:xfrm>
          <a:prstGeom prst="roundRect">
            <a:avLst>
              <a:gd name="adj" fmla="val 18462"/>
            </a:avLst>
          </a:prstGeom>
          <a:solidFill>
            <a:schemeClr val="tx2"/>
          </a:solidFill>
          <a:ln/>
        </p:spPr>
      </p:sp>
      <p:sp>
        <p:nvSpPr>
          <p:cNvPr id="22" name="Design rule text"/>
          <p:cNvSpPr txBox="1"/>
          <p:nvPr/>
        </p:nvSpPr>
        <p:spPr>
          <a:xfrm>
            <a:off x="822960" y="5623560"/>
            <a:ext cx="10515600" cy="594360"/>
          </a:xfrm>
          <a:prstGeom prst="rect">
            <a:avLst/>
          </a:prstGeom>
          <a:noFill/>
          <a:ln/>
        </p:spPr>
        <p:txBody>
          <a:bodyPr wrap="square" lIns="0" tIns="0" rIns="0" bIns="0" rtlCol="0" anchor="ctr"/>
          <a:lstStyle/>
          <a:p>
            <a:pPr indent="0" marL="0">
              <a:buNone/>
            </a:pPr>
            <a:r>
              <a:rPr lang="en-US" sz="1500" b="1" dirty="0">
                <a:solidFill>
                  <a:schemeClr val="bg1"/>
                </a:solidFill>
              </a:rPr>
              <a:t>Design rule:  </a:t>
            </a:r>
            <a:pPr indent="0" marL="0">
              <a:buNone/>
            </a:pPr>
            <a:r>
              <a:rPr lang="en-US" sz="1500" dirty="0">
                <a:solidFill>
                  <a:schemeClr val="bg1"/>
                </a:solidFill>
              </a:rPr>
              <a:t>enforce Kong routing and Dynatrace export at the platform and network layer so every team inherits them.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Runtime compute is about 1% of the bill</a:t>
            </a:r>
            <a:endParaRPr lang="en-US" sz="3200" dirty="0"/>
          </a:p>
        </p:txBody>
      </p:sp>
      <p:graphicFrame>
        <p:nvGraphicFramePr>
          <p:cNvPr id="3" name="Chart 0" descr=""/>
          <p:cNvGraphicFramePr/>
          <p:nvPr/>
        </p:nvGraphicFramePr>
        <p:xfrm>
          <a:off x="548640" y="1234440"/>
          <a:ext cx="6583680" cy="3246120"/>
        </p:xfrm>
        <a:graphic xmlns:a="http://schemas.openxmlformats.org/drawingml/2006/main">
          <a:graphicData uri="http://schemas.openxmlformats.org/drawingml/2006/chart">
            <c:chart xmlns:c="http://schemas.openxmlformats.org/drawingml/2006/chart" r:id="rId1"/>
          </a:graphicData>
        </a:graphic>
      </p:graphicFrame>
      <p:sp>
        <p:nvSpPr>
          <p:cNvPr id="4" name="Cost callout card"/>
          <p:cNvSpPr/>
          <p:nvPr/>
        </p:nvSpPr>
        <p:spPr>
          <a:xfrm>
            <a:off x="7406640" y="1280160"/>
            <a:ext cx="4206240" cy="3108960"/>
          </a:xfrm>
          <a:prstGeom prst="roundRect">
            <a:avLst>
              <a:gd name="adj" fmla="val 3529"/>
            </a:avLst>
          </a:prstGeom>
          <a:solidFill>
            <a:schemeClr val="bg2"/>
          </a:solidFill>
          <a:ln/>
        </p:spPr>
      </p:sp>
      <p:sp>
        <p:nvSpPr>
          <p:cNvPr id="5" name="Big stat"/>
          <p:cNvSpPr txBox="1"/>
          <p:nvPr/>
        </p:nvSpPr>
        <p:spPr>
          <a:xfrm>
            <a:off x="7635240" y="1371600"/>
            <a:ext cx="3749040" cy="1005840"/>
          </a:xfrm>
          <a:prstGeom prst="rect">
            <a:avLst/>
          </a:prstGeom>
          <a:noFill/>
          <a:ln/>
        </p:spPr>
        <p:txBody>
          <a:bodyPr wrap="square" lIns="0" tIns="0" rIns="0" bIns="0" rtlCol="0" anchor="t"/>
          <a:lstStyle/>
          <a:p>
            <a:pPr indent="0" marL="0">
              <a:buNone/>
            </a:pPr>
            <a:r>
              <a:rPr lang="en-US" sz="6600" b="1" dirty="0">
                <a:solidFill>
                  <a:schemeClr val="accent3"/>
                </a:solidFill>
                <a:latin typeface="Cambria" pitchFamily="34" charset="0"/>
                <a:ea typeface="Cambria" pitchFamily="34" charset="-122"/>
                <a:cs typeface="Cambria" pitchFamily="34" charset="-120"/>
              </a:rPr>
              <a:t>~1%</a:t>
            </a:r>
            <a:endParaRPr lang="en-US" sz="6600" dirty="0"/>
          </a:p>
        </p:txBody>
      </p:sp>
      <p:sp>
        <p:nvSpPr>
          <p:cNvPr id="6" name="Big stat label"/>
          <p:cNvSpPr txBox="1"/>
          <p:nvPr/>
        </p:nvSpPr>
        <p:spPr>
          <a:xfrm>
            <a:off x="7635240" y="2423160"/>
            <a:ext cx="3749040" cy="594360"/>
          </a:xfrm>
          <a:prstGeom prst="rect">
            <a:avLst/>
          </a:prstGeom>
          <a:noFill/>
          <a:ln/>
        </p:spPr>
        <p:txBody>
          <a:bodyPr wrap="square" lIns="0" tIns="0" rIns="0" bIns="0" rtlCol="0" anchor="t"/>
          <a:lstStyle/>
          <a:p>
            <a:pPr indent="0" marL="0">
              <a:buNone/>
            </a:pPr>
            <a:r>
              <a:rPr lang="en-US" sz="1400" dirty="0">
                <a:solidFill>
                  <a:schemeClr val="tx1"/>
                </a:solidFill>
              </a:rPr>
              <a:t>of monthly run cost is runtime compute on either platform</a:t>
            </a:r>
            <a:endParaRPr lang="en-US" sz="1400" dirty="0"/>
          </a:p>
        </p:txBody>
      </p:sp>
      <p:sp>
        <p:nvSpPr>
          <p:cNvPr id="7" name="Token cost"/>
          <p:cNvSpPr txBox="1"/>
          <p:nvPr/>
        </p:nvSpPr>
        <p:spPr>
          <a:xfrm>
            <a:off x="7635240" y="3108960"/>
            <a:ext cx="3749040" cy="1097280"/>
          </a:xfrm>
          <a:prstGeom prst="rect">
            <a:avLst/>
          </a:prstGeom>
          <a:noFill/>
          <a:ln/>
        </p:spPr>
        <p:txBody>
          <a:bodyPr wrap="square" lIns="0" tIns="0" rIns="0" bIns="0" rtlCol="0" anchor="t"/>
          <a:lstStyle/>
          <a:p>
            <a:pPr indent="0" marL="0">
              <a:buNone/>
            </a:pPr>
            <a:r>
              <a:rPr lang="en-US" sz="1400" b="1" dirty="0">
                <a:solidFill>
                  <a:schemeClr val="tx1"/>
                </a:solidFill>
              </a:rPr>
              <a:t>LLM tokens, same on both:  </a:t>
            </a:r>
            <a:pPr indent="0" marL="0">
              <a:buNone/>
            </a:pPr>
            <a:r>
              <a:rPr lang="en-US" sz="1400" dirty="0">
                <a:solidFill>
                  <a:schemeClr val="tx1"/>
                </a:solidFill>
              </a:rPr>
              <a:t>$2,250 at 10K tasks, $22,500 at 100K tasks</a:t>
            </a:r>
            <a:endParaRPr lang="en-US" sz="1400" dirty="0"/>
          </a:p>
        </p:txBody>
      </p:sp>
      <p:sp>
        <p:nvSpPr>
          <p:cNvPr id="8" name="AgentCore pricing card"/>
          <p:cNvSpPr/>
          <p:nvPr/>
        </p:nvSpPr>
        <p:spPr>
          <a:xfrm>
            <a:off x="548640" y="4617720"/>
            <a:ext cx="5440680" cy="1280160"/>
          </a:xfrm>
          <a:prstGeom prst="roundRect">
            <a:avLst>
              <a:gd name="adj" fmla="val 8571"/>
            </a:avLst>
          </a:prstGeom>
          <a:solidFill>
            <a:schemeClr val="bg2"/>
          </a:solidFill>
          <a:ln/>
        </p:spPr>
      </p:sp>
      <p:sp>
        <p:nvSpPr>
          <p:cNvPr id="9" name="AgentCore pricing text"/>
          <p:cNvSpPr txBox="1"/>
          <p:nvPr/>
        </p:nvSpPr>
        <p:spPr>
          <a:xfrm>
            <a:off x="731520" y="4709160"/>
            <a:ext cx="5074920" cy="1143000"/>
          </a:xfrm>
          <a:prstGeom prst="rect">
            <a:avLst/>
          </a:prstGeom>
          <a:noFill/>
          <a:ln/>
        </p:spPr>
        <p:txBody>
          <a:bodyPr wrap="square" lIns="0" tIns="0" rIns="0" bIns="0" rtlCol="0" anchor="t"/>
          <a:lstStyle/>
          <a:p>
            <a:pPr indent="0" marL="0">
              <a:buNone/>
            </a:pPr>
            <a:r>
              <a:rPr lang="en-US" sz="1500" b="1" dirty="0">
                <a:solidFill>
                  <a:schemeClr val="accent2"/>
                </a:solidFill>
              </a:rPr>
              <a:t>AgentCore pricing model
</a:t>
            </a:r>
            <a:pPr indent="0" marL="0">
              <a:buNone/>
            </a:pPr>
            <a:r>
              <a:rPr lang="en-US" sz="1400" dirty="0">
                <a:solidFill>
                  <a:schemeClr val="tx1"/>
                </a:solidFill>
              </a:rPr>
              <a:t>Usage-based across about 12 meters; I/O wait is free. Runtime v2 and memory pricing changed in 2026; a NAT gateway adds a fixed monthly cost.</a:t>
            </a:r>
            <a:endParaRPr lang="en-US" sz="1400" dirty="0"/>
          </a:p>
        </p:txBody>
      </p:sp>
      <p:sp>
        <p:nvSpPr>
          <p:cNvPr id="10" name="Foundry pricing card"/>
          <p:cNvSpPr/>
          <p:nvPr/>
        </p:nvSpPr>
        <p:spPr>
          <a:xfrm>
            <a:off x="6172200" y="4617720"/>
            <a:ext cx="5440680" cy="1280160"/>
          </a:xfrm>
          <a:prstGeom prst="roundRect">
            <a:avLst>
              <a:gd name="adj" fmla="val 8571"/>
            </a:avLst>
          </a:prstGeom>
          <a:solidFill>
            <a:schemeClr val="bg2"/>
          </a:solidFill>
          <a:ln/>
        </p:spPr>
      </p:sp>
      <p:sp>
        <p:nvSpPr>
          <p:cNvPr id="11" name="Foundry pricing text"/>
          <p:cNvSpPr txBox="1"/>
          <p:nvPr/>
        </p:nvSpPr>
        <p:spPr>
          <a:xfrm>
            <a:off x="6355080" y="4709160"/>
            <a:ext cx="5074920" cy="1143000"/>
          </a:xfrm>
          <a:prstGeom prst="rect">
            <a:avLst/>
          </a:prstGeom>
          <a:noFill/>
          <a:ln/>
        </p:spPr>
        <p:txBody>
          <a:bodyPr wrap="square" lIns="0" tIns="0" rIns="0" bIns="0" rtlCol="0" anchor="t"/>
          <a:lstStyle/>
          <a:p>
            <a:pPr indent="0" marL="0">
              <a:buNone/>
            </a:pPr>
            <a:r>
              <a:rPr lang="en-US" sz="1500" b="1" dirty="0">
                <a:solidFill>
                  <a:schemeClr val="accent1"/>
                </a:solidFill>
              </a:rPr>
              <a:t>Foundry pricing model
</a:t>
            </a:r>
            <a:pPr indent="0" marL="0">
              <a:buNone/>
            </a:pPr>
            <a:r>
              <a:rPr lang="en-US" sz="1400" dirty="0">
                <a:solidFill>
                  <a:schemeClr val="tx1"/>
                </a:solidFill>
              </a:rPr>
              <a:t>No platform fee for prompt agents; pay tokens and tools. Hosted agents bill per active vCPU and GiB hour, with scale to zero. Rates vary by region.</a:t>
            </a:r>
            <a:endParaRPr lang="en-US" sz="1400" dirty="0"/>
          </a:p>
        </p:txBody>
      </p:sp>
      <p:sp>
        <p:nvSpPr>
          <p:cNvPr id="12" name="Cost footnote"/>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100" dirty="0">
                <a:solidFill>
                  <a:schemeClr val="accent4"/>
                </a:solidFill>
              </a:rPr>
              <a:t>Assumptions: 1 vCPU, 2 GB, 60 s active compute per task; US list prices; tokens 50K in and 5K out at $3 and $15 per million. Excludes memory, observability and network.</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Future-proofing: both platforms are still moving</a:t>
            </a:r>
            <a:endParaRPr lang="en-US" sz="3200" dirty="0"/>
          </a:p>
        </p:txBody>
      </p:sp>
      <p:sp>
        <p:nvSpPr>
          <p:cNvPr id="3" name="AWS AgentCore card"/>
          <p:cNvSpPr/>
          <p:nvPr/>
        </p:nvSpPr>
        <p:spPr>
          <a:xfrm>
            <a:off x="548640" y="1280160"/>
            <a:ext cx="5440680" cy="3611880"/>
          </a:xfrm>
          <a:prstGeom prst="roundRect">
            <a:avLst>
              <a:gd name="adj" fmla="val 3038"/>
            </a:avLst>
          </a:prstGeom>
          <a:solidFill>
            <a:schemeClr val="accent2">
              <a:alpha val="12000"/>
            </a:schemeClr>
          </a:solidFill>
          <a:ln/>
        </p:spPr>
      </p:sp>
      <p:sp>
        <p:nvSpPr>
          <p:cNvPr id="4" name="Pill AWS AgentCore"/>
          <p:cNvSpPr/>
          <p:nvPr/>
        </p:nvSpPr>
        <p:spPr>
          <a:xfrm>
            <a:off x="777240" y="1417320"/>
            <a:ext cx="2560320" cy="365760"/>
          </a:xfrm>
          <a:prstGeom prst="roundRect">
            <a:avLst>
              <a:gd name="adj" fmla="val 50000"/>
            </a:avLst>
          </a:prstGeom>
          <a:solidFill>
            <a:schemeClr val="accent2"/>
          </a:solidFill>
          <a:ln/>
        </p:spPr>
      </p:sp>
      <p:sp>
        <p:nvSpPr>
          <p:cNvPr id="5" name="Text 3"/>
          <p:cNvSpPr txBox="1"/>
          <p:nvPr/>
        </p:nvSpPr>
        <p:spPr>
          <a:xfrm>
            <a:off x="777240" y="1417320"/>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AWS AgentCore</a:t>
            </a:r>
            <a:endParaRPr lang="en-US" sz="1400" dirty="0"/>
          </a:p>
        </p:txBody>
      </p:sp>
      <p:sp>
        <p:nvSpPr>
          <p:cNvPr id="6" name="AWS AgentCore strengths head"/>
          <p:cNvSpPr txBox="1"/>
          <p:nvPr/>
        </p:nvSpPr>
        <p:spPr>
          <a:xfrm>
            <a:off x="777240" y="1920240"/>
            <a:ext cx="4937760" cy="274320"/>
          </a:xfrm>
          <a:prstGeom prst="rect">
            <a:avLst/>
          </a:prstGeom>
          <a:noFill/>
          <a:ln/>
        </p:spPr>
        <p:txBody>
          <a:bodyPr wrap="square" lIns="0" tIns="0" rIns="0" bIns="0" rtlCol="0" anchor="t"/>
          <a:lstStyle/>
          <a:p>
            <a:pPr indent="0" marL="0">
              <a:buNone/>
            </a:pPr>
            <a:r>
              <a:rPr lang="en-US" sz="1400" b="1" dirty="0">
                <a:solidFill>
                  <a:schemeClr val="accent3"/>
                </a:solidFill>
              </a:rPr>
              <a:t>Strengths</a:t>
            </a:r>
            <a:endParaRPr lang="en-US" sz="1400" dirty="0"/>
          </a:p>
        </p:txBody>
      </p:sp>
      <p:sp>
        <p:nvSpPr>
          <p:cNvPr id="7" name="AWS AgentCore strengths"/>
          <p:cNvSpPr txBox="1"/>
          <p:nvPr/>
        </p:nvSpPr>
        <p:spPr>
          <a:xfrm>
            <a:off x="777240" y="2212848"/>
            <a:ext cx="498348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GA since October 2025; modular services you adopt independently</a:t>
            </a:r>
            <a:endParaRPr lang="en-US" sz="1400" dirty="0"/>
          </a:p>
          <a:p>
            <a:pPr marL="342900" indent="-342900">
              <a:spcAft>
                <a:spcPts val="600"/>
              </a:spcAft>
              <a:buSzPct val="100000"/>
              <a:buChar char="•"/>
            </a:pPr>
            <a:r>
              <a:rPr lang="en-US" sz="1400" dirty="0">
                <a:solidFill>
                  <a:schemeClr val="tx1"/>
                </a:solidFill>
              </a:rPr>
              <a:t>Model, framework and identity-provider agnostic</a:t>
            </a:r>
            <a:endParaRPr lang="en-US" sz="1400" dirty="0"/>
          </a:p>
        </p:txBody>
      </p:sp>
      <p:sp>
        <p:nvSpPr>
          <p:cNvPr id="8" name="AWS AgentCore watch head"/>
          <p:cNvSpPr txBox="1"/>
          <p:nvPr/>
        </p:nvSpPr>
        <p:spPr>
          <a:xfrm>
            <a:off x="777240" y="3429000"/>
            <a:ext cx="4937760" cy="274320"/>
          </a:xfrm>
          <a:prstGeom prst="rect">
            <a:avLst/>
          </a:prstGeom>
          <a:noFill/>
          <a:ln/>
        </p:spPr>
        <p:txBody>
          <a:bodyPr wrap="square" lIns="0" tIns="0" rIns="0" bIns="0" rtlCol="0" anchor="t"/>
          <a:lstStyle/>
          <a:p>
            <a:pPr indent="0" marL="0">
              <a:buNone/>
            </a:pPr>
            <a:r>
              <a:rPr lang="en-US" sz="1400" b="1" dirty="0">
                <a:solidFill>
                  <a:schemeClr val="accent5"/>
                </a:solidFill>
              </a:rPr>
              <a:t>Watch-outs</a:t>
            </a:r>
            <a:endParaRPr lang="en-US" sz="1400" dirty="0"/>
          </a:p>
        </p:txBody>
      </p:sp>
      <p:sp>
        <p:nvSpPr>
          <p:cNvPr id="9" name="AWS AgentCore watch"/>
          <p:cNvSpPr txBox="1"/>
          <p:nvPr/>
        </p:nvSpPr>
        <p:spPr>
          <a:xfrm>
            <a:off x="777240" y="3721608"/>
            <a:ext cx="498348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Pricing meters still shifting (runtime v2, memory per GB from Oct 6, 2026)</a:t>
            </a:r>
            <a:endParaRPr lang="en-US" sz="1400" dirty="0"/>
          </a:p>
          <a:p>
            <a:pPr marL="342900" indent="-342900">
              <a:spcAft>
                <a:spcPts val="600"/>
              </a:spcAft>
              <a:buSzPct val="100000"/>
              <a:buChar char="•"/>
            </a:pPr>
            <a:r>
              <a:rPr lang="en-US" sz="1400" dirty="0">
                <a:solidFill>
                  <a:schemeClr val="tx1"/>
                </a:solidFill>
              </a:rPr>
              <a:t>Registry still preview; a second cloud to operate for an Azure-centric estate</a:t>
            </a:r>
            <a:endParaRPr lang="en-US" sz="1400" dirty="0"/>
          </a:p>
        </p:txBody>
      </p:sp>
      <p:sp>
        <p:nvSpPr>
          <p:cNvPr id="10" name="Microsoft Foundry card"/>
          <p:cNvSpPr/>
          <p:nvPr/>
        </p:nvSpPr>
        <p:spPr>
          <a:xfrm>
            <a:off x="6172200" y="1280160"/>
            <a:ext cx="5440680" cy="3611880"/>
          </a:xfrm>
          <a:prstGeom prst="roundRect">
            <a:avLst>
              <a:gd name="adj" fmla="val 3038"/>
            </a:avLst>
          </a:prstGeom>
          <a:solidFill>
            <a:schemeClr val="accent1">
              <a:alpha val="12000"/>
            </a:schemeClr>
          </a:solidFill>
          <a:ln/>
        </p:spPr>
      </p:sp>
      <p:sp>
        <p:nvSpPr>
          <p:cNvPr id="11" name="Pill Microsoft Foundry"/>
          <p:cNvSpPr/>
          <p:nvPr/>
        </p:nvSpPr>
        <p:spPr>
          <a:xfrm>
            <a:off x="6400800" y="1417320"/>
            <a:ext cx="2560320" cy="365760"/>
          </a:xfrm>
          <a:prstGeom prst="roundRect">
            <a:avLst>
              <a:gd name="adj" fmla="val 50000"/>
            </a:avLst>
          </a:prstGeom>
          <a:solidFill>
            <a:schemeClr val="accent1"/>
          </a:solidFill>
          <a:ln/>
        </p:spPr>
      </p:sp>
      <p:sp>
        <p:nvSpPr>
          <p:cNvPr id="12" name="Text 10"/>
          <p:cNvSpPr txBox="1"/>
          <p:nvPr/>
        </p:nvSpPr>
        <p:spPr>
          <a:xfrm>
            <a:off x="6400800" y="1417320"/>
            <a:ext cx="2560320" cy="365760"/>
          </a:xfrm>
          <a:prstGeom prst="rect">
            <a:avLst/>
          </a:prstGeom>
          <a:noFill/>
          <a:ln/>
        </p:spPr>
        <p:txBody>
          <a:bodyPr wrap="square" lIns="0" tIns="0" rIns="0" bIns="0" rtlCol="0" anchor="ctr"/>
          <a:lstStyle/>
          <a:p>
            <a:pPr algn="ctr" indent="0" marL="0">
              <a:buNone/>
            </a:pPr>
            <a:r>
              <a:rPr lang="en-US" sz="1400" b="1" dirty="0">
                <a:solidFill>
                  <a:schemeClr val="bg1"/>
                </a:solidFill>
              </a:rPr>
              <a:t>Microsoft Foundry</a:t>
            </a:r>
            <a:endParaRPr lang="en-US" sz="1400" dirty="0"/>
          </a:p>
        </p:txBody>
      </p:sp>
      <p:sp>
        <p:nvSpPr>
          <p:cNvPr id="13" name="Microsoft Foundry strengths head"/>
          <p:cNvSpPr txBox="1"/>
          <p:nvPr/>
        </p:nvSpPr>
        <p:spPr>
          <a:xfrm>
            <a:off x="6400800" y="1920240"/>
            <a:ext cx="4937760" cy="274320"/>
          </a:xfrm>
          <a:prstGeom prst="rect">
            <a:avLst/>
          </a:prstGeom>
          <a:noFill/>
          <a:ln/>
        </p:spPr>
        <p:txBody>
          <a:bodyPr wrap="square" lIns="0" tIns="0" rIns="0" bIns="0" rtlCol="0" anchor="t"/>
          <a:lstStyle/>
          <a:p>
            <a:pPr indent="0" marL="0">
              <a:buNone/>
            </a:pPr>
            <a:r>
              <a:rPr lang="en-US" sz="1400" b="1" dirty="0">
                <a:solidFill>
                  <a:schemeClr val="accent3"/>
                </a:solidFill>
              </a:rPr>
              <a:t>Strengths</a:t>
            </a:r>
            <a:endParaRPr lang="en-US" sz="1400" dirty="0"/>
          </a:p>
        </p:txBody>
      </p:sp>
      <p:sp>
        <p:nvSpPr>
          <p:cNvPr id="14" name="Microsoft Foundry strengths"/>
          <p:cNvSpPr txBox="1"/>
          <p:nvPr/>
        </p:nvSpPr>
        <p:spPr>
          <a:xfrm>
            <a:off x="6400800" y="2212848"/>
            <a:ext cx="498348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Tightest tie to Entra, Fabric, Teams and Microsoft 365 distribution</a:t>
            </a:r>
            <a:endParaRPr lang="en-US" sz="1400" dirty="0"/>
          </a:p>
          <a:p>
            <a:pPr marL="342900" indent="-342900">
              <a:spcAft>
                <a:spcPts val="600"/>
              </a:spcAft>
              <a:buSzPct val="100000"/>
              <a:buChar char="•"/>
            </a:pPr>
            <a:r>
              <a:rPr lang="en-US" sz="1400" dirty="0">
                <a:solidFill>
                  <a:schemeClr val="tx1"/>
                </a:solidFill>
              </a:rPr>
              <a:t>Hosted agents GA since mid-2026; fast release cadence; Claude and OpenAI models</a:t>
            </a:r>
            <a:endParaRPr lang="en-US" sz="1400" dirty="0"/>
          </a:p>
        </p:txBody>
      </p:sp>
      <p:sp>
        <p:nvSpPr>
          <p:cNvPr id="15" name="Microsoft Foundry watch head"/>
          <p:cNvSpPr txBox="1"/>
          <p:nvPr/>
        </p:nvSpPr>
        <p:spPr>
          <a:xfrm>
            <a:off x="6400800" y="3429000"/>
            <a:ext cx="4937760" cy="274320"/>
          </a:xfrm>
          <a:prstGeom prst="rect">
            <a:avLst/>
          </a:prstGeom>
          <a:noFill/>
          <a:ln/>
        </p:spPr>
        <p:txBody>
          <a:bodyPr wrap="square" lIns="0" tIns="0" rIns="0" bIns="0" rtlCol="0" anchor="t"/>
          <a:lstStyle/>
          <a:p>
            <a:pPr indent="0" marL="0">
              <a:buNone/>
            </a:pPr>
            <a:r>
              <a:rPr lang="en-US" sz="1400" b="1" dirty="0">
                <a:solidFill>
                  <a:schemeClr val="accent5"/>
                </a:solidFill>
              </a:rPr>
              <a:t>Watch-outs</a:t>
            </a:r>
            <a:endParaRPr lang="en-US" sz="1400" dirty="0"/>
          </a:p>
        </p:txBody>
      </p:sp>
      <p:sp>
        <p:nvSpPr>
          <p:cNvPr id="16" name="Microsoft Foundry watch"/>
          <p:cNvSpPr txBox="1"/>
          <p:nvPr/>
        </p:nvSpPr>
        <p:spPr>
          <a:xfrm>
            <a:off x="6400800" y="3721608"/>
            <a:ext cx="498348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Churn: renames, and workflow agents retire Dec 1, 2026 per Microsoft docs</a:t>
            </a:r>
            <a:endParaRPr lang="en-US" sz="1400" dirty="0"/>
          </a:p>
          <a:p>
            <a:pPr marL="342900" indent="-342900">
              <a:spcAft>
                <a:spcPts val="600"/>
              </a:spcAft>
              <a:buSzPct val="100000"/>
              <a:buChar char="•"/>
            </a:pPr>
            <a:r>
              <a:rPr lang="en-US" sz="1400" dirty="0">
                <a:solidFill>
                  <a:schemeClr val="tx1"/>
                </a:solidFill>
              </a:rPr>
              <a:t>Hosted agents under 4 months GA; agent guardrails and VNet tracing still preview</a:t>
            </a:r>
            <a:endParaRPr lang="en-US" sz="1400" dirty="0"/>
          </a:p>
        </p:txBody>
      </p:sp>
      <p:sp>
        <p:nvSpPr>
          <p:cNvPr id="17" name="Portability card"/>
          <p:cNvSpPr/>
          <p:nvPr/>
        </p:nvSpPr>
        <p:spPr>
          <a:xfrm>
            <a:off x="548640" y="5074920"/>
            <a:ext cx="11064240" cy="1143000"/>
          </a:xfrm>
          <a:prstGeom prst="roundRect">
            <a:avLst>
              <a:gd name="adj" fmla="val 9600"/>
            </a:avLst>
          </a:prstGeom>
          <a:solidFill>
            <a:schemeClr val="bg2"/>
          </a:solidFill>
          <a:ln/>
        </p:spPr>
      </p:sp>
      <p:sp>
        <p:nvSpPr>
          <p:cNvPr id="18" name="Portability circle"/>
          <p:cNvSpPr/>
          <p:nvPr/>
        </p:nvSpPr>
        <p:spPr>
          <a:xfrm>
            <a:off x="777240" y="5321808"/>
            <a:ext cx="640080" cy="640080"/>
          </a:xfrm>
          <a:prstGeom prst="ellipse">
            <a:avLst/>
          </a:prstGeom>
          <a:solidFill>
            <a:schemeClr val="accent3"/>
          </a:solidFill>
          <a:ln/>
        </p:spPr>
      </p:sp>
      <p:pic>
        <p:nvPicPr>
          <p:cNvPr id="19" name="Portability icon" descr="Portability">    </p:cNvPr>
          <p:cNvPicPr>
            <a:picLocks noChangeAspect="1"/>
          </p:cNvPicPr>
          <p:nvPr/>
        </p:nvPicPr>
        <p:blipFill>
          <a:blip r:embed="rId1"/>
          <a:stretch>
            <a:fillRect/>
          </a:stretch>
        </p:blipFill>
        <p:spPr>
          <a:xfrm>
            <a:off x="918058" y="5462626"/>
            <a:ext cx="358445" cy="358445"/>
          </a:xfrm>
          <a:prstGeom prst="rect">
            <a:avLst/>
          </a:prstGeom>
        </p:spPr>
      </p:pic>
      <p:sp>
        <p:nvSpPr>
          <p:cNvPr id="20" name="Portability text"/>
          <p:cNvSpPr txBox="1"/>
          <p:nvPr/>
        </p:nvSpPr>
        <p:spPr>
          <a:xfrm>
            <a:off x="1645920" y="5166360"/>
            <a:ext cx="9784080" cy="960120"/>
          </a:xfrm>
          <a:prstGeom prst="rect">
            <a:avLst/>
          </a:prstGeom>
          <a:noFill/>
          <a:ln/>
        </p:spPr>
        <p:txBody>
          <a:bodyPr wrap="square" lIns="0" tIns="0" rIns="0" bIns="0" rtlCol="0" anchor="ctr"/>
          <a:lstStyle/>
          <a:p>
            <a:pPr indent="0" marL="0">
              <a:buNone/>
            </a:pPr>
            <a:r>
              <a:rPr lang="en-US" sz="1500" b="1" dirty="0">
                <a:solidFill>
                  <a:schemeClr val="tx1"/>
                </a:solidFill>
              </a:rPr>
              <a:t>Portability levers:  </a:t>
            </a:r>
            <a:pPr indent="0" marL="0">
              <a:buNone/>
            </a:pPr>
            <a:r>
              <a:rPr lang="en-US" sz="1500" dirty="0">
                <a:solidFill>
                  <a:schemeClr val="tx1"/>
                </a:solidFill>
              </a:rPr>
              <a:t>open frameworks (LangGraph, OpenAI Agents SDK), MCP tools, OpenTelemetry traces and Kong in front of models make a runtime switch a redeploy, not a rebuild.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Scorecard: environment fit decides, not raw merit</a:t>
            </a:r>
            <a:endParaRPr lang="en-US" sz="3200" dirty="0"/>
          </a:p>
        </p:txBody>
      </p:sp>
      <p:graphicFrame>
        <p:nvGraphicFramePr>
          <p:cNvPr id="13" name="Scorecard table"/>
          <p:cNvGraphicFramePr>
            <a:graphicFrameLocks noGrp="1"/>
          </p:cNvGraphicFramePr>
          <p:nvPr>
            <p:extLst>
              <p:ext uri="{D42A27DB-BD31-4B8C-83A1-F6EECF244321}">
                <p14:modId xmlns:p14="http://schemas.microsoft.com/office/powerpoint/2010/main" val="1579011935"/>
              </p:ext>
            </p:extLst>
          </p:nvPr>
        </p:nvGraphicFramePr>
        <p:xfrm>
          <a:off x="548640" y="1280160"/>
          <a:ext cx="6309360" cy="914400"/>
        </p:xfrm>
        <a:graphic>
          <a:graphicData uri="http://schemas.openxmlformats.org/drawingml/2006/table">
            <a:tbl>
              <a:tblPr/>
              <a:tblGrid>
                <a:gridCol w="3566160"/>
                <a:gridCol w="822960"/>
                <a:gridCol w="960120"/>
                <a:gridCol w="960120"/>
              </a:tblGrid>
              <a:tr h="411480">
                <a:tc>
                  <a:txBody>
                    <a:bodyPr/>
                    <a:lstStyle/>
                    <a:p>
                      <a:pPr algn="l" indent="0" marL="0">
                        <a:buNone/>
                      </a:pPr>
                      <a:r>
                        <a:rPr lang="en-US" sz="1200" b="1" dirty="0">
                          <a:solidFill>
                            <a:schemeClr val="bg1"/>
                          </a:solidFill>
                        </a:rPr>
                        <a:t>Criterion</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Weight</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AgentCore</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rPr>
                        <a:t>Foundry</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1"/>
                    </a:solidFill>
                  </a:tcPr>
                </a:tc>
              </a:tr>
              <a:tr h="411480">
                <a:tc>
                  <a:txBody>
                    <a:bodyPr/>
                    <a:lstStyle/>
                    <a:p>
                      <a:pPr indent="0" marL="0">
                        <a:buNone/>
                      </a:pPr>
                      <a:r>
                        <a:rPr lang="en-US" sz="1300" dirty="0">
                          <a:solidFill>
                            <a:schemeClr val="tx1"/>
                          </a:solidFill>
                        </a:rPr>
                        <a:t>Identity and access (Entra ID)</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5.0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Security, guardrails and policy</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Data gravity and Databricks access</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5.0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Observability (Dynatrace)</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Gateway fit (Kong)</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Runtime capability and dev flexibility</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Maturity and future-proofing</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10%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Cost and TCO</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8%</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Operational overhead</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4"/>
                          </a:solidFill>
                        </a:rPr>
                        <a:t>7%</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4.0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Weighted total (out of 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100%</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3.75</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3"/>
                          </a:solidFill>
                        </a:rPr>
                        <a:t>4.13</a:t>
                      </a:r>
                      <a:endParaRPr lang="en-US" sz="13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r>
            </a:tbl>
          </a:graphicData>
        </a:graphic>
      </p:graphicFrame>
      <p:graphicFrame>
        <p:nvGraphicFramePr>
          <p:cNvPr id="4" name="Chart 0" descr=""/>
          <p:cNvGraphicFramePr/>
          <p:nvPr/>
        </p:nvGraphicFramePr>
        <p:xfrm>
          <a:off x="7132320" y="123444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5" name="Sensitivity takeaway"/>
          <p:cNvSpPr/>
          <p:nvPr/>
        </p:nvSpPr>
        <p:spPr>
          <a:xfrm>
            <a:off x="7132320" y="4663440"/>
            <a:ext cx="4480560" cy="1554480"/>
          </a:xfrm>
          <a:prstGeom prst="roundRect">
            <a:avLst>
              <a:gd name="adj" fmla="val 7059"/>
            </a:avLst>
          </a:prstGeom>
          <a:solidFill>
            <a:schemeClr val="bg2"/>
          </a:solidFill>
          <a:ln/>
        </p:spPr>
      </p:sp>
      <p:sp>
        <p:nvSpPr>
          <p:cNvPr id="6" name="Sensitivity text"/>
          <p:cNvSpPr txBox="1"/>
          <p:nvPr/>
        </p:nvSpPr>
        <p:spPr>
          <a:xfrm>
            <a:off x="7315200" y="4754880"/>
            <a:ext cx="4114800" cy="1371600"/>
          </a:xfrm>
          <a:prstGeom prst="rect">
            <a:avLst/>
          </a:prstGeom>
          <a:noFill/>
          <a:ln/>
        </p:spPr>
        <p:txBody>
          <a:bodyPr wrap="square" lIns="0" tIns="0" rIns="0" bIns="0" rtlCol="0" anchor="t"/>
          <a:lstStyle/>
          <a:p>
            <a:pPr indent="0" marL="0">
              <a:buNone/>
            </a:pPr>
            <a:r>
              <a:rPr lang="en-US" sz="1500" b="1" dirty="0">
                <a:solidFill>
                  <a:schemeClr val="tx1"/>
                </a:solidFill>
              </a:rPr>
              <a:t>Read this carefully
</a:t>
            </a:r>
            <a:pPr indent="0" marL="0">
              <a:buNone/>
            </a:pPr>
            <a:r>
              <a:rPr lang="en-US" sz="1300" dirty="0">
                <a:solidFill>
                  <a:schemeClr val="tx1"/>
                </a:solidFill>
              </a:rPr>
              <a:t>Drop the two environment-fit criteria (identity and data) and AgentCore leads, 3.96 to 3.75. Our Azure stack tips the result.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bg1"/>
                </a:solidFill>
              </a:rPr>
              <a:t>Recommended standard and when it flips</a:t>
            </a:r>
            <a:endParaRPr lang="en-US" sz="3200" dirty="0"/>
          </a:p>
        </p:txBody>
      </p:sp>
      <p:sp>
        <p:nvSpPr>
          <p:cNvPr id="3" name="Layer Agents"/>
          <p:cNvSpPr/>
          <p:nvPr/>
        </p:nvSpPr>
        <p:spPr>
          <a:xfrm>
            <a:off x="548640" y="1325880"/>
            <a:ext cx="6126480" cy="1005840"/>
          </a:xfrm>
          <a:prstGeom prst="roundRect">
            <a:avLst>
              <a:gd name="adj" fmla="val 10909"/>
            </a:avLst>
          </a:prstGeom>
          <a:solidFill>
            <a:schemeClr val="accent4"/>
          </a:solidFill>
          <a:ln/>
        </p:spPr>
      </p:sp>
      <p:sp>
        <p:nvSpPr>
          <p:cNvPr id="4" name="Layer label Agents"/>
          <p:cNvSpPr txBox="1"/>
          <p:nvPr/>
        </p:nvSpPr>
        <p:spPr>
          <a:xfrm>
            <a:off x="777240" y="1417320"/>
            <a:ext cx="5669280" cy="320040"/>
          </a:xfrm>
          <a:prstGeom prst="rect">
            <a:avLst/>
          </a:prstGeom>
          <a:noFill/>
          <a:ln/>
        </p:spPr>
        <p:txBody>
          <a:bodyPr wrap="square" lIns="0" tIns="0" rIns="0" bIns="0" rtlCol="0" anchor="t"/>
          <a:lstStyle/>
          <a:p>
            <a:pPr indent="0" marL="0">
              <a:buNone/>
            </a:pPr>
            <a:r>
              <a:rPr lang="en-US" sz="1200" b="1" spc="200" kern="0" dirty="0">
                <a:solidFill>
                  <a:schemeClr val="bg2"/>
                </a:solidFill>
              </a:rPr>
              <a:t>Agents</a:t>
            </a:r>
            <a:endParaRPr lang="en-US" sz="1200" dirty="0"/>
          </a:p>
        </p:txBody>
      </p:sp>
      <p:sp>
        <p:nvSpPr>
          <p:cNvPr id="5" name="Layer text Agents"/>
          <p:cNvSpPr txBox="1"/>
          <p:nvPr/>
        </p:nvSpPr>
        <p:spPr>
          <a:xfrm>
            <a:off x="777240" y="1737360"/>
            <a:ext cx="5669280" cy="548640"/>
          </a:xfrm>
          <a:prstGeom prst="rect">
            <a:avLst/>
          </a:prstGeom>
          <a:noFill/>
          <a:ln/>
        </p:spPr>
        <p:txBody>
          <a:bodyPr wrap="square" lIns="0" tIns="0" rIns="0" bIns="0" rtlCol="0" anchor="t"/>
          <a:lstStyle/>
          <a:p>
            <a:pPr indent="0" marL="0">
              <a:buNone/>
            </a:pPr>
            <a:r>
              <a:rPr lang="en-US" sz="1500" b="1" dirty="0">
                <a:solidFill>
                  <a:schemeClr val="bg1"/>
                </a:solidFill>
              </a:rPr>
              <a:t>LangGraph, Microsoft Agent Framework, OpenAI Agents SDK; framework-neutral</a:t>
            </a:r>
            <a:endParaRPr lang="en-US" sz="1500" dirty="0"/>
          </a:p>
        </p:txBody>
      </p:sp>
      <p:sp>
        <p:nvSpPr>
          <p:cNvPr id="6" name="Layer Runtime"/>
          <p:cNvSpPr/>
          <p:nvPr/>
        </p:nvSpPr>
        <p:spPr>
          <a:xfrm>
            <a:off x="548640" y="2514600"/>
            <a:ext cx="6126480" cy="1005840"/>
          </a:xfrm>
          <a:prstGeom prst="roundRect">
            <a:avLst>
              <a:gd name="adj" fmla="val 10909"/>
            </a:avLst>
          </a:prstGeom>
          <a:solidFill>
            <a:schemeClr val="accent1"/>
          </a:solidFill>
          <a:ln/>
        </p:spPr>
      </p:sp>
      <p:sp>
        <p:nvSpPr>
          <p:cNvPr id="7" name="Layer label Runtime"/>
          <p:cNvSpPr txBox="1"/>
          <p:nvPr/>
        </p:nvSpPr>
        <p:spPr>
          <a:xfrm>
            <a:off x="777240" y="2606040"/>
            <a:ext cx="5669280" cy="320040"/>
          </a:xfrm>
          <a:prstGeom prst="rect">
            <a:avLst/>
          </a:prstGeom>
          <a:noFill/>
          <a:ln/>
        </p:spPr>
        <p:txBody>
          <a:bodyPr wrap="square" lIns="0" tIns="0" rIns="0" bIns="0" rtlCol="0" anchor="t"/>
          <a:lstStyle/>
          <a:p>
            <a:pPr indent="0" marL="0">
              <a:buNone/>
            </a:pPr>
            <a:r>
              <a:rPr lang="en-US" sz="1200" b="1" spc="200" kern="0" dirty="0">
                <a:solidFill>
                  <a:schemeClr val="bg2"/>
                </a:solidFill>
              </a:rPr>
              <a:t>Runtime</a:t>
            </a:r>
            <a:endParaRPr lang="en-US" sz="1200" dirty="0"/>
          </a:p>
        </p:txBody>
      </p:sp>
      <p:sp>
        <p:nvSpPr>
          <p:cNvPr id="8" name="Layer text Runtime"/>
          <p:cNvSpPr txBox="1"/>
          <p:nvPr/>
        </p:nvSpPr>
        <p:spPr>
          <a:xfrm>
            <a:off x="777240" y="2926080"/>
            <a:ext cx="5669280" cy="548640"/>
          </a:xfrm>
          <a:prstGeom prst="rect">
            <a:avLst/>
          </a:prstGeom>
          <a:noFill/>
          <a:ln/>
        </p:spPr>
        <p:txBody>
          <a:bodyPr wrap="square" lIns="0" tIns="0" rIns="0" bIns="0" rtlCol="0" anchor="t"/>
          <a:lstStyle/>
          <a:p>
            <a:pPr indent="0" marL="0">
              <a:buNone/>
            </a:pPr>
            <a:r>
              <a:rPr lang="en-US" sz="1500" b="1" dirty="0">
                <a:solidFill>
                  <a:schemeClr val="bg1"/>
                </a:solidFill>
              </a:rPr>
              <a:t>Foundry hosted agents (default)   |   AgentCore (approved exception)</a:t>
            </a:r>
            <a:endParaRPr lang="en-US" sz="1500" dirty="0"/>
          </a:p>
        </p:txBody>
      </p:sp>
      <p:sp>
        <p:nvSpPr>
          <p:cNvPr id="9" name="Layer Shared contract"/>
          <p:cNvSpPr/>
          <p:nvPr/>
        </p:nvSpPr>
        <p:spPr>
          <a:xfrm>
            <a:off x="548640" y="3703320"/>
            <a:ext cx="6126480" cy="1005840"/>
          </a:xfrm>
          <a:prstGeom prst="roundRect">
            <a:avLst>
              <a:gd name="adj" fmla="val 10909"/>
            </a:avLst>
          </a:prstGeom>
          <a:solidFill>
            <a:schemeClr val="accent3"/>
          </a:solidFill>
          <a:ln/>
        </p:spPr>
      </p:sp>
      <p:sp>
        <p:nvSpPr>
          <p:cNvPr id="10" name="Layer label Shared contract"/>
          <p:cNvSpPr txBox="1"/>
          <p:nvPr/>
        </p:nvSpPr>
        <p:spPr>
          <a:xfrm>
            <a:off x="777240" y="3794760"/>
            <a:ext cx="5669280" cy="320040"/>
          </a:xfrm>
          <a:prstGeom prst="rect">
            <a:avLst/>
          </a:prstGeom>
          <a:noFill/>
          <a:ln/>
        </p:spPr>
        <p:txBody>
          <a:bodyPr wrap="square" lIns="0" tIns="0" rIns="0" bIns="0" rtlCol="0" anchor="t"/>
          <a:lstStyle/>
          <a:p>
            <a:pPr indent="0" marL="0">
              <a:buNone/>
            </a:pPr>
            <a:r>
              <a:rPr lang="en-US" sz="1200" b="1" spc="200" kern="0" dirty="0">
                <a:solidFill>
                  <a:schemeClr val="bg2"/>
                </a:solidFill>
              </a:rPr>
              <a:t>Shared contract</a:t>
            </a:r>
            <a:endParaRPr lang="en-US" sz="1200" dirty="0"/>
          </a:p>
        </p:txBody>
      </p:sp>
      <p:sp>
        <p:nvSpPr>
          <p:cNvPr id="11" name="Layer text Shared contract"/>
          <p:cNvSpPr txBox="1"/>
          <p:nvPr/>
        </p:nvSpPr>
        <p:spPr>
          <a:xfrm>
            <a:off x="777240" y="4114800"/>
            <a:ext cx="5669280" cy="548640"/>
          </a:xfrm>
          <a:prstGeom prst="rect">
            <a:avLst/>
          </a:prstGeom>
          <a:noFill/>
          <a:ln/>
        </p:spPr>
        <p:txBody>
          <a:bodyPr wrap="square" lIns="0" tIns="0" rIns="0" bIns="0" rtlCol="0" anchor="t"/>
          <a:lstStyle/>
          <a:p>
            <a:pPr indent="0" marL="0">
              <a:buNone/>
            </a:pPr>
            <a:r>
              <a:rPr lang="en-US" sz="1500" b="1" dirty="0">
                <a:solidFill>
                  <a:schemeClr val="bg1"/>
                </a:solidFill>
              </a:rPr>
              <a:t>Entra ID   |   Kong AI Gateway   |   MCP tools   |   OpenTelemetry to Dynatrace</a:t>
            </a:r>
            <a:endParaRPr lang="en-US" sz="1500" dirty="0"/>
          </a:p>
        </p:txBody>
      </p:sp>
      <p:sp>
        <p:nvSpPr>
          <p:cNvPr id="12" name="Layer Data"/>
          <p:cNvSpPr/>
          <p:nvPr/>
        </p:nvSpPr>
        <p:spPr>
          <a:xfrm>
            <a:off x="548640" y="4892040"/>
            <a:ext cx="6126480" cy="1005840"/>
          </a:xfrm>
          <a:prstGeom prst="roundRect">
            <a:avLst>
              <a:gd name="adj" fmla="val 10909"/>
            </a:avLst>
          </a:prstGeom>
          <a:solidFill>
            <a:schemeClr val="accent4"/>
          </a:solidFill>
          <a:ln/>
        </p:spPr>
      </p:sp>
      <p:sp>
        <p:nvSpPr>
          <p:cNvPr id="13" name="Layer label Data"/>
          <p:cNvSpPr txBox="1"/>
          <p:nvPr/>
        </p:nvSpPr>
        <p:spPr>
          <a:xfrm>
            <a:off x="777240" y="4983480"/>
            <a:ext cx="5669280" cy="320040"/>
          </a:xfrm>
          <a:prstGeom prst="rect">
            <a:avLst/>
          </a:prstGeom>
          <a:noFill/>
          <a:ln/>
        </p:spPr>
        <p:txBody>
          <a:bodyPr wrap="square" lIns="0" tIns="0" rIns="0" bIns="0" rtlCol="0" anchor="t"/>
          <a:lstStyle/>
          <a:p>
            <a:pPr indent="0" marL="0">
              <a:buNone/>
            </a:pPr>
            <a:r>
              <a:rPr lang="en-US" sz="1200" b="1" spc="200" kern="0" dirty="0">
                <a:solidFill>
                  <a:schemeClr val="bg2"/>
                </a:solidFill>
              </a:rPr>
              <a:t>Data</a:t>
            </a:r>
            <a:endParaRPr lang="en-US" sz="1200" dirty="0"/>
          </a:p>
        </p:txBody>
      </p:sp>
      <p:sp>
        <p:nvSpPr>
          <p:cNvPr id="14" name="Layer text Data"/>
          <p:cNvSpPr txBox="1"/>
          <p:nvPr/>
        </p:nvSpPr>
        <p:spPr>
          <a:xfrm>
            <a:off x="777240" y="5303520"/>
            <a:ext cx="5669280" cy="548640"/>
          </a:xfrm>
          <a:prstGeom prst="rect">
            <a:avLst/>
          </a:prstGeom>
          <a:noFill/>
          <a:ln/>
        </p:spPr>
        <p:txBody>
          <a:bodyPr wrap="square" lIns="0" tIns="0" rIns="0" bIns="0" rtlCol="0" anchor="t"/>
          <a:lstStyle/>
          <a:p>
            <a:pPr indent="0" marL="0">
              <a:buNone/>
            </a:pPr>
            <a:r>
              <a:rPr lang="en-US" sz="1500" b="1" dirty="0">
                <a:solidFill>
                  <a:schemeClr val="bg1"/>
                </a:solidFill>
              </a:rPr>
              <a:t>Azure data   |   Databricks</a:t>
            </a:r>
            <a:endParaRPr lang="en-US" sz="1500" dirty="0"/>
          </a:p>
        </p:txBody>
      </p:sp>
      <p:sp>
        <p:nvSpPr>
          <p:cNvPr id="15" name="Flip card"/>
          <p:cNvSpPr/>
          <p:nvPr/>
        </p:nvSpPr>
        <p:spPr>
          <a:xfrm>
            <a:off x="6949440" y="1325880"/>
            <a:ext cx="4663440" cy="4663440"/>
          </a:xfrm>
          <a:prstGeom prst="roundRect">
            <a:avLst>
              <a:gd name="adj" fmla="val 2353"/>
            </a:avLst>
          </a:prstGeom>
          <a:solidFill>
            <a:schemeClr val="tx2"/>
          </a:solidFill>
          <a:ln/>
        </p:spPr>
      </p:sp>
      <p:sp>
        <p:nvSpPr>
          <p:cNvPr id="16" name="Flip circle"/>
          <p:cNvSpPr/>
          <p:nvPr/>
        </p:nvSpPr>
        <p:spPr>
          <a:xfrm>
            <a:off x="7178040" y="1508760"/>
            <a:ext cx="548640" cy="548640"/>
          </a:xfrm>
          <a:prstGeom prst="ellipse">
            <a:avLst/>
          </a:prstGeom>
          <a:solidFill>
            <a:schemeClr val="accent6"/>
          </a:solidFill>
          <a:ln/>
        </p:spPr>
      </p:sp>
      <p:pic>
        <p:nvPicPr>
          <p:cNvPr id="17" name="Flip icon" descr="Flip">    </p:cNvPr>
          <p:cNvPicPr>
            <a:picLocks noChangeAspect="1"/>
          </p:cNvPicPr>
          <p:nvPr/>
        </p:nvPicPr>
        <p:blipFill>
          <a:blip r:embed="rId1"/>
          <a:stretch>
            <a:fillRect/>
          </a:stretch>
        </p:blipFill>
        <p:spPr>
          <a:xfrm>
            <a:off x="7298741" y="1629461"/>
            <a:ext cx="307238" cy="307238"/>
          </a:xfrm>
          <a:prstGeom prst="rect">
            <a:avLst/>
          </a:prstGeom>
        </p:spPr>
      </p:pic>
      <p:sp>
        <p:nvSpPr>
          <p:cNvPr id="18" name="Flip head"/>
          <p:cNvSpPr txBox="1"/>
          <p:nvPr/>
        </p:nvSpPr>
        <p:spPr>
          <a:xfrm>
            <a:off x="7909560" y="1508760"/>
            <a:ext cx="347472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What would flip it</a:t>
            </a:r>
            <a:endParaRPr lang="en-US" sz="2000" dirty="0"/>
          </a:p>
        </p:txBody>
      </p:sp>
      <p:sp>
        <p:nvSpPr>
          <p:cNvPr id="19" name="Flip bullets"/>
          <p:cNvSpPr txBox="1"/>
          <p:nvPr/>
        </p:nvSpPr>
        <p:spPr>
          <a:xfrm>
            <a:off x="7178040" y="2286000"/>
            <a:ext cx="420624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A workload's data and tools are mostly AWS-resident</a:t>
            </a:r>
            <a:endParaRPr lang="en-US" sz="1400" dirty="0"/>
          </a:p>
          <a:p>
            <a:pPr marL="342900" indent="-342900">
              <a:spcAft>
                <a:spcPts val="600"/>
              </a:spcAft>
              <a:buSzPct val="100000"/>
              <a:buChar char="•"/>
            </a:pPr>
            <a:r>
              <a:rPr lang="en-US" sz="1600" dirty="0">
                <a:solidFill>
                  <a:schemeClr val="bg1"/>
                </a:solidFill>
              </a:rPr>
              <a:t>PoC shows Foundry cannot enforce Kong routing for required agent types</a:t>
            </a:r>
            <a:endParaRPr lang="en-US" sz="1400" dirty="0"/>
          </a:p>
          <a:p>
            <a:pPr marL="342900" indent="-342900">
              <a:spcAft>
                <a:spcPts val="600"/>
              </a:spcAft>
              <a:buSzPct val="100000"/>
              <a:buChar char="•"/>
            </a:pPr>
            <a:r>
              <a:rPr lang="en-US" sz="1600" dirty="0">
                <a:solidFill>
                  <a:schemeClr val="bg1"/>
                </a:solidFill>
              </a:rPr>
              <a:t>Cedar-style tool authorization is a hard control and Foundry tool-call guardrails stay preview</a:t>
            </a:r>
            <a:endParaRPr lang="en-US" sz="1400" dirty="0"/>
          </a:p>
          <a:p>
            <a:pPr marL="342900" indent="-342900">
              <a:spcAft>
                <a:spcPts val="600"/>
              </a:spcAft>
              <a:buSzPct val="100000"/>
              <a:buChar char="•"/>
            </a:pPr>
            <a:r>
              <a:rPr lang="en-US" sz="1600" dirty="0">
                <a:solidFill>
                  <a:schemeClr val="bg1"/>
                </a:solidFill>
              </a:rPr>
              <a:t>Further Foundry retirements cause repeated rework</a:t>
            </a:r>
            <a:endParaRPr lang="en-US" sz="1400" dirty="0"/>
          </a:p>
        </p:txBody>
      </p:sp>
      <p:sp>
        <p:nvSpPr>
          <p:cNvPr id="20" name="Exception rule"/>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300" i="1" dirty="0">
                <a:solidFill>
                  <a:schemeClr val="bg2"/>
                </a:solidFill>
              </a:rPr>
              <a:t>Exceptions must use the same Entra identity, Kong routing and Dynatrace export.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Validate with a 6-week proof of concept</a:t>
            </a:r>
            <a:endParaRPr lang="en-US" sz="3200" dirty="0"/>
          </a:p>
        </p:txBody>
      </p:sp>
      <p:sp>
        <p:nvSpPr>
          <p:cNvPr id="3" name="Phase card 1"/>
          <p:cNvSpPr/>
          <p:nvPr/>
        </p:nvSpPr>
        <p:spPr>
          <a:xfrm>
            <a:off x="548640" y="1280160"/>
            <a:ext cx="3566160" cy="1508760"/>
          </a:xfrm>
          <a:prstGeom prst="roundRect">
            <a:avLst>
              <a:gd name="adj" fmla="val 7273"/>
            </a:avLst>
          </a:prstGeom>
          <a:solidFill>
            <a:schemeClr val="bg2"/>
          </a:solidFill>
          <a:ln/>
        </p:spPr>
      </p:sp>
      <p:sp>
        <p:nvSpPr>
          <p:cNvPr id="4" name="Phase number circle 1"/>
          <p:cNvSpPr/>
          <p:nvPr/>
        </p:nvSpPr>
        <p:spPr>
          <a:xfrm>
            <a:off x="731520" y="1444752"/>
            <a:ext cx="457200" cy="457200"/>
          </a:xfrm>
          <a:prstGeom prst="ellipse">
            <a:avLst/>
          </a:prstGeom>
          <a:solidFill>
            <a:schemeClr val="tx2"/>
          </a:solidFill>
          <a:ln/>
        </p:spPr>
      </p:sp>
      <p:sp>
        <p:nvSpPr>
          <p:cNvPr id="5" name="Phase number 1"/>
          <p:cNvSpPr txBox="1"/>
          <p:nvPr/>
        </p:nvSpPr>
        <p:spPr>
          <a:xfrm>
            <a:off x="731520"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hase head 1"/>
          <p:cNvSpPr txBox="1"/>
          <p:nvPr/>
        </p:nvSpPr>
        <p:spPr>
          <a:xfrm>
            <a:off x="1325880" y="1444752"/>
            <a:ext cx="2651760" cy="457200"/>
          </a:xfrm>
          <a:prstGeom prst="rect">
            <a:avLst/>
          </a:prstGeom>
          <a:noFill/>
          <a:ln/>
        </p:spPr>
        <p:txBody>
          <a:bodyPr wrap="square" lIns="0" tIns="0" rIns="0" bIns="0" rtlCol="0" anchor="ctr"/>
          <a:lstStyle/>
          <a:p>
            <a:pPr indent="0" marL="0">
              <a:buNone/>
            </a:pPr>
            <a:r>
              <a:rPr lang="en-US" sz="1500" b="1" dirty="0">
                <a:solidFill>
                  <a:schemeClr val="tx1"/>
                </a:solidFill>
              </a:rPr>
              <a:t>Weeks 1-2  |  Foundation</a:t>
            </a:r>
            <a:endParaRPr lang="en-US" sz="1500" dirty="0"/>
          </a:p>
        </p:txBody>
      </p:sp>
      <p:sp>
        <p:nvSpPr>
          <p:cNvPr id="7" name="Phase body 1"/>
          <p:cNvSpPr txBox="1"/>
          <p:nvPr/>
        </p:nvSpPr>
        <p:spPr>
          <a:xfrm>
            <a:off x="731520" y="2011680"/>
            <a:ext cx="3200400" cy="731520"/>
          </a:xfrm>
          <a:prstGeom prst="rect">
            <a:avLst/>
          </a:prstGeom>
          <a:noFill/>
          <a:ln/>
        </p:spPr>
        <p:txBody>
          <a:bodyPr wrap="square" lIns="0" tIns="0" rIns="0" bIns="0" rtlCol="0" anchor="t"/>
          <a:lstStyle/>
          <a:p>
            <a:pPr indent="0" marL="0">
              <a:buNone/>
            </a:pPr>
            <a:r>
              <a:rPr lang="en-US" sz="1300" dirty="0">
                <a:solidFill>
                  <a:schemeClr val="tx1"/>
                </a:solidFill>
              </a:rPr>
              <a:t>Stand up both runtimes with Entra, Kong and Dynatrace in a non-production landing zone</a:t>
            </a:r>
            <a:endParaRPr lang="en-US" sz="1300" dirty="0"/>
          </a:p>
        </p:txBody>
      </p:sp>
      <p:sp>
        <p:nvSpPr>
          <p:cNvPr id="8" name="Phase card 2"/>
          <p:cNvSpPr/>
          <p:nvPr/>
        </p:nvSpPr>
        <p:spPr>
          <a:xfrm>
            <a:off x="4297680" y="1280160"/>
            <a:ext cx="3566160" cy="1508760"/>
          </a:xfrm>
          <a:prstGeom prst="roundRect">
            <a:avLst>
              <a:gd name="adj" fmla="val 7273"/>
            </a:avLst>
          </a:prstGeom>
          <a:solidFill>
            <a:schemeClr val="bg2"/>
          </a:solidFill>
          <a:ln/>
        </p:spPr>
      </p:sp>
      <p:sp>
        <p:nvSpPr>
          <p:cNvPr id="9" name="Phase number circle 2"/>
          <p:cNvSpPr/>
          <p:nvPr/>
        </p:nvSpPr>
        <p:spPr>
          <a:xfrm>
            <a:off x="4480560" y="1444752"/>
            <a:ext cx="457200" cy="457200"/>
          </a:xfrm>
          <a:prstGeom prst="ellipse">
            <a:avLst/>
          </a:prstGeom>
          <a:solidFill>
            <a:schemeClr val="tx2"/>
          </a:solidFill>
          <a:ln/>
        </p:spPr>
      </p:sp>
      <p:sp>
        <p:nvSpPr>
          <p:cNvPr id="10" name="Phase number 2"/>
          <p:cNvSpPr txBox="1"/>
          <p:nvPr/>
        </p:nvSpPr>
        <p:spPr>
          <a:xfrm>
            <a:off x="4480560"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Phase head 2"/>
          <p:cNvSpPr txBox="1"/>
          <p:nvPr/>
        </p:nvSpPr>
        <p:spPr>
          <a:xfrm>
            <a:off x="5074920" y="1444752"/>
            <a:ext cx="2651760" cy="457200"/>
          </a:xfrm>
          <a:prstGeom prst="rect">
            <a:avLst/>
          </a:prstGeom>
          <a:noFill/>
          <a:ln/>
        </p:spPr>
        <p:txBody>
          <a:bodyPr wrap="square" lIns="0" tIns="0" rIns="0" bIns="0" rtlCol="0" anchor="ctr"/>
          <a:lstStyle/>
          <a:p>
            <a:pPr indent="0" marL="0">
              <a:buNone/>
            </a:pPr>
            <a:r>
              <a:rPr lang="en-US" sz="1500" b="1" dirty="0">
                <a:solidFill>
                  <a:schemeClr val="tx1"/>
                </a:solidFill>
              </a:rPr>
              <a:t>Weeks 3-4  |  Build and test</a:t>
            </a:r>
            <a:endParaRPr lang="en-US" sz="1500" dirty="0"/>
          </a:p>
        </p:txBody>
      </p:sp>
      <p:sp>
        <p:nvSpPr>
          <p:cNvPr id="12" name="Phase body 2"/>
          <p:cNvSpPr txBox="1"/>
          <p:nvPr/>
        </p:nvSpPr>
        <p:spPr>
          <a:xfrm>
            <a:off x="4480560" y="2011680"/>
            <a:ext cx="3200400" cy="731520"/>
          </a:xfrm>
          <a:prstGeom prst="rect">
            <a:avLst/>
          </a:prstGeom>
          <a:noFill/>
          <a:ln/>
        </p:spPr>
        <p:txBody>
          <a:bodyPr wrap="square" lIns="0" tIns="0" rIns="0" bIns="0" rtlCol="0" anchor="t"/>
          <a:lstStyle/>
          <a:p>
            <a:pPr indent="0" marL="0">
              <a:buNone/>
            </a:pPr>
            <a:r>
              <a:rPr lang="en-US" sz="1300" dirty="0">
                <a:solidFill>
                  <a:schemeClr val="tx1"/>
                </a:solidFill>
              </a:rPr>
              <a:t>Deploy the same reference agent on both; run the test suite below</a:t>
            </a:r>
            <a:endParaRPr lang="en-US" sz="1300" dirty="0"/>
          </a:p>
        </p:txBody>
      </p:sp>
      <p:sp>
        <p:nvSpPr>
          <p:cNvPr id="13" name="Phase card 3"/>
          <p:cNvSpPr/>
          <p:nvPr/>
        </p:nvSpPr>
        <p:spPr>
          <a:xfrm>
            <a:off x="8046720" y="1280160"/>
            <a:ext cx="3566160" cy="1508760"/>
          </a:xfrm>
          <a:prstGeom prst="roundRect">
            <a:avLst>
              <a:gd name="adj" fmla="val 7273"/>
            </a:avLst>
          </a:prstGeom>
          <a:solidFill>
            <a:schemeClr val="bg2"/>
          </a:solidFill>
          <a:ln/>
        </p:spPr>
      </p:sp>
      <p:sp>
        <p:nvSpPr>
          <p:cNvPr id="14" name="Phase number circle 3"/>
          <p:cNvSpPr/>
          <p:nvPr/>
        </p:nvSpPr>
        <p:spPr>
          <a:xfrm>
            <a:off x="8229600" y="1444752"/>
            <a:ext cx="457200" cy="457200"/>
          </a:xfrm>
          <a:prstGeom prst="ellipse">
            <a:avLst/>
          </a:prstGeom>
          <a:solidFill>
            <a:schemeClr val="tx2"/>
          </a:solidFill>
          <a:ln/>
        </p:spPr>
      </p:sp>
      <p:sp>
        <p:nvSpPr>
          <p:cNvPr id="15" name="Phase number 3"/>
          <p:cNvSpPr txBox="1"/>
          <p:nvPr/>
        </p:nvSpPr>
        <p:spPr>
          <a:xfrm>
            <a:off x="8229600"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Phase head 3"/>
          <p:cNvSpPr txBox="1"/>
          <p:nvPr/>
        </p:nvSpPr>
        <p:spPr>
          <a:xfrm>
            <a:off x="8823960" y="1444752"/>
            <a:ext cx="2651760" cy="457200"/>
          </a:xfrm>
          <a:prstGeom prst="rect">
            <a:avLst/>
          </a:prstGeom>
          <a:noFill/>
          <a:ln/>
        </p:spPr>
        <p:txBody>
          <a:bodyPr wrap="square" lIns="0" tIns="0" rIns="0" bIns="0" rtlCol="0" anchor="ctr"/>
          <a:lstStyle/>
          <a:p>
            <a:pPr indent="0" marL="0">
              <a:buNone/>
            </a:pPr>
            <a:r>
              <a:rPr lang="en-US" sz="1500" b="1" dirty="0">
                <a:solidFill>
                  <a:schemeClr val="tx1"/>
                </a:solidFill>
              </a:rPr>
              <a:t>Weeks 5-6  |  Evaluate and decide</a:t>
            </a:r>
            <a:endParaRPr lang="en-US" sz="1500" dirty="0"/>
          </a:p>
        </p:txBody>
      </p:sp>
      <p:sp>
        <p:nvSpPr>
          <p:cNvPr id="17" name="Phase body 3"/>
          <p:cNvSpPr txBox="1"/>
          <p:nvPr/>
        </p:nvSpPr>
        <p:spPr>
          <a:xfrm>
            <a:off x="8229600" y="2011680"/>
            <a:ext cx="3200400" cy="731520"/>
          </a:xfrm>
          <a:prstGeom prst="rect">
            <a:avLst/>
          </a:prstGeom>
          <a:noFill/>
          <a:ln/>
        </p:spPr>
        <p:txBody>
          <a:bodyPr wrap="square" lIns="0" tIns="0" rIns="0" bIns="0" rtlCol="0" anchor="t"/>
          <a:lstStyle/>
          <a:p>
            <a:pPr indent="0" marL="0">
              <a:buNone/>
            </a:pPr>
            <a:r>
              <a:rPr lang="en-US" sz="1300" dirty="0">
                <a:solidFill>
                  <a:schemeClr val="tx1"/>
                </a:solidFill>
              </a:rPr>
              <a:t>Score against the rubric, re-baseline cost, present the standard for ratification</a:t>
            </a:r>
            <a:endParaRPr lang="en-US" sz="1300" dirty="0"/>
          </a:p>
        </p:txBody>
      </p:sp>
      <p:sp>
        <p:nvSpPr>
          <p:cNvPr id="18" name="Exit head"/>
          <p:cNvSpPr txBox="1"/>
          <p:nvPr/>
        </p:nvSpPr>
        <p:spPr>
          <a:xfrm>
            <a:off x="548640" y="3017520"/>
            <a:ext cx="5486400" cy="320040"/>
          </a:xfrm>
          <a:prstGeom prst="rect">
            <a:avLst/>
          </a:prstGeom>
          <a:noFill/>
          <a:ln/>
        </p:spPr>
        <p:txBody>
          <a:bodyPr wrap="square" lIns="0" tIns="0" rIns="0" bIns="0" rtlCol="0" anchor="t"/>
          <a:lstStyle/>
          <a:p>
            <a:pPr indent="0" marL="0">
              <a:buNone/>
            </a:pPr>
            <a:r>
              <a:rPr lang="en-US" sz="1800" b="1" dirty="0">
                <a:solidFill>
                  <a:schemeClr val="tx1"/>
                </a:solidFill>
              </a:rPr>
              <a:t>Exit criteria</a:t>
            </a:r>
            <a:endParaRPr lang="en-US" sz="1800" dirty="0"/>
          </a:p>
        </p:txBody>
      </p:sp>
      <p:sp>
        <p:nvSpPr>
          <p:cNvPr id="19" name="Test card 1"/>
          <p:cNvSpPr/>
          <p:nvPr/>
        </p:nvSpPr>
        <p:spPr>
          <a:xfrm>
            <a:off x="548640" y="3429000"/>
            <a:ext cx="3566160" cy="1325880"/>
          </a:xfrm>
          <a:prstGeom prst="roundRect">
            <a:avLst>
              <a:gd name="adj" fmla="val 8276"/>
            </a:avLst>
          </a:prstGeom>
          <a:solidFill>
            <a:schemeClr val="bg2"/>
          </a:solidFill>
          <a:ln/>
        </p:spPr>
      </p:sp>
      <p:sp>
        <p:nvSpPr>
          <p:cNvPr id="20" name="Test 1 circle"/>
          <p:cNvSpPr/>
          <p:nvPr/>
        </p:nvSpPr>
        <p:spPr>
          <a:xfrm>
            <a:off x="731520" y="3611880"/>
            <a:ext cx="457200" cy="457200"/>
          </a:xfrm>
          <a:prstGeom prst="ellipse">
            <a:avLst/>
          </a:prstGeom>
          <a:solidFill>
            <a:schemeClr val="accent3"/>
          </a:solidFill>
          <a:ln/>
        </p:spPr>
      </p:sp>
      <p:pic>
        <p:nvPicPr>
          <p:cNvPr id="21" name="Test 1 icon" descr="Test 1">    </p:cNvPr>
          <p:cNvPicPr>
            <a:picLocks noChangeAspect="1"/>
          </p:cNvPicPr>
          <p:nvPr/>
        </p:nvPicPr>
        <p:blipFill>
          <a:blip r:embed="rId1"/>
          <a:stretch>
            <a:fillRect/>
          </a:stretch>
        </p:blipFill>
        <p:spPr>
          <a:xfrm>
            <a:off x="832104" y="3712464"/>
            <a:ext cx="256032" cy="256032"/>
          </a:xfrm>
          <a:prstGeom prst="rect">
            <a:avLst/>
          </a:prstGeom>
        </p:spPr>
      </p:pic>
      <p:sp>
        <p:nvSpPr>
          <p:cNvPr id="22" name="Test head 1"/>
          <p:cNvSpPr txBox="1"/>
          <p:nvPr/>
        </p:nvSpPr>
        <p:spPr>
          <a:xfrm>
            <a:off x="1325880" y="361188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Identity</a:t>
            </a:r>
            <a:endParaRPr lang="en-US" sz="1600" dirty="0"/>
          </a:p>
        </p:txBody>
      </p:sp>
      <p:sp>
        <p:nvSpPr>
          <p:cNvPr id="23" name="Test body 1"/>
          <p:cNvSpPr txBox="1"/>
          <p:nvPr/>
        </p:nvSpPr>
        <p:spPr>
          <a:xfrm>
            <a:off x="731520" y="4160520"/>
            <a:ext cx="3200400" cy="548640"/>
          </a:xfrm>
          <a:prstGeom prst="rect">
            <a:avLst/>
          </a:prstGeom>
          <a:noFill/>
          <a:ln/>
        </p:spPr>
        <p:txBody>
          <a:bodyPr wrap="square" lIns="0" tIns="0" rIns="0" bIns="0" rtlCol="0" anchor="t"/>
          <a:lstStyle/>
          <a:p>
            <a:pPr indent="0" marL="0">
              <a:buNone/>
            </a:pPr>
            <a:r>
              <a:rPr lang="en-US" sz="1300" dirty="0">
                <a:solidFill>
                  <a:schemeClr val="tx1"/>
                </a:solidFill>
              </a:rPr>
              <a:t>Entra on-behalf-of reaches Databricks with per-user data permissions</a:t>
            </a:r>
            <a:endParaRPr lang="en-US" sz="1300" dirty="0"/>
          </a:p>
        </p:txBody>
      </p:sp>
      <p:sp>
        <p:nvSpPr>
          <p:cNvPr id="24" name="Test card 2"/>
          <p:cNvSpPr/>
          <p:nvPr/>
        </p:nvSpPr>
        <p:spPr>
          <a:xfrm>
            <a:off x="4297680" y="3429000"/>
            <a:ext cx="3566160" cy="1325880"/>
          </a:xfrm>
          <a:prstGeom prst="roundRect">
            <a:avLst>
              <a:gd name="adj" fmla="val 8276"/>
            </a:avLst>
          </a:prstGeom>
          <a:solidFill>
            <a:schemeClr val="bg2"/>
          </a:solidFill>
          <a:ln/>
        </p:spPr>
      </p:sp>
      <p:sp>
        <p:nvSpPr>
          <p:cNvPr id="25" name="Test 2 circle"/>
          <p:cNvSpPr/>
          <p:nvPr/>
        </p:nvSpPr>
        <p:spPr>
          <a:xfrm>
            <a:off x="4480560" y="3611880"/>
            <a:ext cx="457200" cy="457200"/>
          </a:xfrm>
          <a:prstGeom prst="ellipse">
            <a:avLst/>
          </a:prstGeom>
          <a:solidFill>
            <a:schemeClr val="accent3"/>
          </a:solidFill>
          <a:ln/>
        </p:spPr>
      </p:sp>
      <p:pic>
        <p:nvPicPr>
          <p:cNvPr id="26" name="Test 2 icon" descr="Test 2">    </p:cNvPr>
          <p:cNvPicPr>
            <a:picLocks noChangeAspect="1"/>
          </p:cNvPicPr>
          <p:nvPr/>
        </p:nvPicPr>
        <p:blipFill>
          <a:blip r:embed="rId2"/>
          <a:stretch>
            <a:fillRect/>
          </a:stretch>
        </p:blipFill>
        <p:spPr>
          <a:xfrm>
            <a:off x="4581144" y="3712464"/>
            <a:ext cx="256032" cy="256032"/>
          </a:xfrm>
          <a:prstGeom prst="rect">
            <a:avLst/>
          </a:prstGeom>
        </p:spPr>
      </p:pic>
      <p:sp>
        <p:nvSpPr>
          <p:cNvPr id="27" name="Test head 2"/>
          <p:cNvSpPr txBox="1"/>
          <p:nvPr/>
        </p:nvSpPr>
        <p:spPr>
          <a:xfrm>
            <a:off x="5074920" y="361188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Kong bypass</a:t>
            </a:r>
            <a:endParaRPr lang="en-US" sz="1600" dirty="0"/>
          </a:p>
        </p:txBody>
      </p:sp>
      <p:sp>
        <p:nvSpPr>
          <p:cNvPr id="28" name="Test body 2"/>
          <p:cNvSpPr txBox="1"/>
          <p:nvPr/>
        </p:nvSpPr>
        <p:spPr>
          <a:xfrm>
            <a:off x="4480560" y="4160520"/>
            <a:ext cx="3200400" cy="548640"/>
          </a:xfrm>
          <a:prstGeom prst="rect">
            <a:avLst/>
          </a:prstGeom>
          <a:noFill/>
          <a:ln/>
        </p:spPr>
        <p:txBody>
          <a:bodyPr wrap="square" lIns="0" tIns="0" rIns="0" bIns="0" rtlCol="0" anchor="t"/>
          <a:lstStyle/>
          <a:p>
            <a:pPr indent="0" marL="0">
              <a:buNone/>
            </a:pPr>
            <a:r>
              <a:rPr lang="en-US" sz="1300" dirty="0">
                <a:solidFill>
                  <a:schemeClr val="tx1"/>
                </a:solidFill>
              </a:rPr>
              <a:t>Direct model calls are blocked; every call appears in Kong logs</a:t>
            </a:r>
            <a:endParaRPr lang="en-US" sz="1300" dirty="0"/>
          </a:p>
        </p:txBody>
      </p:sp>
      <p:sp>
        <p:nvSpPr>
          <p:cNvPr id="29" name="Test card 3"/>
          <p:cNvSpPr/>
          <p:nvPr/>
        </p:nvSpPr>
        <p:spPr>
          <a:xfrm>
            <a:off x="8046720" y="3429000"/>
            <a:ext cx="3566160" cy="1325880"/>
          </a:xfrm>
          <a:prstGeom prst="roundRect">
            <a:avLst>
              <a:gd name="adj" fmla="val 8276"/>
            </a:avLst>
          </a:prstGeom>
          <a:solidFill>
            <a:schemeClr val="bg2"/>
          </a:solidFill>
          <a:ln/>
        </p:spPr>
      </p:sp>
      <p:sp>
        <p:nvSpPr>
          <p:cNvPr id="30" name="Test 3 circle"/>
          <p:cNvSpPr/>
          <p:nvPr/>
        </p:nvSpPr>
        <p:spPr>
          <a:xfrm>
            <a:off x="8229600" y="3611880"/>
            <a:ext cx="457200" cy="457200"/>
          </a:xfrm>
          <a:prstGeom prst="ellipse">
            <a:avLst/>
          </a:prstGeom>
          <a:solidFill>
            <a:schemeClr val="accent3"/>
          </a:solidFill>
          <a:ln/>
        </p:spPr>
      </p:sp>
      <p:pic>
        <p:nvPicPr>
          <p:cNvPr id="31" name="Test 3 icon" descr="Test 3">    </p:cNvPr>
          <p:cNvPicPr>
            <a:picLocks noChangeAspect="1"/>
          </p:cNvPicPr>
          <p:nvPr/>
        </p:nvPicPr>
        <p:blipFill>
          <a:blip r:embed="rId3"/>
          <a:stretch>
            <a:fillRect/>
          </a:stretch>
        </p:blipFill>
        <p:spPr>
          <a:xfrm>
            <a:off x="8330184" y="3712464"/>
            <a:ext cx="256032" cy="256032"/>
          </a:xfrm>
          <a:prstGeom prst="rect">
            <a:avLst/>
          </a:prstGeom>
        </p:spPr>
      </p:pic>
      <p:sp>
        <p:nvSpPr>
          <p:cNvPr id="32" name="Test head 3"/>
          <p:cNvSpPr txBox="1"/>
          <p:nvPr/>
        </p:nvSpPr>
        <p:spPr>
          <a:xfrm>
            <a:off x="8823960" y="361188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Dynatrace</a:t>
            </a:r>
            <a:endParaRPr lang="en-US" sz="1600" dirty="0"/>
          </a:p>
        </p:txBody>
      </p:sp>
      <p:sp>
        <p:nvSpPr>
          <p:cNvPr id="33" name="Test body 3"/>
          <p:cNvSpPr txBox="1"/>
          <p:nvPr/>
        </p:nvSpPr>
        <p:spPr>
          <a:xfrm>
            <a:off x="8229600" y="4160520"/>
            <a:ext cx="3200400" cy="548640"/>
          </a:xfrm>
          <a:prstGeom prst="rect">
            <a:avLst/>
          </a:prstGeom>
          <a:noFill/>
          <a:ln/>
        </p:spPr>
        <p:txBody>
          <a:bodyPr wrap="square" lIns="0" tIns="0" rIns="0" bIns="0" rtlCol="0" anchor="t"/>
          <a:lstStyle/>
          <a:p>
            <a:pPr indent="0" marL="0">
              <a:buNone/>
            </a:pPr>
            <a:r>
              <a:rPr lang="en-US" sz="1300" dirty="0">
                <a:solidFill>
                  <a:schemeClr val="tx1"/>
                </a:solidFill>
              </a:rPr>
              <a:t>Traces with GenAI attributes and token cost for both runtimes</a:t>
            </a:r>
            <a:endParaRPr lang="en-US" sz="1300" dirty="0"/>
          </a:p>
        </p:txBody>
      </p:sp>
      <p:sp>
        <p:nvSpPr>
          <p:cNvPr id="34" name="Test card 4"/>
          <p:cNvSpPr/>
          <p:nvPr/>
        </p:nvSpPr>
        <p:spPr>
          <a:xfrm>
            <a:off x="548640" y="4892040"/>
            <a:ext cx="3566160" cy="1325880"/>
          </a:xfrm>
          <a:prstGeom prst="roundRect">
            <a:avLst>
              <a:gd name="adj" fmla="val 8276"/>
            </a:avLst>
          </a:prstGeom>
          <a:solidFill>
            <a:schemeClr val="bg2"/>
          </a:solidFill>
          <a:ln/>
        </p:spPr>
      </p:sp>
      <p:sp>
        <p:nvSpPr>
          <p:cNvPr id="35" name="Test 4 circle"/>
          <p:cNvSpPr/>
          <p:nvPr/>
        </p:nvSpPr>
        <p:spPr>
          <a:xfrm>
            <a:off x="731520" y="5074920"/>
            <a:ext cx="457200" cy="457200"/>
          </a:xfrm>
          <a:prstGeom prst="ellipse">
            <a:avLst/>
          </a:prstGeom>
          <a:solidFill>
            <a:schemeClr val="accent3"/>
          </a:solidFill>
          <a:ln/>
        </p:spPr>
      </p:sp>
      <p:pic>
        <p:nvPicPr>
          <p:cNvPr id="36" name="Test 4 icon" descr="Test 4">    </p:cNvPr>
          <p:cNvPicPr>
            <a:picLocks noChangeAspect="1"/>
          </p:cNvPicPr>
          <p:nvPr/>
        </p:nvPicPr>
        <p:blipFill>
          <a:blip r:embed="rId4"/>
          <a:stretch>
            <a:fillRect/>
          </a:stretch>
        </p:blipFill>
        <p:spPr>
          <a:xfrm>
            <a:off x="832104" y="5175504"/>
            <a:ext cx="256032" cy="256032"/>
          </a:xfrm>
          <a:prstGeom prst="rect">
            <a:avLst/>
          </a:prstGeom>
        </p:spPr>
      </p:pic>
      <p:sp>
        <p:nvSpPr>
          <p:cNvPr id="37" name="Test head 4"/>
          <p:cNvSpPr txBox="1"/>
          <p:nvPr/>
        </p:nvSpPr>
        <p:spPr>
          <a:xfrm>
            <a:off x="1325880" y="5074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Guardrails</a:t>
            </a:r>
            <a:endParaRPr lang="en-US" sz="1600" dirty="0"/>
          </a:p>
        </p:txBody>
      </p:sp>
      <p:sp>
        <p:nvSpPr>
          <p:cNvPr id="38" name="Test body 4"/>
          <p:cNvSpPr txBox="1"/>
          <p:nvPr/>
        </p:nvSpPr>
        <p:spPr>
          <a:xfrm>
            <a:off x="731520" y="5623560"/>
            <a:ext cx="3200400" cy="548640"/>
          </a:xfrm>
          <a:prstGeom prst="rect">
            <a:avLst/>
          </a:prstGeom>
          <a:noFill/>
          <a:ln/>
        </p:spPr>
        <p:txBody>
          <a:bodyPr wrap="square" lIns="0" tIns="0" rIns="0" bIns="0" rtlCol="0" anchor="t"/>
          <a:lstStyle/>
          <a:p>
            <a:pPr indent="0" marL="0">
              <a:buNone/>
            </a:pPr>
            <a:r>
              <a:rPr lang="en-US" sz="1300" dirty="0">
                <a:solidFill>
                  <a:schemeClr val="tx1"/>
                </a:solidFill>
              </a:rPr>
              <a:t>Prompt injection and unauthorized tool calls are blocked and audited</a:t>
            </a:r>
            <a:endParaRPr lang="en-US" sz="1300" dirty="0"/>
          </a:p>
        </p:txBody>
      </p:sp>
      <p:sp>
        <p:nvSpPr>
          <p:cNvPr id="39" name="Test card 5"/>
          <p:cNvSpPr/>
          <p:nvPr/>
        </p:nvSpPr>
        <p:spPr>
          <a:xfrm>
            <a:off x="4297680" y="4892040"/>
            <a:ext cx="3566160" cy="1325880"/>
          </a:xfrm>
          <a:prstGeom prst="roundRect">
            <a:avLst>
              <a:gd name="adj" fmla="val 8276"/>
            </a:avLst>
          </a:prstGeom>
          <a:solidFill>
            <a:schemeClr val="bg2"/>
          </a:solidFill>
          <a:ln/>
        </p:spPr>
      </p:sp>
      <p:sp>
        <p:nvSpPr>
          <p:cNvPr id="40" name="Test 5 circle"/>
          <p:cNvSpPr/>
          <p:nvPr/>
        </p:nvSpPr>
        <p:spPr>
          <a:xfrm>
            <a:off x="4480560" y="5074920"/>
            <a:ext cx="457200" cy="457200"/>
          </a:xfrm>
          <a:prstGeom prst="ellipse">
            <a:avLst/>
          </a:prstGeom>
          <a:solidFill>
            <a:schemeClr val="accent3"/>
          </a:solidFill>
          <a:ln/>
        </p:spPr>
      </p:sp>
      <p:pic>
        <p:nvPicPr>
          <p:cNvPr id="41" name="Test 5 icon" descr="Test 5">    </p:cNvPr>
          <p:cNvPicPr>
            <a:picLocks noChangeAspect="1"/>
          </p:cNvPicPr>
          <p:nvPr/>
        </p:nvPicPr>
        <p:blipFill>
          <a:blip r:embed="rId5"/>
          <a:stretch>
            <a:fillRect/>
          </a:stretch>
        </p:blipFill>
        <p:spPr>
          <a:xfrm>
            <a:off x="4581144" y="5175504"/>
            <a:ext cx="256032" cy="256032"/>
          </a:xfrm>
          <a:prstGeom prst="rect">
            <a:avLst/>
          </a:prstGeom>
        </p:spPr>
      </p:pic>
      <p:sp>
        <p:nvSpPr>
          <p:cNvPr id="42" name="Test head 5"/>
          <p:cNvSpPr txBox="1"/>
          <p:nvPr/>
        </p:nvSpPr>
        <p:spPr>
          <a:xfrm>
            <a:off x="5074920" y="5074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Cost</a:t>
            </a:r>
            <a:endParaRPr lang="en-US" sz="1600" dirty="0"/>
          </a:p>
        </p:txBody>
      </p:sp>
      <p:sp>
        <p:nvSpPr>
          <p:cNvPr id="43" name="Test body 5"/>
          <p:cNvSpPr txBox="1"/>
          <p:nvPr/>
        </p:nvSpPr>
        <p:spPr>
          <a:xfrm>
            <a:off x="4480560" y="5623560"/>
            <a:ext cx="3200400" cy="548640"/>
          </a:xfrm>
          <a:prstGeom prst="rect">
            <a:avLst/>
          </a:prstGeom>
          <a:noFill/>
          <a:ln/>
        </p:spPr>
        <p:txBody>
          <a:bodyPr wrap="square" lIns="0" tIns="0" rIns="0" bIns="0" rtlCol="0" anchor="t"/>
          <a:lstStyle/>
          <a:p>
            <a:pPr indent="0" marL="0">
              <a:buNone/>
            </a:pPr>
            <a:r>
              <a:rPr lang="en-US" sz="1300" dirty="0">
                <a:solidFill>
                  <a:schemeClr val="tx1"/>
                </a:solidFill>
              </a:rPr>
              <a:t>Measured cost per 1,000 tasks, including egress and observability</a:t>
            </a:r>
            <a:endParaRPr lang="en-US" sz="1300" dirty="0"/>
          </a:p>
        </p:txBody>
      </p:sp>
      <p:sp>
        <p:nvSpPr>
          <p:cNvPr id="44" name="Test card 6"/>
          <p:cNvSpPr/>
          <p:nvPr/>
        </p:nvSpPr>
        <p:spPr>
          <a:xfrm>
            <a:off x="8046720" y="4892040"/>
            <a:ext cx="3566160" cy="1325880"/>
          </a:xfrm>
          <a:prstGeom prst="roundRect">
            <a:avLst>
              <a:gd name="adj" fmla="val 8276"/>
            </a:avLst>
          </a:prstGeom>
          <a:solidFill>
            <a:schemeClr val="bg2"/>
          </a:solidFill>
          <a:ln/>
        </p:spPr>
      </p:sp>
      <p:sp>
        <p:nvSpPr>
          <p:cNvPr id="45" name="Test 6 circle"/>
          <p:cNvSpPr/>
          <p:nvPr/>
        </p:nvSpPr>
        <p:spPr>
          <a:xfrm>
            <a:off x="8229600" y="5074920"/>
            <a:ext cx="457200" cy="457200"/>
          </a:xfrm>
          <a:prstGeom prst="ellipse">
            <a:avLst/>
          </a:prstGeom>
          <a:solidFill>
            <a:schemeClr val="accent3"/>
          </a:solidFill>
          <a:ln/>
        </p:spPr>
      </p:sp>
      <p:pic>
        <p:nvPicPr>
          <p:cNvPr id="46" name="Test 6 icon" descr="Test 6">    </p:cNvPr>
          <p:cNvPicPr>
            <a:picLocks noChangeAspect="1"/>
          </p:cNvPicPr>
          <p:nvPr/>
        </p:nvPicPr>
        <p:blipFill>
          <a:blip r:embed="rId6"/>
          <a:stretch>
            <a:fillRect/>
          </a:stretch>
        </p:blipFill>
        <p:spPr>
          <a:xfrm>
            <a:off x="8330184" y="5175504"/>
            <a:ext cx="256032" cy="256032"/>
          </a:xfrm>
          <a:prstGeom prst="rect">
            <a:avLst/>
          </a:prstGeom>
        </p:spPr>
      </p:pic>
      <p:sp>
        <p:nvSpPr>
          <p:cNvPr id="47" name="Test head 6"/>
          <p:cNvSpPr txBox="1"/>
          <p:nvPr/>
        </p:nvSpPr>
        <p:spPr>
          <a:xfrm>
            <a:off x="8823960" y="5074920"/>
            <a:ext cx="2651760" cy="457200"/>
          </a:xfrm>
          <a:prstGeom prst="rect">
            <a:avLst/>
          </a:prstGeom>
          <a:noFill/>
          <a:ln/>
        </p:spPr>
        <p:txBody>
          <a:bodyPr wrap="square" lIns="0" tIns="0" rIns="0" bIns="0" rtlCol="0" anchor="ctr"/>
          <a:lstStyle/>
          <a:p>
            <a:pPr indent="0" marL="0">
              <a:buNone/>
            </a:pPr>
            <a:r>
              <a:rPr lang="en-US" sz="1600" b="1" dirty="0">
                <a:solidFill>
                  <a:schemeClr val="tx1"/>
                </a:solidFill>
              </a:rPr>
              <a:t>Developer experience</a:t>
            </a:r>
            <a:endParaRPr lang="en-US" sz="1600" dirty="0"/>
          </a:p>
        </p:txBody>
      </p:sp>
      <p:sp>
        <p:nvSpPr>
          <p:cNvPr id="48" name="Test body 6"/>
          <p:cNvSpPr txBox="1"/>
          <p:nvPr/>
        </p:nvSpPr>
        <p:spPr>
          <a:xfrm>
            <a:off x="8229600" y="5623560"/>
            <a:ext cx="3200400" cy="548640"/>
          </a:xfrm>
          <a:prstGeom prst="rect">
            <a:avLst/>
          </a:prstGeom>
          <a:noFill/>
          <a:ln/>
        </p:spPr>
        <p:txBody>
          <a:bodyPr wrap="square" lIns="0" tIns="0" rIns="0" bIns="0" rtlCol="0" anchor="t"/>
          <a:lstStyle/>
          <a:p>
            <a:pPr indent="0" marL="0">
              <a:buNone/>
            </a:pPr>
            <a:r>
              <a:rPr lang="en-US" sz="1300" dirty="0">
                <a:solidFill>
                  <a:schemeClr val="tx1"/>
                </a:solidFill>
              </a:rPr>
              <a:t>Time to first deploy, CI/CD fit, debugging and rollback</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Risks and open items to verify before committing</a:t>
            </a:r>
            <a:endParaRPr lang="en-US" sz="3200" dirty="0"/>
          </a:p>
        </p:txBody>
      </p:sp>
      <p:graphicFrame>
        <p:nvGraphicFramePr>
          <p:cNvPr id="16" name="Risk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023360"/>
                <a:gridCol w="2926080"/>
                <a:gridCol w="4114800"/>
              </a:tblGrid>
              <a:tr h="365760">
                <a:tc>
                  <a:txBody>
                    <a:bodyPr/>
                    <a:lstStyle/>
                    <a:p>
                      <a:pPr indent="0" marL="0">
                        <a:buNone/>
                      </a:pPr>
                      <a:r>
                        <a:rPr lang="en-US" sz="1300" b="1" dirty="0">
                          <a:solidFill>
                            <a:schemeClr val="bg1"/>
                          </a:solidFill>
                        </a:rPr>
                        <a:t>Risk or open item</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 it matters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Mitigation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tx1"/>
                          </a:solidFill>
                        </a:rPr>
                        <a:t>Foundry agent guardrails and VNet tracing still preview</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Control gaps in production</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Gate go-live on GA or add compensating controls in Kong and the tool layer</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Kong routing for Foundry prompt agents relies on BYO gateway</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Possible bypass of LLM audit</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 hosted agents for regulated workloads; deny direct egress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Pricing volatility on both platforms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Forecast drift</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Re-baseline quarterly; set budget alerts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Roadmap churn on both sides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Rework cost</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Keep agents framework-neutral with MCP and OpenTelemetry</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Databricks location assumed to be Azure</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Changes the data-gravity score</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Confirm per workload before the PoC starts</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Ask card"/>
          <p:cNvSpPr/>
          <p:nvPr/>
        </p:nvSpPr>
        <p:spPr>
          <a:xfrm>
            <a:off x="548640" y="4892040"/>
            <a:ext cx="11064240" cy="1325880"/>
          </a:xfrm>
          <a:prstGeom prst="roundRect">
            <a:avLst>
              <a:gd name="adj" fmla="val 8276"/>
            </a:avLst>
          </a:prstGeom>
          <a:solidFill>
            <a:schemeClr val="accent3"/>
          </a:solidFill>
          <a:ln/>
        </p:spPr>
      </p:sp>
      <p:sp>
        <p:nvSpPr>
          <p:cNvPr id="5" name="Ask circle"/>
          <p:cNvSpPr/>
          <p:nvPr/>
        </p:nvSpPr>
        <p:spPr>
          <a:xfrm>
            <a:off x="777240" y="5303520"/>
            <a:ext cx="548640" cy="548640"/>
          </a:xfrm>
          <a:prstGeom prst="ellipse">
            <a:avLst/>
          </a:prstGeom>
          <a:solidFill>
            <a:schemeClr val="tx2"/>
          </a:solidFill>
          <a:ln/>
        </p:spPr>
      </p:sp>
      <p:pic>
        <p:nvPicPr>
          <p:cNvPr id="6" name="Ask icon" descr="Ask">    </p:cNvPr>
          <p:cNvPicPr>
            <a:picLocks noChangeAspect="1"/>
          </p:cNvPicPr>
          <p:nvPr/>
        </p:nvPicPr>
        <p:blipFill>
          <a:blip r:embed="rId1"/>
          <a:stretch>
            <a:fillRect/>
          </a:stretch>
        </p:blipFill>
        <p:spPr>
          <a:xfrm>
            <a:off x="897941" y="5424221"/>
            <a:ext cx="307238" cy="307238"/>
          </a:xfrm>
          <a:prstGeom prst="rect">
            <a:avLst/>
          </a:prstGeom>
        </p:spPr>
      </p:pic>
      <p:sp>
        <p:nvSpPr>
          <p:cNvPr id="7" name="Ask text"/>
          <p:cNvSpPr txBox="1"/>
          <p:nvPr/>
        </p:nvSpPr>
        <p:spPr>
          <a:xfrm>
            <a:off x="1600200" y="4983480"/>
            <a:ext cx="9784080" cy="1143000"/>
          </a:xfrm>
          <a:prstGeom prst="rect">
            <a:avLst/>
          </a:prstGeom>
          <a:noFill/>
          <a:ln/>
        </p:spPr>
        <p:txBody>
          <a:bodyPr wrap="square" lIns="0" tIns="0" rIns="0" bIns="0" rtlCol="0" anchor="ctr"/>
          <a:lstStyle/>
          <a:p>
            <a:pPr indent="0" marL="0">
              <a:buNone/>
            </a:pPr>
            <a:r>
              <a:rPr lang="en-US" sz="1700" b="1" dirty="0">
                <a:solidFill>
                  <a:schemeClr val="bg1"/>
                </a:solidFill>
              </a:rPr>
              <a:t>Decisions requested today
</a:t>
            </a:r>
            <a:pPr indent="0" marL="0">
              <a:buNone/>
            </a:pPr>
            <a:r>
              <a:rPr lang="en-US" sz="1500" dirty="0">
                <a:solidFill>
                  <a:schemeClr val="bg1"/>
                </a:solidFill>
              </a:rPr>
              <a:t>Approve PoC scope and budget  |  Name owners from Platform, Security and Data  |  Set the ratification date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200" b="1" dirty="0">
                <a:solidFill>
                  <a:schemeClr val="tx1"/>
                </a:solidFill>
              </a:rPr>
              <a:t>Appendix: sources and pricing basis</a:t>
            </a:r>
            <a:endParaRPr lang="en-US" sz="3200" dirty="0"/>
          </a:p>
        </p:txBody>
      </p:sp>
      <p:sp>
        <p:nvSpPr>
          <p:cNvPr id="3" name="Sources card"/>
          <p:cNvSpPr/>
          <p:nvPr/>
        </p:nvSpPr>
        <p:spPr>
          <a:xfrm>
            <a:off x="548640" y="1280160"/>
            <a:ext cx="5486400" cy="4480560"/>
          </a:xfrm>
          <a:prstGeom prst="roundRect">
            <a:avLst>
              <a:gd name="adj" fmla="val 2449"/>
            </a:avLst>
          </a:prstGeom>
          <a:solidFill>
            <a:schemeClr val="bg2"/>
          </a:solidFill>
          <a:ln/>
        </p:spPr>
      </p:sp>
      <p:sp>
        <p:nvSpPr>
          <p:cNvPr id="4" name="Sources circle"/>
          <p:cNvSpPr/>
          <p:nvPr/>
        </p:nvSpPr>
        <p:spPr>
          <a:xfrm>
            <a:off x="777240" y="1463040"/>
            <a:ext cx="502920" cy="502920"/>
          </a:xfrm>
          <a:prstGeom prst="ellipse">
            <a:avLst/>
          </a:prstGeom>
          <a:solidFill>
            <a:schemeClr val="accent4"/>
          </a:solidFill>
          <a:ln/>
        </p:spPr>
      </p:sp>
      <p:pic>
        <p:nvPicPr>
          <p:cNvPr id="5" name="Sources icon" descr="Sources">    </p:cNvPr>
          <p:cNvPicPr>
            <a:picLocks noChangeAspect="1"/>
          </p:cNvPicPr>
          <p:nvPr/>
        </p:nvPicPr>
        <p:blipFill>
          <a:blip r:embed="rId1"/>
          <a:stretch>
            <a:fillRect/>
          </a:stretch>
        </p:blipFill>
        <p:spPr>
          <a:xfrm>
            <a:off x="887882" y="1573682"/>
            <a:ext cx="281635" cy="281635"/>
          </a:xfrm>
          <a:prstGeom prst="rect">
            <a:avLst/>
          </a:prstGeom>
        </p:spPr>
      </p:pic>
      <p:sp>
        <p:nvSpPr>
          <p:cNvPr id="6" name="Sources head"/>
          <p:cNvSpPr txBox="1"/>
          <p:nvPr/>
        </p:nvSpPr>
        <p:spPr>
          <a:xfrm>
            <a:off x="1463040" y="1508760"/>
            <a:ext cx="4389120" cy="411480"/>
          </a:xfrm>
          <a:prstGeom prst="rect">
            <a:avLst/>
          </a:prstGeom>
          <a:noFill/>
          <a:ln/>
        </p:spPr>
        <p:txBody>
          <a:bodyPr wrap="square" lIns="0" tIns="0" rIns="0" bIns="0" rtlCol="0" anchor="ctr"/>
          <a:lstStyle/>
          <a:p>
            <a:pPr indent="0" marL="0">
              <a:buNone/>
            </a:pPr>
            <a:r>
              <a:rPr lang="en-US" sz="1600" b="1" dirty="0">
                <a:solidFill>
                  <a:schemeClr val="tx1"/>
                </a:solidFill>
              </a:rPr>
              <a:t>Sources (public, as of Oct 27, 2026)</a:t>
            </a:r>
            <a:endParaRPr lang="en-US" sz="1600" dirty="0"/>
          </a:p>
        </p:txBody>
      </p:sp>
      <p:sp>
        <p:nvSpPr>
          <p:cNvPr id="7" name="Sources list"/>
          <p:cNvSpPr txBox="1"/>
          <p:nvPr/>
        </p:nvSpPr>
        <p:spPr>
          <a:xfrm>
            <a:off x="777240" y="2103120"/>
            <a:ext cx="502920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AWS: Bedrock AgentCore pricing page and developer guide (Runtime, Identity, Policy)</a:t>
            </a:r>
            <a:endParaRPr lang="en-US" sz="1400" dirty="0"/>
          </a:p>
          <a:p>
            <a:pPr marL="342900" indent="-342900">
              <a:spcAft>
                <a:spcPts val="600"/>
              </a:spcAft>
              <a:buSzPct val="100000"/>
              <a:buChar char="•"/>
            </a:pPr>
            <a:r>
              <a:rPr lang="en-US" sz="1300" dirty="0">
                <a:solidFill>
                  <a:schemeClr val="tx1"/>
                </a:solidFill>
              </a:rPr>
              <a:t>AWS What's New: AgentCore Policy GA (Mar 2026) and Guardrails in Policy GA (Jun 17, 2026)</a:t>
            </a:r>
            <a:endParaRPr lang="en-US" sz="1400" dirty="0"/>
          </a:p>
          <a:p>
            <a:pPr marL="342900" indent="-342900">
              <a:spcAft>
                <a:spcPts val="600"/>
              </a:spcAft>
              <a:buSzPct val="100000"/>
              <a:buChar char="•"/>
            </a:pPr>
            <a:r>
              <a:rPr lang="en-US" sz="1300" dirty="0">
                <a:solidFill>
                  <a:schemeClr val="tx1"/>
                </a:solidFill>
              </a:rPr>
              <a:t>Microsoft Learn: Foundry Agent Service overview, GA overview, guardrails</a:t>
            </a:r>
            <a:endParaRPr lang="en-US" sz="1400" dirty="0"/>
          </a:p>
          <a:p>
            <a:pPr marL="342900" indent="-342900">
              <a:spcAft>
                <a:spcPts val="600"/>
              </a:spcAft>
              <a:buSzPct val="100000"/>
              <a:buChar char="•"/>
            </a:pPr>
            <a:r>
              <a:rPr lang="en-US" sz="1300" dirty="0">
                <a:solidFill>
                  <a:schemeClr val="tx1"/>
                </a:solidFill>
              </a:rPr>
              <a:t>Microsoft Foundry blog: hosted agents refresh (Apr 22, 2026) and GA (Jul 9, 2026)</a:t>
            </a:r>
            <a:endParaRPr lang="en-US" sz="1400" dirty="0"/>
          </a:p>
          <a:p>
            <a:pPr marL="342900" indent="-342900">
              <a:spcAft>
                <a:spcPts val="600"/>
              </a:spcAft>
              <a:buSzPct val="100000"/>
              <a:buChar char="•"/>
            </a:pPr>
            <a:r>
              <a:rPr lang="en-US" sz="1300" dirty="0">
                <a:solidFill>
                  <a:schemeClr val="tx1"/>
                </a:solidFill>
              </a:rPr>
              <a:t>Azure Updates: BYO AI gateway and Databricks Genie connectors (preview, Nov 2025)</a:t>
            </a:r>
            <a:endParaRPr lang="en-US" sz="1400" dirty="0"/>
          </a:p>
          <a:p>
            <a:pPr marL="342900" indent="-342900">
              <a:spcAft>
                <a:spcPts val="600"/>
              </a:spcAft>
              <a:buSzPct val="100000"/>
              <a:buChar char="•"/>
            </a:pPr>
            <a:r>
              <a:rPr lang="en-US" sz="1300" dirty="0">
                <a:solidFill>
                  <a:schemeClr val="tx1"/>
                </a:solidFill>
              </a:rPr>
              <a:t>Dynatrace and Kong documentation: AI observability and AI Gateway</a:t>
            </a:r>
            <a:endParaRPr lang="en-US" sz="1400" dirty="0"/>
          </a:p>
        </p:txBody>
      </p:sp>
      <p:sp>
        <p:nvSpPr>
          <p:cNvPr id="8" name="Basis card"/>
          <p:cNvSpPr/>
          <p:nvPr/>
        </p:nvSpPr>
        <p:spPr>
          <a:xfrm>
            <a:off x="6309360" y="1280160"/>
            <a:ext cx="5303520" cy="4480560"/>
          </a:xfrm>
          <a:prstGeom prst="roundRect">
            <a:avLst>
              <a:gd name="adj" fmla="val 2449"/>
            </a:avLst>
          </a:prstGeom>
          <a:solidFill>
            <a:schemeClr val="bg2"/>
          </a:solidFill>
          <a:ln/>
        </p:spPr>
      </p:sp>
      <p:sp>
        <p:nvSpPr>
          <p:cNvPr id="9" name="Pricing basis circle"/>
          <p:cNvSpPr/>
          <p:nvPr/>
        </p:nvSpPr>
        <p:spPr>
          <a:xfrm>
            <a:off x="6537960" y="1463040"/>
            <a:ext cx="502920" cy="502920"/>
          </a:xfrm>
          <a:prstGeom prst="ellipse">
            <a:avLst/>
          </a:prstGeom>
          <a:solidFill>
            <a:schemeClr val="accent2"/>
          </a:solidFill>
          <a:ln/>
        </p:spPr>
      </p:sp>
      <p:pic>
        <p:nvPicPr>
          <p:cNvPr id="10" name="Pricing basis icon" descr="Pricing basis">    </p:cNvPr>
          <p:cNvPicPr>
            <a:picLocks noChangeAspect="1"/>
          </p:cNvPicPr>
          <p:nvPr/>
        </p:nvPicPr>
        <p:blipFill>
          <a:blip r:embed="rId2"/>
          <a:stretch>
            <a:fillRect/>
          </a:stretch>
        </p:blipFill>
        <p:spPr>
          <a:xfrm>
            <a:off x="6648602" y="1573682"/>
            <a:ext cx="281635" cy="281635"/>
          </a:xfrm>
          <a:prstGeom prst="rect">
            <a:avLst/>
          </a:prstGeom>
        </p:spPr>
      </p:pic>
      <p:sp>
        <p:nvSpPr>
          <p:cNvPr id="11" name="Basis head"/>
          <p:cNvSpPr txBox="1"/>
          <p:nvPr/>
        </p:nvSpPr>
        <p:spPr>
          <a:xfrm>
            <a:off x="7223760" y="1508760"/>
            <a:ext cx="4206240" cy="411480"/>
          </a:xfrm>
          <a:prstGeom prst="rect">
            <a:avLst/>
          </a:prstGeom>
          <a:noFill/>
          <a:ln/>
        </p:spPr>
        <p:txBody>
          <a:bodyPr wrap="square" lIns="0" tIns="0" rIns="0" bIns="0" rtlCol="0" anchor="ctr"/>
          <a:lstStyle/>
          <a:p>
            <a:pPr indent="0" marL="0">
              <a:buNone/>
            </a:pPr>
            <a:r>
              <a:rPr lang="en-US" sz="1600" b="1" dirty="0">
                <a:solidFill>
                  <a:schemeClr val="tx1"/>
                </a:solidFill>
              </a:rPr>
              <a:t>Pricing basis and limits</a:t>
            </a:r>
            <a:endParaRPr lang="en-US" sz="1600" dirty="0"/>
          </a:p>
        </p:txBody>
      </p:sp>
      <p:sp>
        <p:nvSpPr>
          <p:cNvPr id="12" name="Basis list"/>
          <p:cNvSpPr txBox="1"/>
          <p:nvPr/>
        </p:nvSpPr>
        <p:spPr>
          <a:xfrm>
            <a:off x="6537960" y="2103120"/>
            <a:ext cx="4892040" cy="3566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AgentCore Runtime v1: $0.0895 per vCPU-hour, $0.00945 per GB-hour; v2: $0.1276 and $0.0169</a:t>
            </a:r>
            <a:endParaRPr lang="en-US" sz="1400" dirty="0"/>
          </a:p>
          <a:p>
            <a:pPr marL="342900" indent="-342900">
              <a:spcAft>
                <a:spcPts val="600"/>
              </a:spcAft>
              <a:buSzPct val="100000"/>
              <a:buChar char="•"/>
            </a:pPr>
            <a:r>
              <a:rPr lang="en-US" sz="1300" dirty="0">
                <a:solidFill>
                  <a:schemeClr val="tx1"/>
                </a:solidFill>
              </a:rPr>
              <a:t>Foundry hosted agents (East US): $0.0994 per vCPU-hour, $0.0118 per GiB-hour</a:t>
            </a:r>
            <a:endParaRPr lang="en-US" sz="1400" dirty="0"/>
          </a:p>
          <a:p>
            <a:pPr marL="342900" indent="-342900">
              <a:spcAft>
                <a:spcPts val="600"/>
              </a:spcAft>
              <a:buSzPct val="100000"/>
              <a:buChar char="•"/>
            </a:pPr>
            <a:r>
              <a:rPr lang="en-US" sz="1300" dirty="0">
                <a:solidFill>
                  <a:schemeClr val="tx1"/>
                </a:solidFill>
              </a:rPr>
              <a:t>Several rates were confirmed through third-party pages; verify on vendor pricing pages before budgeting</a:t>
            </a:r>
            <a:endParaRPr lang="en-US" sz="1400" dirty="0"/>
          </a:p>
          <a:p>
            <a:pPr marL="342900" indent="-342900">
              <a:spcAft>
                <a:spcPts val="600"/>
              </a:spcAft>
              <a:buSzPct val="100000"/>
              <a:buChar char="•"/>
            </a:pPr>
            <a:r>
              <a:rPr lang="en-US" sz="1300" dirty="0">
                <a:solidFill>
                  <a:schemeClr val="tx1"/>
                </a:solidFill>
              </a:rPr>
              <a:t>Scores are architect judgment, not benchmarks; the PoC is the validation step</a:t>
            </a:r>
            <a:endParaRPr lang="en-US" sz="1400" dirty="0"/>
          </a:p>
          <a:p>
            <a:pPr marL="342900" indent="-342900">
              <a:spcAft>
                <a:spcPts val="600"/>
              </a:spcAft>
              <a:buSzPct val="100000"/>
              <a:buChar char="•"/>
            </a:pPr>
            <a:r>
              <a:rPr lang="en-US" sz="1300" dirty="0">
                <a:solidFill>
                  <a:schemeClr val="tx1"/>
                </a:solidFill>
              </a:rPr>
              <a:t>Databricks assumed on Azure; preview status of features should be re-checked at decision time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gentRuntimeBrief">
  <a:themeElements>
    <a:clrScheme name="AgentRuntimeBrief">
      <a:dk1>
        <a:srgbClr val="0B1F33"/>
      </a:dk1>
      <a:lt1>
        <a:srgbClr val="FFFFFF"/>
      </a:lt1>
      <a:dk2>
        <a:srgbClr val="16324F"/>
      </a:dk2>
      <a:lt2>
        <a:srgbClr val="EEF2F6"/>
      </a:lt2>
      <a:accent1>
        <a:srgbClr val="0F6CBD"/>
      </a:accent1>
      <a:accent2>
        <a:srgbClr val="E07B00"/>
      </a:accent2>
      <a:accent3>
        <a:srgbClr val="12A594"/>
      </a:accent3>
      <a:accent4>
        <a:srgbClr val="6B7C93"/>
      </a:accent4>
      <a:accent5>
        <a:srgbClr val="C0392B"/>
      </a:accent5>
      <a:accent6>
        <a:srgbClr val="F2B705"/>
      </a:accent6>
      <a:hlink>
        <a:srgbClr val="0F6CBD"/>
      </a:hlink>
      <a:folHlink>
        <a:srgbClr val="6B7C93"/>
      </a:folHlink>
    </a:clrScheme>
    <a:fontScheme name="AgentRuntimeBrie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Standardizing the Agentic Runtime: AWS Bedrock AgentCore vs. Microsoft Foundry</dc:title>
  <dc:subject>PptxGenJS Presentation</dc:subject>
  <dc:creator>Agentic Architecture</dc:creator>
  <cp:lastModifiedBy>Agentic Architecture</cp:lastModifiedBy>
  <cp:revision>1</cp:revision>
  <dcterms:created xsi:type="dcterms:W3CDTF">2026-10-27T10:56:48Z</dcterms:created>
  <dcterms:modified xsi:type="dcterms:W3CDTF">2026-10-27T10:56:48Z</dcterms:modified>
</cp:coreProperties>
</file>