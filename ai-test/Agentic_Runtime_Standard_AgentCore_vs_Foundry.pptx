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AgentCore</c:v>
                </c:pt>
              </c:strCache>
            </c:strRef>
          </c:tx>
          <c:spPr>
            <a:solidFill>
              <a:srgbClr val="D9730D"/>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Security &amp; identity (20%)</c:v>
                  </c:pt>
                  <c:pt idx="1">
                    <c:v>Guardrails &amp; policy (15%)</c:v>
                  </c:pt>
                  <c:pt idx="2">
                    <c:v>Observability (10%)</c:v>
                  </c:pt>
                  <c:pt idx="3">
                    <c:v>Runtime capability (15%)</c:v>
                  </c:pt>
                  <c:pt idx="4">
                    <c:v>Fit with Entra / Kong / Dynatrace (10%)</c:v>
                  </c:pt>
                  <c:pt idx="5">
                    <c:v>Cost (10%)</c:v>
                  </c:pt>
                  <c:pt idx="6">
                    <c:v>Operational overhead (10%)</c:v>
                  </c:pt>
                  <c:pt idx="7">
                    <c:v>Future-proofing (10%)</c:v>
                  </c:pt>
                </c:lvl>
              </c:multiLvlStrCache>
            </c:multiLvlStrRef>
          </c:cat>
          <c:val>
            <c:numRef>
              <c:f>Sheet1!$B$2:$B$9</c:f>
              <c:numCache>
                <c:formatCode>General</c:formatCode>
                <c:ptCount val="8"/>
                <c:pt idx="0">
                  <c:v>4</c:v>
                </c:pt>
                <c:pt idx="1">
                  <c:v>4.5</c:v>
                </c:pt>
                <c:pt idx="2">
                  <c:v>4</c:v>
                </c:pt>
                <c:pt idx="3">
                  <c:v>4.5</c:v>
                </c:pt>
                <c:pt idx="4">
                  <c:v>3.5</c:v>
                </c:pt>
                <c:pt idx="5">
                  <c:v>3.5</c:v>
                </c:pt>
                <c:pt idx="6">
                  <c:v>3.5</c:v>
                </c:pt>
                <c:pt idx="7">
                  <c:v>4</c:v>
                </c:pt>
              </c:numCache>
            </c:numRef>
          </c:val>
        </c:ser>
        <c:ser>
          <c:idx val="1"/>
          <c:order val="1"/>
          <c:tx>
            <c:strRef>
              <c:f>Sheet1!$C$1</c:f>
              <c:strCache>
                <c:ptCount val="1"/>
                <c:pt idx="0">
                  <c:v>Foundry</c:v>
                </c:pt>
              </c:strCache>
            </c:strRef>
          </c:tx>
          <c:spPr>
            <a:solidFill>
              <a:srgbClr val="1B6EC2"/>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Security &amp; identity (20%)</c:v>
                  </c:pt>
                  <c:pt idx="1">
                    <c:v>Guardrails &amp; policy (15%)</c:v>
                  </c:pt>
                  <c:pt idx="2">
                    <c:v>Observability (10%)</c:v>
                  </c:pt>
                  <c:pt idx="3">
                    <c:v>Runtime capability (15%)</c:v>
                  </c:pt>
                  <c:pt idx="4">
                    <c:v>Fit with Entra / Kong / Dynatrace (10%)</c:v>
                  </c:pt>
                  <c:pt idx="5">
                    <c:v>Cost (10%)</c:v>
                  </c:pt>
                  <c:pt idx="6">
                    <c:v>Operational overhead (10%)</c:v>
                  </c:pt>
                  <c:pt idx="7">
                    <c:v>Future-proofing (10%)</c:v>
                  </c:pt>
                </c:lvl>
              </c:multiLvlStrCache>
            </c:multiLvlStrRef>
          </c:cat>
          <c:val>
            <c:numRef>
              <c:f>Sheet1!$C$2:$C$9</c:f>
              <c:numCache>
                <c:formatCode>General</c:formatCode>
                <c:ptCount val="8"/>
                <c:pt idx="0">
                  <c:v>4.5</c:v>
                </c:pt>
                <c:pt idx="1">
                  <c:v>4</c:v>
                </c:pt>
                <c:pt idx="2">
                  <c:v>4</c:v>
                </c:pt>
                <c:pt idx="3">
                  <c:v>4</c:v>
                </c:pt>
                <c:pt idx="4">
                  <c:v>4.5</c:v>
                </c:pt>
                <c:pt idx="5">
                  <c:v>3.5</c:v>
                </c:pt>
                <c:pt idx="6">
                  <c:v>4</c:v>
                </c:pt>
                <c:pt idx="7">
                  <c:v>4</c:v>
                </c:pt>
              </c:numCache>
            </c:numRef>
          </c:val>
        </c:ser>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6350" cap="flat">
              <a:solidFill>
                <a:srgbClr val="E3E7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recommend how we standardize an agentic runtime. Both platforms are production-ready; the analysis is deliberately even-handed and flags where claims still need proof-of-concept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Weighted scores are an architect judgment (slide 9), within margin of error. The recommendation standardizes the control plane and sets a placement rule, instead of forcing one runtime. If leadership requires a single runtime, use the tiebreak on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Kong already fronts every LLM call, prompt/response guardrails and model routing can be enforced once, at Kong. The runtime then matters mostly for agent identity, tool-call authorization, isolation, and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AgentCore GA'd Oct 2025 as modular services. Foundry hosted agents reached GA in July 2026; some adjacent features (memory, Toolbox) remain preview. Sandbox caps and idle-session retention for Foundry come from a third-party review; confirm against current Microsoft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calls reflect our Entra standard. Entra Agent ID is reported GA (April 2026). AgentCore Policy evaluates every Gateway tool call deterministically with Cedar. Foundry offers built-in guardrails, red teaming and DLP controls. With Kong in front of the LLM, runtime guardrails become defense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Overlap risk: AgentCore Gateway can also front models and tools, and Kong 3.12+ has an MCP proxy. Decide one owner for LLM traffic (Kong) and one for tools. Dynatrace integrations exist for both runtimes; AgentCore also bills telemetry in CloudWatch, so avoid double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prices as of Oct 2026: AgentCore from AWS pricing page (us-east-1); Foundry from Azure pricing (East US, USD). The meters differ, so a like-for-like number needs a PoC workload. LLM tokens usually dwarf both platform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AgentCore is a set of building blocks: more design freedom, more assembly. Foundry is more integrated but ties value to Azure and Microsoft 365. Both support open protocols (MCP, A2A, OpenTelemetry), which keeps exit costs manageable if we hold the standard contract on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and weights are an architect judgment from public documentation, not benchmark results. Change the weights (for example, raise cost or AWS data gravity) and the lead flips, which is the point: the decision follows our priorities. Validate in the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is the recommendation. If leadership insists on a single runtime, apply the tiebreak: majority of tools and data on AWS means AgentCore; majority of users in Microsoft 365 and data in Azure means Foundry. Option C costs duplicated skills, which the shared standard contract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makes the runtime choice reversible. The PoC builds one reference agent on both platforms with identical tools, Kong routing, Entra identity and Dynatrace tracing, and measures them against the exit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and feature status change quickly; re-verify before committing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B2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rgbClr val="0F1B2D"/>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10515600" cy="14630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Choosing the Enterprise Agentic Runtime Standard</a:t>
            </a:r>
            <a:endParaRPr lang="en-US" sz="4400" dirty="0"/>
          </a:p>
        </p:txBody>
      </p:sp>
      <p:sp>
        <p:nvSpPr>
          <p:cNvPr id="3" name="Text 1"/>
          <p:cNvSpPr txBox="1"/>
          <p:nvPr/>
        </p:nvSpPr>
        <p:spPr>
          <a:xfrm>
            <a:off x="731520" y="3291840"/>
            <a:ext cx="10515600" cy="548640"/>
          </a:xfrm>
          <a:prstGeom prst="rect">
            <a:avLst/>
          </a:prstGeom>
          <a:noFill/>
          <a:ln/>
        </p:spPr>
        <p:txBody>
          <a:bodyPr wrap="square" lIns="0" tIns="0" rIns="0" bIns="0" rtlCol="0" anchor="ctr"/>
          <a:lstStyle/>
          <a:p>
            <a:pPr indent="0" marL="0">
              <a:buNone/>
            </a:pPr>
            <a:r>
              <a:rPr lang="en-US" sz="2400" dirty="0">
                <a:solidFill>
                  <a:srgbClr val="F4B676"/>
                </a:solidFill>
              </a:rPr>
              <a:t>AWS Bedrock AgentCore vs Microsoft Foundry Agent Service</a:t>
            </a:r>
            <a:endParaRPr lang="en-US" sz="2400" dirty="0"/>
          </a:p>
        </p:txBody>
      </p:sp>
      <p:sp>
        <p:nvSpPr>
          <p:cNvPr id="4" name="Text 2"/>
          <p:cNvSpPr txBox="1"/>
          <p:nvPr/>
        </p:nvSpPr>
        <p:spPr>
          <a:xfrm>
            <a:off x="731520" y="4114800"/>
            <a:ext cx="10515600" cy="457200"/>
          </a:xfrm>
          <a:prstGeom prst="rect">
            <a:avLst/>
          </a:prstGeom>
          <a:noFill/>
          <a:ln/>
        </p:spPr>
        <p:txBody>
          <a:bodyPr wrap="square" lIns="0" tIns="0" rIns="0" bIns="0" rtlCol="0" anchor="ctr"/>
          <a:lstStyle/>
          <a:p>
            <a:pPr indent="0" marL="0">
              <a:buNone/>
            </a:pPr>
            <a:r>
              <a:rPr lang="en-US" sz="1600" dirty="0">
                <a:solidFill>
                  <a:srgbClr val="C5CEDA"/>
                </a:solidFill>
              </a:rPr>
              <a:t>Architecture evaluation for Senior Leadership  |  Context: Entra ID, Kong AI Gateway, Dynatrace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Executive summary: no universal winner</a:t>
            </a:r>
            <a:endParaRPr lang="en-US" sz="3200" dirty="0"/>
          </a:p>
        </p:txBody>
      </p:sp>
      <p:sp>
        <p:nvSpPr>
          <p:cNvPr id="4" name="Shape 1"/>
          <p:cNvSpPr/>
          <p:nvPr/>
        </p:nvSpPr>
        <p:spPr>
          <a:xfrm>
            <a:off x="548640" y="1463040"/>
            <a:ext cx="3566160" cy="2103120"/>
          </a:xfrm>
          <a:prstGeom prst="roundRect">
            <a:avLst>
              <a:gd name="adj" fmla="val 4348"/>
            </a:avLst>
          </a:prstGeom>
          <a:solidFill>
            <a:srgbClr val="F1F4F8"/>
          </a:solidFill>
          <a:ln w="12700">
            <a:solidFill>
              <a:srgbClr val="F1F4F8"/>
            </a:solidFill>
            <a:prstDash val="solid"/>
          </a:ln>
        </p:spPr>
      </p:sp>
      <p:sp>
        <p:nvSpPr>
          <p:cNvPr id="5" name="Text 2"/>
          <p:cNvSpPr txBox="1"/>
          <p:nvPr/>
        </p:nvSpPr>
        <p:spPr>
          <a:xfrm>
            <a:off x="777240" y="1645920"/>
            <a:ext cx="3108960" cy="822960"/>
          </a:xfrm>
          <a:prstGeom prst="rect">
            <a:avLst/>
          </a:prstGeom>
          <a:noFill/>
          <a:ln/>
        </p:spPr>
        <p:txBody>
          <a:bodyPr wrap="square" lIns="0" tIns="0" rIns="0" bIns="0" rtlCol="0" anchor="ctr"/>
          <a:lstStyle/>
          <a:p>
            <a:pPr indent="0" marL="0">
              <a:buNone/>
            </a:pPr>
            <a:r>
              <a:rPr lang="en-US" sz="3800" b="1" dirty="0">
                <a:solidFill>
                  <a:srgbClr val="0F766E"/>
                </a:solidFill>
                <a:latin typeface="Cambria" pitchFamily="34" charset="0"/>
                <a:ea typeface="Cambria" pitchFamily="34" charset="-122"/>
                <a:cs typeface="Cambria" pitchFamily="34" charset="-120"/>
              </a:rPr>
              <a:t>4.0 vs 4.1</a:t>
            </a:r>
            <a:endParaRPr lang="en-US" sz="3800" dirty="0"/>
          </a:p>
        </p:txBody>
      </p:sp>
      <p:sp>
        <p:nvSpPr>
          <p:cNvPr id="6" name="Text 3"/>
          <p:cNvSpPr txBox="1"/>
          <p:nvPr/>
        </p:nvSpPr>
        <p:spPr>
          <a:xfrm>
            <a:off x="777240" y="2560320"/>
            <a:ext cx="3108960" cy="914400"/>
          </a:xfrm>
          <a:prstGeom prst="rect">
            <a:avLst/>
          </a:prstGeom>
          <a:noFill/>
          <a:ln/>
        </p:spPr>
        <p:txBody>
          <a:bodyPr wrap="square" lIns="0" tIns="0" rIns="0" bIns="0" rtlCol="0" anchor="ctr"/>
          <a:lstStyle/>
          <a:p>
            <a:pPr indent="0" marL="0">
              <a:buNone/>
            </a:pPr>
            <a:r>
              <a:rPr lang="en-US" sz="1500" dirty="0">
                <a:solidFill>
                  <a:srgbClr val="1B2430"/>
                </a:solidFill>
              </a:rPr>
              <a:t>Weighted score, AgentCore vs Foundry (5-pt scale). Within margin of error</a:t>
            </a:r>
            <a:endParaRPr lang="en-US" sz="1500" dirty="0"/>
          </a:p>
        </p:txBody>
      </p:sp>
      <p:sp>
        <p:nvSpPr>
          <p:cNvPr id="7" name="Shape 4"/>
          <p:cNvSpPr/>
          <p:nvPr/>
        </p:nvSpPr>
        <p:spPr>
          <a:xfrm>
            <a:off x="4297680" y="1463040"/>
            <a:ext cx="3566160" cy="2103120"/>
          </a:xfrm>
          <a:prstGeom prst="roundRect">
            <a:avLst>
              <a:gd name="adj" fmla="val 4348"/>
            </a:avLst>
          </a:prstGeom>
          <a:solidFill>
            <a:srgbClr val="F1F4F8"/>
          </a:solidFill>
          <a:ln w="12700">
            <a:solidFill>
              <a:srgbClr val="F1F4F8"/>
            </a:solidFill>
            <a:prstDash val="solid"/>
          </a:ln>
        </p:spPr>
      </p:sp>
      <p:sp>
        <p:nvSpPr>
          <p:cNvPr id="8" name="Text 5"/>
          <p:cNvSpPr txBox="1"/>
          <p:nvPr/>
        </p:nvSpPr>
        <p:spPr>
          <a:xfrm>
            <a:off x="4526280" y="1645920"/>
            <a:ext cx="3108960" cy="822960"/>
          </a:xfrm>
          <a:prstGeom prst="rect">
            <a:avLst/>
          </a:prstGeom>
          <a:noFill/>
          <a:ln/>
        </p:spPr>
        <p:txBody>
          <a:bodyPr wrap="square" lIns="0" tIns="0" rIns="0" bIns="0" rtlCol="0" anchor="ctr"/>
          <a:lstStyle/>
          <a:p>
            <a:pPr indent="0" marL="0">
              <a:buNone/>
            </a:pPr>
            <a:r>
              <a:rPr lang="en-US" sz="3800" b="1" dirty="0">
                <a:solidFill>
                  <a:srgbClr val="0F766E"/>
                </a:solidFill>
                <a:latin typeface="Cambria" pitchFamily="34" charset="0"/>
                <a:ea typeface="Cambria" pitchFamily="34" charset="-122"/>
                <a:cs typeface="Cambria" pitchFamily="34" charset="-120"/>
              </a:rPr>
              <a:t>3 of 3</a:t>
            </a:r>
            <a:endParaRPr lang="en-US" sz="3800" dirty="0"/>
          </a:p>
        </p:txBody>
      </p:sp>
      <p:sp>
        <p:nvSpPr>
          <p:cNvPr id="9" name="Text 6"/>
          <p:cNvSpPr txBox="1"/>
          <p:nvPr/>
        </p:nvSpPr>
        <p:spPr>
          <a:xfrm>
            <a:off x="4526280" y="2560320"/>
            <a:ext cx="3108960" cy="914400"/>
          </a:xfrm>
          <a:prstGeom prst="rect">
            <a:avLst/>
          </a:prstGeom>
          <a:noFill/>
          <a:ln/>
        </p:spPr>
        <p:txBody>
          <a:bodyPr wrap="square" lIns="0" tIns="0" rIns="0" bIns="0" rtlCol="0" anchor="ctr"/>
          <a:lstStyle/>
          <a:p>
            <a:pPr indent="0" marL="0">
              <a:buNone/>
            </a:pPr>
            <a:r>
              <a:rPr lang="en-US" sz="1500" dirty="0">
                <a:solidFill>
                  <a:srgbClr val="1B2430"/>
                </a:solidFill>
              </a:rPr>
              <a:t>Fixed controls (Entra ID, Kong, Dynatrace) are supported by both runtimes</a:t>
            </a:r>
            <a:endParaRPr lang="en-US" sz="1500" dirty="0"/>
          </a:p>
        </p:txBody>
      </p:sp>
      <p:sp>
        <p:nvSpPr>
          <p:cNvPr id="10" name="Shape 7"/>
          <p:cNvSpPr/>
          <p:nvPr/>
        </p:nvSpPr>
        <p:spPr>
          <a:xfrm>
            <a:off x="8046720" y="1463040"/>
            <a:ext cx="3566160" cy="2103120"/>
          </a:xfrm>
          <a:prstGeom prst="roundRect">
            <a:avLst>
              <a:gd name="adj" fmla="val 4348"/>
            </a:avLst>
          </a:prstGeom>
          <a:solidFill>
            <a:srgbClr val="F1F4F8"/>
          </a:solidFill>
          <a:ln w="12700">
            <a:solidFill>
              <a:srgbClr val="F1F4F8"/>
            </a:solidFill>
            <a:prstDash val="solid"/>
          </a:ln>
        </p:spPr>
      </p:sp>
      <p:sp>
        <p:nvSpPr>
          <p:cNvPr id="11" name="Text 8"/>
          <p:cNvSpPr txBox="1"/>
          <p:nvPr/>
        </p:nvSpPr>
        <p:spPr>
          <a:xfrm>
            <a:off x="8275320" y="1645920"/>
            <a:ext cx="3108960" cy="822960"/>
          </a:xfrm>
          <a:prstGeom prst="rect">
            <a:avLst/>
          </a:prstGeom>
          <a:noFill/>
          <a:ln/>
        </p:spPr>
        <p:txBody>
          <a:bodyPr wrap="square" lIns="0" tIns="0" rIns="0" bIns="0" rtlCol="0" anchor="ctr"/>
          <a:lstStyle/>
          <a:p>
            <a:pPr indent="0" marL="0">
              <a:buNone/>
            </a:pPr>
            <a:r>
              <a:rPr lang="en-US" sz="3800" b="1" dirty="0">
                <a:solidFill>
                  <a:srgbClr val="0F766E"/>
                </a:solidFill>
                <a:latin typeface="Cambria" pitchFamily="34" charset="0"/>
                <a:ea typeface="Cambria" pitchFamily="34" charset="-122"/>
                <a:cs typeface="Cambria" pitchFamily="34" charset="-120"/>
              </a:rPr>
              <a:t>Data gravity</a:t>
            </a:r>
            <a:endParaRPr lang="en-US" sz="3800" dirty="0"/>
          </a:p>
        </p:txBody>
      </p:sp>
      <p:sp>
        <p:nvSpPr>
          <p:cNvPr id="12" name="Text 9"/>
          <p:cNvSpPr txBox="1"/>
          <p:nvPr/>
        </p:nvSpPr>
        <p:spPr>
          <a:xfrm>
            <a:off x="8275320" y="2560320"/>
            <a:ext cx="3108960" cy="914400"/>
          </a:xfrm>
          <a:prstGeom prst="rect">
            <a:avLst/>
          </a:prstGeom>
          <a:noFill/>
          <a:ln/>
        </p:spPr>
        <p:txBody>
          <a:bodyPr wrap="square" lIns="0" tIns="0" rIns="0" bIns="0" rtlCol="0" anchor="ctr"/>
          <a:lstStyle/>
          <a:p>
            <a:pPr indent="0" marL="0">
              <a:buNone/>
            </a:pPr>
            <a:r>
              <a:rPr lang="en-US" sz="1500" dirty="0">
                <a:solidFill>
                  <a:srgbClr val="1B2430"/>
                </a:solidFill>
              </a:rPr>
              <a:t>Where tools, data and users live is the real deciding factor</a:t>
            </a:r>
            <a:endParaRPr lang="en-US" sz="1500" dirty="0"/>
          </a:p>
        </p:txBody>
      </p:sp>
      <p:sp>
        <p:nvSpPr>
          <p:cNvPr id="13" name="Text 10"/>
          <p:cNvSpPr txBox="1"/>
          <p:nvPr/>
        </p:nvSpPr>
        <p:spPr>
          <a:xfrm>
            <a:off x="548640" y="3931920"/>
            <a:ext cx="11064240" cy="1188720"/>
          </a:xfrm>
          <a:prstGeom prst="rect">
            <a:avLst/>
          </a:prstGeom>
          <a:noFill/>
          <a:ln/>
        </p:spPr>
        <p:txBody>
          <a:bodyPr wrap="square" lIns="0" tIns="0" rIns="0" bIns="0" rtlCol="0" anchor="ctr"/>
          <a:lstStyle/>
          <a:p>
            <a:pPr indent="0" marL="0">
              <a:buNone/>
            </a:pPr>
            <a:r>
              <a:rPr lang="en-US" sz="1800" b="1" dirty="0">
                <a:solidFill>
                  <a:srgbClr val="0F766E"/>
                </a:solidFill>
              </a:rPr>
              <a:t>Recommendation: </a:t>
            </a:r>
            <a:pPr indent="0" marL="0">
              <a:buNone/>
            </a:pPr>
            <a:r>
              <a:rPr lang="en-US" sz="1800" dirty="0">
                <a:solidFill>
                  <a:srgbClr val="1B2430"/>
                </a:solidFill>
              </a:rPr>
              <a:t>standardize the control plane (Entra ID, Kong, Dynatrace, MCP/A2A, OpenTelemetry, policy-as-code), approve both runtimes, and place each agent next to its data and tools. Validate with a 6-week proof of concept before committing to a single-runtime consolidation.</a:t>
            </a:r>
            <a:endParaRPr lang="en-US" sz="1800" dirty="0"/>
          </a:p>
        </p:txBody>
      </p:sp>
      <p:sp>
        <p:nvSpPr>
          <p:cNvPr id="14" name="Shape 11"/>
          <p:cNvSpPr/>
          <p:nvPr/>
        </p:nvSpPr>
        <p:spPr>
          <a:xfrm>
            <a:off x="548640" y="5669280"/>
            <a:ext cx="11064240" cy="640080"/>
          </a:xfrm>
          <a:prstGeom prst="roundRect">
            <a:avLst>
              <a:gd name="adj" fmla="val 11429"/>
            </a:avLst>
          </a:prstGeom>
          <a:solidFill>
            <a:srgbClr val="F1F4F8"/>
          </a:solidFill>
          <a:ln w="12700">
            <a:solidFill>
              <a:srgbClr val="F1F4F8"/>
            </a:solidFill>
            <a:prstDash val="solid"/>
          </a:ln>
        </p:spPr>
      </p:sp>
      <p:sp>
        <p:nvSpPr>
          <p:cNvPr id="15" name="Text 12"/>
          <p:cNvSpPr txBox="1"/>
          <p:nvPr/>
        </p:nvSpPr>
        <p:spPr>
          <a:xfrm>
            <a:off x="777240" y="5669280"/>
            <a:ext cx="10607040" cy="640080"/>
          </a:xfrm>
          <a:prstGeom prst="rect">
            <a:avLst/>
          </a:prstGeom>
          <a:noFill/>
          <a:ln/>
        </p:spPr>
        <p:txBody>
          <a:bodyPr wrap="square" lIns="0" tIns="0" rIns="0" bIns="0" rtlCol="0" anchor="ctr"/>
          <a:lstStyle/>
          <a:p>
            <a:pPr indent="0" marL="0">
              <a:buNone/>
            </a:pPr>
            <a:r>
              <a:rPr lang="en-US" sz="1500" b="1" dirty="0">
                <a:solidFill>
                  <a:srgbClr val="0F1B2D"/>
                </a:solidFill>
              </a:rPr>
              <a:t>Choose by workload placement and risk appetite, not by feature checklist alone.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Fixed constraints shrink the differences</a:t>
            </a:r>
            <a:endParaRPr lang="en-US" sz="3200" dirty="0"/>
          </a:p>
        </p:txBody>
      </p:sp>
      <p:sp>
        <p:nvSpPr>
          <p:cNvPr id="4" name="Shape 1"/>
          <p:cNvSpPr/>
          <p:nvPr/>
        </p:nvSpPr>
        <p:spPr>
          <a:xfrm>
            <a:off x="548640" y="1463040"/>
            <a:ext cx="3566160" cy="3566160"/>
          </a:xfrm>
          <a:prstGeom prst="roundRect">
            <a:avLst>
              <a:gd name="adj" fmla="val 2564"/>
            </a:avLst>
          </a:prstGeom>
          <a:solidFill>
            <a:srgbClr val="F1F4F8"/>
          </a:solidFill>
          <a:ln w="12700">
            <a:solidFill>
              <a:srgbClr val="F1F4F8"/>
            </a:solidFill>
            <a:prstDash val="solid"/>
          </a:ln>
        </p:spPr>
      </p:sp>
      <p:sp>
        <p:nvSpPr>
          <p:cNvPr id="5" name="Shape 2"/>
          <p:cNvSpPr/>
          <p:nvPr/>
        </p:nvSpPr>
        <p:spPr>
          <a:xfrm>
            <a:off x="777240" y="1691640"/>
            <a:ext cx="640080" cy="640080"/>
          </a:xfrm>
          <a:prstGeom prst="ellipse">
            <a:avLst/>
          </a:prstGeom>
          <a:solidFill>
            <a:srgbClr val="0F766E"/>
          </a:solidFill>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7" name="Text 4"/>
          <p:cNvSpPr txBox="1"/>
          <p:nvPr/>
        </p:nvSpPr>
        <p:spPr>
          <a:xfrm>
            <a:off x="777240" y="2514600"/>
            <a:ext cx="3108960" cy="45720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Entra ID</a:t>
            </a:r>
            <a:endParaRPr lang="en-US" sz="2400" dirty="0"/>
          </a:p>
        </p:txBody>
      </p:sp>
      <p:sp>
        <p:nvSpPr>
          <p:cNvPr id="8" name="Text 5"/>
          <p:cNvSpPr txBox="1"/>
          <p:nvPr/>
        </p:nvSpPr>
        <p:spPr>
          <a:xfrm>
            <a:off x="777240" y="3017520"/>
            <a:ext cx="3108960" cy="548640"/>
          </a:xfrm>
          <a:prstGeom prst="rect">
            <a:avLst/>
          </a:prstGeom>
          <a:noFill/>
          <a:ln/>
        </p:spPr>
        <p:txBody>
          <a:bodyPr wrap="square" lIns="0" tIns="0" rIns="0" bIns="0" rtlCol="0" anchor="ctr"/>
          <a:lstStyle/>
          <a:p>
            <a:pPr indent="0" marL="0">
              <a:buNone/>
            </a:pPr>
            <a:r>
              <a:rPr lang="en-US" sz="1500" b="1" dirty="0">
                <a:solidFill>
                  <a:srgbClr val="0F766E"/>
                </a:solidFill>
              </a:rPr>
              <a:t>Identity provider for agents and users</a:t>
            </a:r>
            <a:endParaRPr lang="en-US" sz="1500" dirty="0"/>
          </a:p>
        </p:txBody>
      </p:sp>
      <p:sp>
        <p:nvSpPr>
          <p:cNvPr id="9" name="Text 6"/>
          <p:cNvSpPr txBox="1"/>
          <p:nvPr/>
        </p:nvSpPr>
        <p:spPr>
          <a:xfrm>
            <a:off x="777240" y="3657600"/>
            <a:ext cx="3108960" cy="1280160"/>
          </a:xfrm>
          <a:prstGeom prst="rect">
            <a:avLst/>
          </a:prstGeom>
          <a:noFill/>
          <a:ln/>
        </p:spPr>
        <p:txBody>
          <a:bodyPr wrap="square" lIns="0" tIns="0" rIns="0" bIns="0" rtlCol="0" anchor="ctr"/>
          <a:lstStyle/>
          <a:p>
            <a:pPr indent="0" marL="0">
              <a:buNone/>
            </a:pPr>
            <a:r>
              <a:rPr lang="en-US" sz="1400" dirty="0">
                <a:solidFill>
                  <a:srgbClr val="1B2430"/>
                </a:solidFill>
              </a:rPr>
              <a:t>Foundry: native Entra Agent ID. AgentCore: federates with Entra via OIDC/OAuth</a:t>
            </a:r>
            <a:endParaRPr lang="en-US" sz="1400" dirty="0"/>
          </a:p>
        </p:txBody>
      </p:sp>
      <p:sp>
        <p:nvSpPr>
          <p:cNvPr id="10" name="Shape 7"/>
          <p:cNvSpPr/>
          <p:nvPr/>
        </p:nvSpPr>
        <p:spPr>
          <a:xfrm>
            <a:off x="4297680" y="1463040"/>
            <a:ext cx="3566160" cy="3566160"/>
          </a:xfrm>
          <a:prstGeom prst="roundRect">
            <a:avLst>
              <a:gd name="adj" fmla="val 2564"/>
            </a:avLst>
          </a:prstGeom>
          <a:solidFill>
            <a:srgbClr val="F1F4F8"/>
          </a:solidFill>
          <a:ln w="12700">
            <a:solidFill>
              <a:srgbClr val="F1F4F8"/>
            </a:solidFill>
            <a:prstDash val="solid"/>
          </a:ln>
        </p:spPr>
      </p:sp>
      <p:sp>
        <p:nvSpPr>
          <p:cNvPr id="11" name="Shape 8"/>
          <p:cNvSpPr/>
          <p:nvPr/>
        </p:nvSpPr>
        <p:spPr>
          <a:xfrm>
            <a:off x="4526280" y="1691640"/>
            <a:ext cx="640080" cy="640080"/>
          </a:xfrm>
          <a:prstGeom prst="ellipse">
            <a:avLst/>
          </a:prstGeom>
          <a:solidFill>
            <a:srgbClr val="0F766E"/>
          </a:solidFill>
          <a:ln/>
        </p:spPr>
      </p:sp>
      <p:sp>
        <p:nvSpPr>
          <p:cNvPr id="12" name="Text 9"/>
          <p:cNvSpPr txBox="1"/>
          <p:nvPr/>
        </p:nvSpPr>
        <p:spPr>
          <a:xfrm>
            <a:off x="4526280"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3" name="Text 10"/>
          <p:cNvSpPr txBox="1"/>
          <p:nvPr/>
        </p:nvSpPr>
        <p:spPr>
          <a:xfrm>
            <a:off x="4526280" y="2514600"/>
            <a:ext cx="3108960" cy="45720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Kong AI Gateway</a:t>
            </a:r>
            <a:endParaRPr lang="en-US" sz="2400" dirty="0"/>
          </a:p>
        </p:txBody>
      </p:sp>
      <p:sp>
        <p:nvSpPr>
          <p:cNvPr id="14" name="Text 11"/>
          <p:cNvSpPr txBox="1"/>
          <p:nvPr/>
        </p:nvSpPr>
        <p:spPr>
          <a:xfrm>
            <a:off x="4526280" y="3017520"/>
            <a:ext cx="3108960" cy="548640"/>
          </a:xfrm>
          <a:prstGeom prst="rect">
            <a:avLst/>
          </a:prstGeom>
          <a:noFill/>
          <a:ln/>
        </p:spPr>
        <p:txBody>
          <a:bodyPr wrap="square" lIns="0" tIns="0" rIns="0" bIns="0" rtlCol="0" anchor="ctr"/>
          <a:lstStyle/>
          <a:p>
            <a:pPr indent="0" marL="0">
              <a:buNone/>
            </a:pPr>
            <a:r>
              <a:rPr lang="en-US" sz="1500" b="1" dirty="0">
                <a:solidFill>
                  <a:srgbClr val="0F766E"/>
                </a:solidFill>
              </a:rPr>
              <a:t>All LLM requests routed through Kong</a:t>
            </a:r>
            <a:endParaRPr lang="en-US" sz="1500" dirty="0"/>
          </a:p>
        </p:txBody>
      </p:sp>
      <p:sp>
        <p:nvSpPr>
          <p:cNvPr id="15" name="Text 12"/>
          <p:cNvSpPr txBox="1"/>
          <p:nvPr/>
        </p:nvSpPr>
        <p:spPr>
          <a:xfrm>
            <a:off x="4526280" y="3657600"/>
            <a:ext cx="3108960" cy="1280160"/>
          </a:xfrm>
          <a:prstGeom prst="rect">
            <a:avLst/>
          </a:prstGeom>
          <a:noFill/>
          <a:ln/>
        </p:spPr>
        <p:txBody>
          <a:bodyPr wrap="square" lIns="0" tIns="0" rIns="0" bIns="0" rtlCol="0" anchor="ctr"/>
          <a:lstStyle/>
          <a:p>
            <a:pPr indent="0" marL="0">
              <a:buNone/>
            </a:pPr>
            <a:r>
              <a:rPr lang="en-US" sz="1400" dirty="0">
                <a:solidFill>
                  <a:srgbClr val="1B2430"/>
                </a:solidFill>
              </a:rPr>
              <a:t>Model guardrails, rate limits and routing live at Kong, so runtime model features matter less</a:t>
            </a:r>
            <a:endParaRPr lang="en-US" sz="1400" dirty="0"/>
          </a:p>
        </p:txBody>
      </p:sp>
      <p:sp>
        <p:nvSpPr>
          <p:cNvPr id="16" name="Shape 13"/>
          <p:cNvSpPr/>
          <p:nvPr/>
        </p:nvSpPr>
        <p:spPr>
          <a:xfrm>
            <a:off x="8046720" y="1463040"/>
            <a:ext cx="3566160" cy="3566160"/>
          </a:xfrm>
          <a:prstGeom prst="roundRect">
            <a:avLst>
              <a:gd name="adj" fmla="val 2564"/>
            </a:avLst>
          </a:prstGeom>
          <a:solidFill>
            <a:srgbClr val="F1F4F8"/>
          </a:solidFill>
          <a:ln w="12700">
            <a:solidFill>
              <a:srgbClr val="F1F4F8"/>
            </a:solidFill>
            <a:prstDash val="solid"/>
          </a:ln>
        </p:spPr>
      </p:sp>
      <p:sp>
        <p:nvSpPr>
          <p:cNvPr id="17" name="Shape 14"/>
          <p:cNvSpPr/>
          <p:nvPr/>
        </p:nvSpPr>
        <p:spPr>
          <a:xfrm>
            <a:off x="8275320" y="1691640"/>
            <a:ext cx="640080" cy="640080"/>
          </a:xfrm>
          <a:prstGeom prst="ellipse">
            <a:avLst/>
          </a:prstGeom>
          <a:solidFill>
            <a:srgbClr val="0F766E"/>
          </a:solidFill>
          <a:ln/>
        </p:spPr>
      </p:sp>
      <p:sp>
        <p:nvSpPr>
          <p:cNvPr id="18" name="Text 15"/>
          <p:cNvSpPr txBox="1"/>
          <p:nvPr/>
        </p:nvSpPr>
        <p:spPr>
          <a:xfrm>
            <a:off x="8275320"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9" name="Text 16"/>
          <p:cNvSpPr txBox="1"/>
          <p:nvPr/>
        </p:nvSpPr>
        <p:spPr>
          <a:xfrm>
            <a:off x="8275320" y="2514600"/>
            <a:ext cx="3108960" cy="45720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Dynatrace</a:t>
            </a:r>
            <a:endParaRPr lang="en-US" sz="2400" dirty="0"/>
          </a:p>
        </p:txBody>
      </p:sp>
      <p:sp>
        <p:nvSpPr>
          <p:cNvPr id="20" name="Text 17"/>
          <p:cNvSpPr txBox="1"/>
          <p:nvPr/>
        </p:nvSpPr>
        <p:spPr>
          <a:xfrm>
            <a:off x="8275320" y="3017520"/>
            <a:ext cx="3108960" cy="548640"/>
          </a:xfrm>
          <a:prstGeom prst="rect">
            <a:avLst/>
          </a:prstGeom>
          <a:noFill/>
          <a:ln/>
        </p:spPr>
        <p:txBody>
          <a:bodyPr wrap="square" lIns="0" tIns="0" rIns="0" bIns="0" rtlCol="0" anchor="ctr"/>
          <a:lstStyle/>
          <a:p>
            <a:pPr indent="0" marL="0">
              <a:buNone/>
            </a:pPr>
            <a:r>
              <a:rPr lang="en-US" sz="1500" b="1" dirty="0">
                <a:solidFill>
                  <a:srgbClr val="0F766E"/>
                </a:solidFill>
              </a:rPr>
              <a:t>Enterprise monitoring standard</a:t>
            </a:r>
            <a:endParaRPr lang="en-US" sz="1500" dirty="0"/>
          </a:p>
        </p:txBody>
      </p:sp>
      <p:sp>
        <p:nvSpPr>
          <p:cNvPr id="21" name="Text 18"/>
          <p:cNvSpPr txBox="1"/>
          <p:nvPr/>
        </p:nvSpPr>
        <p:spPr>
          <a:xfrm>
            <a:off x="8275320" y="3657600"/>
            <a:ext cx="3108960" cy="1280160"/>
          </a:xfrm>
          <a:prstGeom prst="rect">
            <a:avLst/>
          </a:prstGeom>
          <a:noFill/>
          <a:ln/>
        </p:spPr>
        <p:txBody>
          <a:bodyPr wrap="square" lIns="0" tIns="0" rIns="0" bIns="0" rtlCol="0" anchor="ctr"/>
          <a:lstStyle/>
          <a:p>
            <a:pPr indent="0" marL="0">
              <a:buNone/>
            </a:pPr>
            <a:r>
              <a:rPr lang="en-US" sz="1400" dirty="0">
                <a:solidFill>
                  <a:srgbClr val="1B2430"/>
                </a:solidFill>
              </a:rPr>
              <a:t>Both emit OpenTelemetry; Dynatrace lists integrations for AgentCore and Azure AI Foundry</a:t>
            </a:r>
            <a:endParaRPr lang="en-US" sz="1400" dirty="0"/>
          </a:p>
        </p:txBody>
      </p:sp>
      <p:sp>
        <p:nvSpPr>
          <p:cNvPr id="22" name="Shape 19"/>
          <p:cNvSpPr/>
          <p:nvPr/>
        </p:nvSpPr>
        <p:spPr>
          <a:xfrm>
            <a:off x="548640" y="5669280"/>
            <a:ext cx="11064240" cy="640080"/>
          </a:xfrm>
          <a:prstGeom prst="roundRect">
            <a:avLst>
              <a:gd name="adj" fmla="val 11429"/>
            </a:avLst>
          </a:prstGeom>
          <a:solidFill>
            <a:srgbClr val="F1F4F8"/>
          </a:solidFill>
          <a:ln w="12700">
            <a:solidFill>
              <a:srgbClr val="F1F4F8"/>
            </a:solidFill>
            <a:prstDash val="solid"/>
          </a:ln>
        </p:spPr>
      </p:sp>
      <p:sp>
        <p:nvSpPr>
          <p:cNvPr id="23" name="Text 20"/>
          <p:cNvSpPr txBox="1"/>
          <p:nvPr/>
        </p:nvSpPr>
        <p:spPr>
          <a:xfrm>
            <a:off x="777240" y="5669280"/>
            <a:ext cx="10607040" cy="640080"/>
          </a:xfrm>
          <a:prstGeom prst="rect">
            <a:avLst/>
          </a:prstGeom>
          <a:noFill/>
          <a:ln/>
        </p:spPr>
        <p:txBody>
          <a:bodyPr wrap="square" lIns="0" tIns="0" rIns="0" bIns="0" rtlCol="0" anchor="ctr"/>
          <a:lstStyle/>
          <a:p>
            <a:pPr indent="0" marL="0">
              <a:buNone/>
            </a:pPr>
            <a:r>
              <a:rPr lang="en-US" sz="1500" b="1" dirty="0">
                <a:solidFill>
                  <a:srgbClr val="0F1B2D"/>
                </a:solidFill>
              </a:rPr>
              <a:t>Differentiators left: agent identity, tool-plane governance, isolation, operations, cost.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Runtime and developer capabilities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4114800"/>
                <a:gridCol w="4114800"/>
                <a:gridCol w="109728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Dimension</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AWS Bedrock AgentCore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D9730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 Foundry Agent Service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6EC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Edge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F1B2D"/>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Maturity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GA since Oct 2025; some features still preview (Optimization Insights, managed session storage)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Hosted agents GA Jul 2026; memory, Toolbox, source-code deploy still preview</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9730D"/>
                          </a:solidFill>
                          <a:latin typeface="Calibri" pitchFamily="34" charset="0"/>
                          <a:ea typeface="Calibri" pitchFamily="34" charset="-122"/>
                          <a:cs typeface="Calibri" pitchFamily="34" charset="-120"/>
                        </a:rPr>
                        <a:t>AgentCore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Frameworks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Any: LangGraph, CrewAI, LlamaIndex, Google ADK, OpenAI Agents SDK, Strands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Agent Framework, LangGraph, OpenAI Agents SDK, custom loops (containers)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Models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Any model in or outside Bedrock</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Foundry catalog: OpenAI, Anthropic, Meta, Mistral and others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Isolation / compute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microVM per session; optional EC2-backed Instances, sessions up to 14 days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Per-session VM sandbox: 0.5 to 2 vCPU, 4 GiB max; idle sessions expire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9730D"/>
                          </a:solidFill>
                          <a:latin typeface="Calibri" pitchFamily="34" charset="0"/>
                          <a:ea typeface="Calibri" pitchFamily="34" charset="-122"/>
                          <a:cs typeface="Calibri" pitchFamily="34" charset="-120"/>
                        </a:rPr>
                        <a:t>AgentCore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Built-in tools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Browser, Code Interpreter, Memory, Registry, Web Search</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Foundry IQ, 1,400+ Logic Apps connectors, Teams / M365 Copilot publishing</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669280"/>
            <a:ext cx="11064240" cy="640080"/>
          </a:xfrm>
          <a:prstGeom prst="roundRect">
            <a:avLst>
              <a:gd name="adj" fmla="val 11429"/>
            </a:avLst>
          </a:prstGeom>
          <a:solidFill>
            <a:srgbClr val="F1F4F8"/>
          </a:solidFill>
          <a:ln w="12700">
            <a:solidFill>
              <a:srgbClr val="F1F4F8"/>
            </a:solidFill>
            <a:prstDash val="solid"/>
          </a:ln>
        </p:spPr>
      </p:sp>
      <p:sp>
        <p:nvSpPr>
          <p:cNvPr id="6" name="Text 2"/>
          <p:cNvSpPr txBox="1"/>
          <p:nvPr/>
        </p:nvSpPr>
        <p:spPr>
          <a:xfrm>
            <a:off x="777240" y="5669280"/>
            <a:ext cx="10607040" cy="640080"/>
          </a:xfrm>
          <a:prstGeom prst="rect">
            <a:avLst/>
          </a:prstGeom>
          <a:noFill/>
          <a:ln/>
        </p:spPr>
        <p:txBody>
          <a:bodyPr wrap="square" lIns="0" tIns="0" rIns="0" bIns="0" rtlCol="0" anchor="ctr"/>
          <a:lstStyle/>
          <a:p>
            <a:pPr indent="0" marL="0">
              <a:buNone/>
            </a:pPr>
            <a:r>
              <a:rPr lang="en-US" sz="1500" b="1" dirty="0">
                <a:solidFill>
                  <a:srgbClr val="0F1B2D"/>
                </a:solidFill>
              </a:rPr>
              <a:t>AgentCore is broader on runtime shape; Foundry is stronger on Microsoft 365 reach.</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Identity, security and guardrails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4114800"/>
                <a:gridCol w="4114800"/>
                <a:gridCol w="109728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Dimension</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AWS Bedrock AgentCore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D9730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 Foundry Agent Service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6EC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Edge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F1B2D"/>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Agent identity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AgentCore Identity federates with Entra ID, Okta, Cognito; no extra charge via Runtime/Gateway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Per-agent Entra Agent ID, visible in Entra admin center; managed identity for autonomous runs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6EC2"/>
                          </a:solidFill>
                          <a:latin typeface="Calibri" pitchFamily="34" charset="0"/>
                          <a:ea typeface="Calibri" pitchFamily="34" charset="-122"/>
                          <a:cs typeface="Calibri" pitchFamily="34" charset="-120"/>
                        </a:rPr>
                        <a:t>Foundry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Tool-call authorization</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AgentCore Policy (Cedar) checks each Gateway call; natural-language policy authoring</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Guardrails and policy enforcement built in; less public detail on deterministic policy engine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9730D"/>
                          </a:solidFill>
                          <a:latin typeface="Calibri" pitchFamily="34" charset="0"/>
                          <a:ea typeface="Calibri" pitchFamily="34" charset="-122"/>
                          <a:cs typeface="Calibri" pitchFamily="34" charset="-120"/>
                        </a:rPr>
                        <a:t>AgentCore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Content guardrails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Bedrock Guardrails, billed per safeguard; Kong can enforce the same upstream</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Built-in guardrails, content safety, red teaming; Kong can enforce upstream</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Network isolation</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VPC connectivity; data processing charge on Gateway egress to VPCs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BYO VNet with no public egress; DLP policies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User configurability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Custom evaluators, Cedar policies, memory strategies in your account</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Portal and SDK configuration; prompt agents with no-code setup</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669280"/>
            <a:ext cx="11064240" cy="640080"/>
          </a:xfrm>
          <a:prstGeom prst="roundRect">
            <a:avLst>
              <a:gd name="adj" fmla="val 11429"/>
            </a:avLst>
          </a:prstGeom>
          <a:solidFill>
            <a:srgbClr val="F1F4F8"/>
          </a:solidFill>
          <a:ln w="12700">
            <a:solidFill>
              <a:srgbClr val="F1F4F8"/>
            </a:solidFill>
            <a:prstDash val="solid"/>
          </a:ln>
        </p:spPr>
      </p:sp>
      <p:sp>
        <p:nvSpPr>
          <p:cNvPr id="6" name="Text 2"/>
          <p:cNvSpPr txBox="1"/>
          <p:nvPr/>
        </p:nvSpPr>
        <p:spPr>
          <a:xfrm>
            <a:off x="777240" y="5669280"/>
            <a:ext cx="10607040" cy="640080"/>
          </a:xfrm>
          <a:prstGeom prst="rect">
            <a:avLst/>
          </a:prstGeom>
          <a:noFill/>
          <a:ln/>
        </p:spPr>
        <p:txBody>
          <a:bodyPr wrap="square" lIns="0" tIns="0" rIns="0" bIns="0" rtlCol="0" anchor="ctr"/>
          <a:lstStyle/>
          <a:p>
            <a:pPr indent="0" marL="0">
              <a:buNone/>
            </a:pPr>
            <a:r>
              <a:rPr lang="en-US" sz="1500" b="1" dirty="0">
                <a:solidFill>
                  <a:srgbClr val="0F1B2D"/>
                </a:solidFill>
              </a:rPr>
              <a:t>Foundry is more native to Entra; AgentCore offers the more explicit policy engine.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Kong, tool plane and Dynatrace observability</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4114800"/>
                <a:gridCol w="4114800"/>
                <a:gridCol w="109728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Dimension</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AWS Bedrock AgentCore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D9730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 Foundry Agent Service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6EC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Edge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F1B2D"/>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LLM traffic via Kong</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Supported; AgentCore Gateway also offers model routing, which overlaps with Kong</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Supported; Foundry models and external endpoints can be fronted by Kong</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Tool and MCP plane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AgentCore Gateway turns APIs and Lambda into MCP tools; A2A passthrough</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MCP, A2A, OpenAPI; Toolbox (preview); Kong MCP proxy and Agent Gateway also available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Telemetry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OpenTelemetry to CloudWatch; native Dynatrace integration, incl. Gateway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Built-in tracing; Dynatrace lists Foundry and Agent Framework integrations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9730D"/>
                          </a:solidFill>
                          <a:latin typeface="Calibri" pitchFamily="34" charset="0"/>
                          <a:ea typeface="Calibri" pitchFamily="34" charset="-122"/>
                          <a:cs typeface="Calibri" pitchFamily="34" charset="-120"/>
                        </a:rPr>
                        <a:t>AgentCore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Evaluation</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13 built-in evaluators, custom evaluators, A/B tests, CI/CD thresholds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Built-in evaluators, dashboards, red teaming</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Cost visibility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Telemetry billed via CloudWatch if also sent to Dynatrace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Cost and safety dashboards in Foundry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669280"/>
            <a:ext cx="11064240" cy="640080"/>
          </a:xfrm>
          <a:prstGeom prst="roundRect">
            <a:avLst>
              <a:gd name="adj" fmla="val 11429"/>
            </a:avLst>
          </a:prstGeom>
          <a:solidFill>
            <a:srgbClr val="F1F4F8"/>
          </a:solidFill>
          <a:ln w="12700">
            <a:solidFill>
              <a:srgbClr val="F1F4F8"/>
            </a:solidFill>
            <a:prstDash val="solid"/>
          </a:ln>
        </p:spPr>
      </p:sp>
      <p:sp>
        <p:nvSpPr>
          <p:cNvPr id="6" name="Text 2"/>
          <p:cNvSpPr txBox="1"/>
          <p:nvPr/>
        </p:nvSpPr>
        <p:spPr>
          <a:xfrm>
            <a:off x="777240" y="5669280"/>
            <a:ext cx="10607040" cy="640080"/>
          </a:xfrm>
          <a:prstGeom prst="rect">
            <a:avLst/>
          </a:prstGeom>
          <a:noFill/>
          <a:ln/>
        </p:spPr>
        <p:txBody>
          <a:bodyPr wrap="square" lIns="0" tIns="0" rIns="0" bIns="0" rtlCol="0" anchor="ctr"/>
          <a:lstStyle/>
          <a:p>
            <a:pPr indent="0" marL="0">
              <a:buNone/>
            </a:pPr>
            <a:r>
              <a:rPr lang="en-US" sz="1500" b="1" dirty="0">
                <a:solidFill>
                  <a:srgbClr val="0F1B2D"/>
                </a:solidFill>
              </a:rPr>
              <a:t>Pick one owner per plane: Kong for LLM traffic, one gateway for tools, Dynatrace for all traces.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Pricing: similar compute, different billing models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4114800"/>
                <a:gridCol w="4114800"/>
                <a:gridCol w="109728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Dimension</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AWS Bedrock AgentCore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D9730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 Foundry Agent Service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6EC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Edge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F1B2D"/>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Compute rate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v2: $0.1276/vCPU-hr + $0.0169/GB-hr; I/O wait CPU free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$0.0994/vCPU-hr + $0.0118/GiB-hr; active execution only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Idle behavior</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Memory reclaimed after 120 s idle; per-second billing</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Scale-to-zero; suspended between turns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Platform add-ons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Gateway $5 per 1M calls; Policy $25 per 1M checks; Identity free via Runtime/Gateway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Prompt/workflow agents: no service charge; tools and knowledge billed separately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Memory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Long-term $0.75 per 1,000 records/month; short-term per GB</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Per 1,000 items stored and retrieved (meters in Azure calculator)</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Observability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CloudWatch ingestion and storage rates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Azure Monitor / App Insights rates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669280"/>
            <a:ext cx="11064240" cy="640080"/>
          </a:xfrm>
          <a:prstGeom prst="roundRect">
            <a:avLst>
              <a:gd name="adj" fmla="val 11429"/>
            </a:avLst>
          </a:prstGeom>
          <a:solidFill>
            <a:srgbClr val="F1F4F8"/>
          </a:solidFill>
          <a:ln w="12700">
            <a:solidFill>
              <a:srgbClr val="F1F4F8"/>
            </a:solidFill>
            <a:prstDash val="solid"/>
          </a:ln>
        </p:spPr>
      </p:sp>
      <p:sp>
        <p:nvSpPr>
          <p:cNvPr id="6" name="Text 2"/>
          <p:cNvSpPr txBox="1"/>
          <p:nvPr/>
        </p:nvSpPr>
        <p:spPr>
          <a:xfrm>
            <a:off x="777240" y="5669280"/>
            <a:ext cx="10607040" cy="640080"/>
          </a:xfrm>
          <a:prstGeom prst="rect">
            <a:avLst/>
          </a:prstGeom>
          <a:noFill/>
          <a:ln/>
        </p:spPr>
        <p:txBody>
          <a:bodyPr wrap="square" lIns="0" tIns="0" rIns="0" bIns="0" rtlCol="0" anchor="ctr"/>
          <a:lstStyle/>
          <a:p>
            <a:pPr indent="0" marL="0">
              <a:buNone/>
            </a:pPr>
            <a:r>
              <a:rPr lang="en-US" sz="1500" b="1" dirty="0">
                <a:solidFill>
                  <a:srgbClr val="0F1B2D"/>
                </a:solidFill>
              </a:rPr>
              <a:t>AWS example: 1M ten-minute sessions at 90% I/O wait is about $6,700/month of compute; no clear cost winner.</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Operational overhead and future-proofing</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4114800"/>
                <a:gridCol w="4114800"/>
                <a:gridCol w="109728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Dimension</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AWS Bedrock AgentCore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D9730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 Foundry Agent Service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6EC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Edge</a:t>
                      </a:r>
                      <a:endParaRPr lang="en-US" sz="14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F1B2D"/>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Operating model</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Modular services to assemble, tune and secure; Instances add EC2 management</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More integrated; portal plus SDK; fewer parts to wire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6EC2"/>
                          </a:solidFill>
                          <a:latin typeface="Calibri" pitchFamily="34" charset="0"/>
                          <a:ea typeface="Calibri" pitchFamily="34" charset="-122"/>
                          <a:cs typeface="Calibri" pitchFamily="34" charset="-120"/>
                        </a:rPr>
                        <a:t>Foundry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Skills needed</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AWS IAM, Cedar, CloudWatch, Entra federation</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Azure RBAC, Entra Agent ID, Foundry SDK</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Lock-in vectors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AgentCore Gateway, Memory, Policy are AWS-specific</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Entra Agent ID, Foundry memory, Teams / M365 publishing</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Portability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Framework- and model-neutral; open protocols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Framework- and model-neutral; open protocols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1B2D"/>
                          </a:solidFill>
                          <a:latin typeface="Calibri" pitchFamily="34" charset="0"/>
                          <a:ea typeface="Calibri" pitchFamily="34" charset="-122"/>
                          <a:cs typeface="Calibri" pitchFamily="34" charset="-120"/>
                        </a:rPr>
                        <a:t>Ecosystem pull</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Strong where data and workloads already run on AWS</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Strong where users live in Teams / M365 and data in Azure</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Parity</a:t>
                      </a:r>
                      <a:endParaRPr lang="en-US" sz="1200" dirty="0">
                        <a:latin typeface="Calibri" charset="0"/>
                        <a:ea typeface="Calibri" charset="0"/>
                        <a:cs typeface="Calibri" charset="0"/>
                      </a:endParaRPr>
                    </a:p>
                  </a:txBody>
                  <a:tcPr marL="73152" marR="73152"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669280"/>
            <a:ext cx="11064240" cy="640080"/>
          </a:xfrm>
          <a:prstGeom prst="roundRect">
            <a:avLst>
              <a:gd name="adj" fmla="val 11429"/>
            </a:avLst>
          </a:prstGeom>
          <a:solidFill>
            <a:srgbClr val="F1F4F8"/>
          </a:solidFill>
          <a:ln w="12700">
            <a:solidFill>
              <a:srgbClr val="F1F4F8"/>
            </a:solidFill>
            <a:prstDash val="solid"/>
          </a:ln>
        </p:spPr>
      </p:sp>
      <p:sp>
        <p:nvSpPr>
          <p:cNvPr id="6" name="Text 2"/>
          <p:cNvSpPr txBox="1"/>
          <p:nvPr/>
        </p:nvSpPr>
        <p:spPr>
          <a:xfrm>
            <a:off x="777240" y="5669280"/>
            <a:ext cx="10607040" cy="640080"/>
          </a:xfrm>
          <a:prstGeom prst="rect">
            <a:avLst/>
          </a:prstGeom>
          <a:noFill/>
          <a:ln/>
        </p:spPr>
        <p:txBody>
          <a:bodyPr wrap="square" lIns="0" tIns="0" rIns="0" bIns="0" rtlCol="0" anchor="ctr"/>
          <a:lstStyle/>
          <a:p>
            <a:pPr indent="0" marL="0">
              <a:buNone/>
            </a:pPr>
            <a:r>
              <a:rPr lang="en-US" sz="1500" b="1" dirty="0">
                <a:solidFill>
                  <a:srgbClr val="0F1B2D"/>
                </a:solidFill>
              </a:rPr>
              <a:t>Neither is a dead end; protect the exit with open protocols and policy-as-code.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Weighted scorecard: a statistical tie</a:t>
            </a:r>
            <a:endParaRPr lang="en-US" sz="3200" dirty="0"/>
          </a:p>
        </p:txBody>
      </p:sp>
      <p:graphicFrame>
        <p:nvGraphicFramePr>
          <p:cNvPr id="4" name="Chart 0" descr=""/>
          <p:cNvGraphicFramePr/>
          <p:nvPr/>
        </p:nvGraphicFramePr>
        <p:xfrm>
          <a:off x="548640" y="1280160"/>
          <a:ext cx="7589520" cy="429768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503920" y="1463040"/>
            <a:ext cx="3108960" cy="1645920"/>
          </a:xfrm>
          <a:prstGeom prst="roundRect">
            <a:avLst>
              <a:gd name="adj" fmla="val 5556"/>
            </a:avLst>
          </a:prstGeom>
          <a:solidFill>
            <a:srgbClr val="F1F4F8"/>
          </a:solidFill>
          <a:ln w="12700">
            <a:solidFill>
              <a:srgbClr val="F1F4F8"/>
            </a:solidFill>
            <a:prstDash val="solid"/>
          </a:ln>
        </p:spPr>
      </p:sp>
      <p:sp>
        <p:nvSpPr>
          <p:cNvPr id="6" name="Text 2"/>
          <p:cNvSpPr txBox="1"/>
          <p:nvPr/>
        </p:nvSpPr>
        <p:spPr>
          <a:xfrm>
            <a:off x="8732520" y="1600200"/>
            <a:ext cx="2651760" cy="365760"/>
          </a:xfrm>
          <a:prstGeom prst="rect">
            <a:avLst/>
          </a:prstGeom>
          <a:noFill/>
          <a:ln/>
        </p:spPr>
        <p:txBody>
          <a:bodyPr wrap="square" lIns="0" tIns="0" rIns="0" bIns="0" rtlCol="0" anchor="ctr"/>
          <a:lstStyle/>
          <a:p>
            <a:pPr indent="0" marL="0">
              <a:buNone/>
            </a:pPr>
            <a:r>
              <a:rPr lang="en-US" sz="1600" b="1" dirty="0">
                <a:solidFill>
                  <a:srgbClr val="D9730D"/>
                </a:solidFill>
              </a:rPr>
              <a:t>AgentCore</a:t>
            </a:r>
            <a:endParaRPr lang="en-US" sz="1600" dirty="0"/>
          </a:p>
        </p:txBody>
      </p:sp>
      <p:sp>
        <p:nvSpPr>
          <p:cNvPr id="7" name="Text 3"/>
          <p:cNvSpPr txBox="1"/>
          <p:nvPr/>
        </p:nvSpPr>
        <p:spPr>
          <a:xfrm>
            <a:off x="8732520" y="1965960"/>
            <a:ext cx="2651760" cy="822960"/>
          </a:xfrm>
          <a:prstGeom prst="rect">
            <a:avLst/>
          </a:prstGeom>
          <a:noFill/>
          <a:ln/>
        </p:spPr>
        <p:txBody>
          <a:bodyPr wrap="square" lIns="0" tIns="0" rIns="0" bIns="0" rtlCol="0" anchor="ctr"/>
          <a:lstStyle/>
          <a:p>
            <a:pPr indent="0" marL="0">
              <a:buNone/>
            </a:pPr>
            <a:r>
              <a:rPr lang="en-US" sz="4400" b="1" dirty="0">
                <a:solidFill>
                  <a:srgbClr val="0F1B2D"/>
                </a:solidFill>
                <a:latin typeface="Cambria" pitchFamily="34" charset="0"/>
                <a:ea typeface="Cambria" pitchFamily="34" charset="-122"/>
                <a:cs typeface="Cambria" pitchFamily="34" charset="-120"/>
              </a:rPr>
              <a:t>4.00</a:t>
            </a:r>
            <a:endParaRPr lang="en-US" sz="4400" dirty="0"/>
          </a:p>
        </p:txBody>
      </p:sp>
      <p:sp>
        <p:nvSpPr>
          <p:cNvPr id="8" name="Text 4"/>
          <p:cNvSpPr txBox="1"/>
          <p:nvPr/>
        </p:nvSpPr>
        <p:spPr>
          <a:xfrm>
            <a:off x="8732520" y="2697480"/>
            <a:ext cx="2651760" cy="274320"/>
          </a:xfrm>
          <a:prstGeom prst="rect">
            <a:avLst/>
          </a:prstGeom>
          <a:noFill/>
          <a:ln/>
        </p:spPr>
        <p:txBody>
          <a:bodyPr wrap="square" lIns="0" tIns="0" rIns="0" bIns="0" rtlCol="0" anchor="ctr"/>
          <a:lstStyle/>
          <a:p>
            <a:pPr indent="0" marL="0">
              <a:buNone/>
            </a:pPr>
            <a:r>
              <a:rPr lang="en-US" sz="1200" dirty="0">
                <a:solidFill>
                  <a:srgbClr val="6B7785"/>
                </a:solidFill>
              </a:rPr>
              <a:t>weighted, out of 5</a:t>
            </a:r>
            <a:endParaRPr lang="en-US" sz="1200" dirty="0"/>
          </a:p>
        </p:txBody>
      </p:sp>
      <p:sp>
        <p:nvSpPr>
          <p:cNvPr id="9" name="Shape 5"/>
          <p:cNvSpPr/>
          <p:nvPr/>
        </p:nvSpPr>
        <p:spPr>
          <a:xfrm>
            <a:off x="8503920" y="3383280"/>
            <a:ext cx="3108960" cy="1645920"/>
          </a:xfrm>
          <a:prstGeom prst="roundRect">
            <a:avLst>
              <a:gd name="adj" fmla="val 5556"/>
            </a:avLst>
          </a:prstGeom>
          <a:solidFill>
            <a:srgbClr val="F1F4F8"/>
          </a:solidFill>
          <a:ln w="12700">
            <a:solidFill>
              <a:srgbClr val="F1F4F8"/>
            </a:solidFill>
            <a:prstDash val="solid"/>
          </a:ln>
        </p:spPr>
      </p:sp>
      <p:sp>
        <p:nvSpPr>
          <p:cNvPr id="10" name="Text 6"/>
          <p:cNvSpPr txBox="1"/>
          <p:nvPr/>
        </p:nvSpPr>
        <p:spPr>
          <a:xfrm>
            <a:off x="8732520" y="3520440"/>
            <a:ext cx="2651760" cy="365760"/>
          </a:xfrm>
          <a:prstGeom prst="rect">
            <a:avLst/>
          </a:prstGeom>
          <a:noFill/>
          <a:ln/>
        </p:spPr>
        <p:txBody>
          <a:bodyPr wrap="square" lIns="0" tIns="0" rIns="0" bIns="0" rtlCol="0" anchor="ctr"/>
          <a:lstStyle/>
          <a:p>
            <a:pPr indent="0" marL="0">
              <a:buNone/>
            </a:pPr>
            <a:r>
              <a:rPr lang="en-US" sz="1600" b="1" dirty="0">
                <a:solidFill>
                  <a:srgbClr val="1B6EC2"/>
                </a:solidFill>
              </a:rPr>
              <a:t>Foundry</a:t>
            </a:r>
            <a:endParaRPr lang="en-US" sz="1600" dirty="0"/>
          </a:p>
        </p:txBody>
      </p:sp>
      <p:sp>
        <p:nvSpPr>
          <p:cNvPr id="11" name="Text 7"/>
          <p:cNvSpPr txBox="1"/>
          <p:nvPr/>
        </p:nvSpPr>
        <p:spPr>
          <a:xfrm>
            <a:off x="8732520" y="3886200"/>
            <a:ext cx="2651760" cy="822960"/>
          </a:xfrm>
          <a:prstGeom prst="rect">
            <a:avLst/>
          </a:prstGeom>
          <a:noFill/>
          <a:ln/>
        </p:spPr>
        <p:txBody>
          <a:bodyPr wrap="square" lIns="0" tIns="0" rIns="0" bIns="0" rtlCol="0" anchor="ctr"/>
          <a:lstStyle/>
          <a:p>
            <a:pPr indent="0" marL="0">
              <a:buNone/>
            </a:pPr>
            <a:r>
              <a:rPr lang="en-US" sz="4400" b="1" dirty="0">
                <a:solidFill>
                  <a:srgbClr val="0F1B2D"/>
                </a:solidFill>
                <a:latin typeface="Cambria" pitchFamily="34" charset="0"/>
                <a:ea typeface="Cambria" pitchFamily="34" charset="-122"/>
                <a:cs typeface="Cambria" pitchFamily="34" charset="-120"/>
              </a:rPr>
              <a:t>4.10</a:t>
            </a:r>
            <a:endParaRPr lang="en-US" sz="4400" dirty="0"/>
          </a:p>
        </p:txBody>
      </p:sp>
      <p:sp>
        <p:nvSpPr>
          <p:cNvPr id="12" name="Text 8"/>
          <p:cNvSpPr txBox="1"/>
          <p:nvPr/>
        </p:nvSpPr>
        <p:spPr>
          <a:xfrm>
            <a:off x="8732520" y="4617720"/>
            <a:ext cx="2651760" cy="274320"/>
          </a:xfrm>
          <a:prstGeom prst="rect">
            <a:avLst/>
          </a:prstGeom>
          <a:noFill/>
          <a:ln/>
        </p:spPr>
        <p:txBody>
          <a:bodyPr wrap="square" lIns="0" tIns="0" rIns="0" bIns="0" rtlCol="0" anchor="ctr"/>
          <a:lstStyle/>
          <a:p>
            <a:pPr indent="0" marL="0">
              <a:buNone/>
            </a:pPr>
            <a:r>
              <a:rPr lang="en-US" sz="1200" dirty="0">
                <a:solidFill>
                  <a:srgbClr val="6B7785"/>
                </a:solidFill>
              </a:rPr>
              <a:t>weighted, out of 5</a:t>
            </a:r>
            <a:endParaRPr lang="en-US" sz="1200" dirty="0"/>
          </a:p>
        </p:txBody>
      </p:sp>
      <p:sp>
        <p:nvSpPr>
          <p:cNvPr id="13" name="Shape 9"/>
          <p:cNvSpPr/>
          <p:nvPr/>
        </p:nvSpPr>
        <p:spPr>
          <a:xfrm>
            <a:off x="548640" y="5669280"/>
            <a:ext cx="11064240" cy="640080"/>
          </a:xfrm>
          <a:prstGeom prst="roundRect">
            <a:avLst>
              <a:gd name="adj" fmla="val 11429"/>
            </a:avLst>
          </a:prstGeom>
          <a:solidFill>
            <a:srgbClr val="F1F4F8"/>
          </a:solidFill>
          <a:ln w="12700">
            <a:solidFill>
              <a:srgbClr val="F1F4F8"/>
            </a:solidFill>
            <a:prstDash val="solid"/>
          </a:ln>
        </p:spPr>
      </p:sp>
      <p:sp>
        <p:nvSpPr>
          <p:cNvPr id="14" name="Text 10"/>
          <p:cNvSpPr txBox="1"/>
          <p:nvPr/>
        </p:nvSpPr>
        <p:spPr>
          <a:xfrm>
            <a:off x="777240" y="5669280"/>
            <a:ext cx="10607040" cy="640080"/>
          </a:xfrm>
          <a:prstGeom prst="rect">
            <a:avLst/>
          </a:prstGeom>
          <a:noFill/>
          <a:ln/>
        </p:spPr>
        <p:txBody>
          <a:bodyPr wrap="square" lIns="0" tIns="0" rIns="0" bIns="0" rtlCol="0" anchor="ctr"/>
          <a:lstStyle/>
          <a:p>
            <a:pPr indent="0" marL="0">
              <a:buNone/>
            </a:pPr>
            <a:r>
              <a:rPr lang="en-US" sz="1500" b="1" dirty="0">
                <a:solidFill>
                  <a:srgbClr val="0F1B2D"/>
                </a:solidFill>
              </a:rPr>
              <a:t>A gap of 0.10 points is inside our scoring uncertainty.</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Decision options and recommendation</a:t>
            </a:r>
            <a:endParaRPr lang="en-US" sz="3200" dirty="0"/>
          </a:p>
        </p:txBody>
      </p:sp>
      <p:sp>
        <p:nvSpPr>
          <p:cNvPr id="4" name="Shape 1"/>
          <p:cNvSpPr/>
          <p:nvPr/>
        </p:nvSpPr>
        <p:spPr>
          <a:xfrm>
            <a:off x="548640" y="1371600"/>
            <a:ext cx="3566160" cy="4114800"/>
          </a:xfrm>
          <a:prstGeom prst="roundRect">
            <a:avLst>
              <a:gd name="adj" fmla="val 2564"/>
            </a:avLst>
          </a:prstGeom>
          <a:solidFill>
            <a:srgbClr val="F1F4F8"/>
          </a:solidFill>
          <a:ln w="6350">
            <a:solidFill>
              <a:srgbClr val="F1F4F8"/>
            </a:solidFill>
            <a:prstDash val="solid"/>
          </a:ln>
        </p:spPr>
      </p:sp>
      <p:sp>
        <p:nvSpPr>
          <p:cNvPr id="5" name="Text 2"/>
          <p:cNvSpPr txBox="1"/>
          <p:nvPr/>
        </p:nvSpPr>
        <p:spPr>
          <a:xfrm>
            <a:off x="777240" y="1554480"/>
            <a:ext cx="3108960" cy="822960"/>
          </a:xfrm>
          <a:prstGeom prst="rect">
            <a:avLst/>
          </a:prstGeom>
          <a:noFill/>
          <a:ln/>
        </p:spPr>
        <p:txBody>
          <a:bodyPr wrap="square" lIns="0" tIns="0" rIns="0" bIns="0" rtlCol="0" anchor="t"/>
          <a:lstStyle/>
          <a:p>
            <a:pPr indent="0" marL="0">
              <a:buNone/>
            </a:pPr>
            <a:r>
              <a:rPr lang="en-US" sz="2000" b="1" dirty="0">
                <a:solidFill>
                  <a:srgbClr val="D9730D"/>
                </a:solidFill>
                <a:latin typeface="Cambria" pitchFamily="34" charset="0"/>
                <a:ea typeface="Cambria" pitchFamily="34" charset="-122"/>
                <a:cs typeface="Cambria" pitchFamily="34" charset="-120"/>
              </a:rPr>
              <a:t>A. AgentCore only</a:t>
            </a:r>
            <a:endParaRPr lang="en-US" sz="2000" dirty="0"/>
          </a:p>
        </p:txBody>
      </p:sp>
      <p:sp>
        <p:nvSpPr>
          <p:cNvPr id="6" name="Text 3"/>
          <p:cNvSpPr txBox="1"/>
          <p:nvPr/>
        </p:nvSpPr>
        <p:spPr>
          <a:xfrm>
            <a:off x="777240" y="2468880"/>
            <a:ext cx="3108960" cy="2834640"/>
          </a:xfrm>
          <a:prstGeom prst="rect">
            <a:avLst/>
          </a:prstGeom>
          <a:noFill/>
          <a:ln/>
        </p:spPr>
        <p:txBody>
          <a:bodyPr wrap="square" lIns="0" tIns="0" rIns="0" bIns="0" rtlCol="0" anchor="t"/>
          <a:lstStyle/>
          <a:p>
            <a:pPr indent="0" marL="0">
              <a:buNone/>
            </a:pPr>
            <a:r>
              <a:rPr lang="en-US" sz="1400" b="1" dirty="0">
                <a:solidFill>
                  <a:srgbClr val="1B2430"/>
                </a:solidFill>
              </a:rPr>
              <a:t>Strength</a:t>
            </a:r>
            <a:endParaRPr lang="en-US" sz="1400" dirty="0"/>
          </a:p>
          <a:p>
            <a:pPr indent="0" marL="0">
              <a:buNone/>
            </a:pPr>
            <a:r>
              <a:rPr lang="en-US" sz="1400" dirty="0">
                <a:solidFill>
                  <a:srgbClr val="1B2430"/>
                </a:solidFill>
              </a:rPr>
              <a:t>Best if most data and tools run on AWS</a:t>
            </a:r>
            <a:endParaRPr lang="en-US" sz="1400" dirty="0"/>
          </a:p>
          <a:p>
            <a:pPr indent="0" marL="0">
              <a:buNone/>
            </a:pPr>
            <a:r>
              <a:rPr lang="en-US" sz="1400" dirty="0">
                <a:solidFill>
                  <a:srgbClr val="1B2430"/>
                </a:solidFill>
              </a:rPr>
              <a:t> </a:t>
            </a:r>
            <a:endParaRPr lang="en-US" sz="1400" dirty="0"/>
          </a:p>
          <a:p>
            <a:pPr indent="0" marL="0">
              <a:buNone/>
            </a:pPr>
            <a:r>
              <a:rPr lang="en-US" sz="1400" b="1" dirty="0">
                <a:solidFill>
                  <a:srgbClr val="1B2430"/>
                </a:solidFill>
              </a:rPr>
              <a:t>Cost</a:t>
            </a:r>
            <a:endParaRPr lang="en-US" sz="1400" dirty="0"/>
          </a:p>
          <a:p>
            <a:pPr indent="0" marL="0">
              <a:buNone/>
            </a:pPr>
            <a:r>
              <a:rPr lang="en-US" sz="1400" dirty="0">
                <a:solidFill>
                  <a:srgbClr val="1B2430"/>
                </a:solidFill>
              </a:rPr>
              <a:t>Entra federation for agent identity; weaker Microsoft 365 reach</a:t>
            </a:r>
            <a:endParaRPr lang="en-US" sz="1400" dirty="0"/>
          </a:p>
        </p:txBody>
      </p:sp>
      <p:sp>
        <p:nvSpPr>
          <p:cNvPr id="7" name="Shape 4"/>
          <p:cNvSpPr/>
          <p:nvPr/>
        </p:nvSpPr>
        <p:spPr>
          <a:xfrm>
            <a:off x="4297680" y="1371600"/>
            <a:ext cx="3566160" cy="4114800"/>
          </a:xfrm>
          <a:prstGeom prst="roundRect">
            <a:avLst>
              <a:gd name="adj" fmla="val 2564"/>
            </a:avLst>
          </a:prstGeom>
          <a:solidFill>
            <a:srgbClr val="F1F4F8"/>
          </a:solidFill>
          <a:ln w="6350">
            <a:solidFill>
              <a:srgbClr val="F1F4F8"/>
            </a:solidFill>
            <a:prstDash val="solid"/>
          </a:ln>
        </p:spPr>
      </p:sp>
      <p:sp>
        <p:nvSpPr>
          <p:cNvPr id="8" name="Text 5"/>
          <p:cNvSpPr txBox="1"/>
          <p:nvPr/>
        </p:nvSpPr>
        <p:spPr>
          <a:xfrm>
            <a:off x="4526280" y="1554480"/>
            <a:ext cx="3108960" cy="822960"/>
          </a:xfrm>
          <a:prstGeom prst="rect">
            <a:avLst/>
          </a:prstGeom>
          <a:noFill/>
          <a:ln/>
        </p:spPr>
        <p:txBody>
          <a:bodyPr wrap="square" lIns="0" tIns="0" rIns="0" bIns="0" rtlCol="0" anchor="t"/>
          <a:lstStyle/>
          <a:p>
            <a:pPr indent="0" marL="0">
              <a:buNone/>
            </a:pPr>
            <a:r>
              <a:rPr lang="en-US" sz="2000" b="1" dirty="0">
                <a:solidFill>
                  <a:srgbClr val="1B6EC2"/>
                </a:solidFill>
                <a:latin typeface="Cambria" pitchFamily="34" charset="0"/>
                <a:ea typeface="Cambria" pitchFamily="34" charset="-122"/>
                <a:cs typeface="Cambria" pitchFamily="34" charset="-120"/>
              </a:rPr>
              <a:t>B. Foundry only</a:t>
            </a:r>
            <a:endParaRPr lang="en-US" sz="2000" dirty="0"/>
          </a:p>
        </p:txBody>
      </p:sp>
      <p:sp>
        <p:nvSpPr>
          <p:cNvPr id="9" name="Text 6"/>
          <p:cNvSpPr txBox="1"/>
          <p:nvPr/>
        </p:nvSpPr>
        <p:spPr>
          <a:xfrm>
            <a:off x="4526280" y="2468880"/>
            <a:ext cx="3108960" cy="2834640"/>
          </a:xfrm>
          <a:prstGeom prst="rect">
            <a:avLst/>
          </a:prstGeom>
          <a:noFill/>
          <a:ln/>
        </p:spPr>
        <p:txBody>
          <a:bodyPr wrap="square" lIns="0" tIns="0" rIns="0" bIns="0" rtlCol="0" anchor="t"/>
          <a:lstStyle/>
          <a:p>
            <a:pPr indent="0" marL="0">
              <a:buNone/>
            </a:pPr>
            <a:r>
              <a:rPr lang="en-US" sz="1400" b="1" dirty="0">
                <a:solidFill>
                  <a:srgbClr val="1B2430"/>
                </a:solidFill>
              </a:rPr>
              <a:t>Strength</a:t>
            </a:r>
            <a:endParaRPr lang="en-US" sz="1400" dirty="0"/>
          </a:p>
          <a:p>
            <a:pPr indent="0" marL="0">
              <a:buNone/>
            </a:pPr>
            <a:r>
              <a:rPr lang="en-US" sz="1400" dirty="0">
                <a:solidFill>
                  <a:srgbClr val="1B2430"/>
                </a:solidFill>
              </a:rPr>
              <a:t>Best if users live in Teams / M365 and data is in Azure</a:t>
            </a:r>
            <a:endParaRPr lang="en-US" sz="1400" dirty="0"/>
          </a:p>
          <a:p>
            <a:pPr indent="0" marL="0">
              <a:buNone/>
            </a:pPr>
            <a:r>
              <a:rPr lang="en-US" sz="1400" dirty="0">
                <a:solidFill>
                  <a:srgbClr val="1B2430"/>
                </a:solidFill>
              </a:rPr>
              <a:t> </a:t>
            </a:r>
            <a:endParaRPr lang="en-US" sz="1400" dirty="0"/>
          </a:p>
          <a:p>
            <a:pPr indent="0" marL="0">
              <a:buNone/>
            </a:pPr>
            <a:r>
              <a:rPr lang="en-US" sz="1400" b="1" dirty="0">
                <a:solidFill>
                  <a:srgbClr val="1B2430"/>
                </a:solidFill>
              </a:rPr>
              <a:t>Cost</a:t>
            </a:r>
            <a:endParaRPr lang="en-US" sz="1400" dirty="0"/>
          </a:p>
          <a:p>
            <a:pPr indent="0" marL="0">
              <a:buNone/>
            </a:pPr>
            <a:r>
              <a:rPr lang="en-US" sz="1400" dirty="0">
                <a:solidFill>
                  <a:srgbClr val="1B2430"/>
                </a:solidFill>
              </a:rPr>
              <a:t>AWS-resident tools reached across clouds; fewer deterministic policy options</a:t>
            </a:r>
            <a:endParaRPr lang="en-US" sz="1400" dirty="0"/>
          </a:p>
        </p:txBody>
      </p:sp>
      <p:sp>
        <p:nvSpPr>
          <p:cNvPr id="10" name="Shape 7"/>
          <p:cNvSpPr/>
          <p:nvPr/>
        </p:nvSpPr>
        <p:spPr>
          <a:xfrm>
            <a:off x="8046720" y="1371600"/>
            <a:ext cx="3566160" cy="4114800"/>
          </a:xfrm>
          <a:prstGeom prst="roundRect">
            <a:avLst>
              <a:gd name="adj" fmla="val 2564"/>
            </a:avLst>
          </a:prstGeom>
          <a:solidFill>
            <a:srgbClr val="E3F2F0"/>
          </a:solidFill>
          <a:ln w="25400">
            <a:solidFill>
              <a:srgbClr val="0F766E"/>
            </a:solidFill>
            <a:prstDash val="solid"/>
          </a:ln>
        </p:spPr>
      </p:sp>
      <p:sp>
        <p:nvSpPr>
          <p:cNvPr id="11" name="Text 8"/>
          <p:cNvSpPr txBox="1"/>
          <p:nvPr/>
        </p:nvSpPr>
        <p:spPr>
          <a:xfrm>
            <a:off x="8275320" y="1554480"/>
            <a:ext cx="3108960" cy="822960"/>
          </a:xfrm>
          <a:prstGeom prst="rect">
            <a:avLst/>
          </a:prstGeom>
          <a:noFill/>
          <a:ln/>
        </p:spPr>
        <p:txBody>
          <a:bodyPr wrap="square" lIns="0" tIns="0" rIns="0" bIns="0" rtlCol="0" anchor="t"/>
          <a:lstStyle/>
          <a:p>
            <a:pPr indent="0" marL="0">
              <a:buNone/>
            </a:pPr>
            <a:r>
              <a:rPr lang="en-US" sz="2000" b="1" dirty="0">
                <a:solidFill>
                  <a:srgbClr val="0F766E"/>
                </a:solidFill>
                <a:latin typeface="Cambria" pitchFamily="34" charset="0"/>
                <a:ea typeface="Cambria" pitchFamily="34" charset="-122"/>
                <a:cs typeface="Cambria" pitchFamily="34" charset="-120"/>
              </a:rPr>
              <a:t>C. Common control plane, two approved runtimes</a:t>
            </a:r>
            <a:endParaRPr lang="en-US" sz="2000" dirty="0"/>
          </a:p>
        </p:txBody>
      </p:sp>
      <p:sp>
        <p:nvSpPr>
          <p:cNvPr id="12" name="Text 9"/>
          <p:cNvSpPr txBox="1"/>
          <p:nvPr/>
        </p:nvSpPr>
        <p:spPr>
          <a:xfrm>
            <a:off x="8275320" y="2468880"/>
            <a:ext cx="3108960" cy="2834640"/>
          </a:xfrm>
          <a:prstGeom prst="rect">
            <a:avLst/>
          </a:prstGeom>
          <a:noFill/>
          <a:ln/>
        </p:spPr>
        <p:txBody>
          <a:bodyPr wrap="square" lIns="0" tIns="0" rIns="0" bIns="0" rtlCol="0" anchor="t"/>
          <a:lstStyle/>
          <a:p>
            <a:pPr indent="0" marL="0">
              <a:buNone/>
            </a:pPr>
            <a:r>
              <a:rPr lang="en-US" sz="1400" b="1" dirty="0">
                <a:solidFill>
                  <a:srgbClr val="1B2430"/>
                </a:solidFill>
              </a:rPr>
              <a:t>Strength</a:t>
            </a:r>
            <a:endParaRPr lang="en-US" sz="1400" dirty="0"/>
          </a:p>
          <a:p>
            <a:pPr indent="0" marL="0">
              <a:buNone/>
            </a:pPr>
            <a:r>
              <a:rPr lang="en-US" sz="1400" dirty="0">
                <a:solidFill>
                  <a:srgbClr val="1B2430"/>
                </a:solidFill>
              </a:rPr>
              <a:t>Place each agent next to its data and tools; one standard contract</a:t>
            </a:r>
            <a:endParaRPr lang="en-US" sz="1400" dirty="0"/>
          </a:p>
          <a:p>
            <a:pPr indent="0" marL="0">
              <a:buNone/>
            </a:pPr>
            <a:r>
              <a:rPr lang="en-US" sz="1400" dirty="0">
                <a:solidFill>
                  <a:srgbClr val="1B2430"/>
                </a:solidFill>
              </a:rPr>
              <a:t> </a:t>
            </a:r>
            <a:endParaRPr lang="en-US" sz="1400" dirty="0"/>
          </a:p>
          <a:p>
            <a:pPr indent="0" marL="0">
              <a:buNone/>
            </a:pPr>
            <a:r>
              <a:rPr lang="en-US" sz="1400" b="1" dirty="0">
                <a:solidFill>
                  <a:srgbClr val="1B2430"/>
                </a:solidFill>
              </a:rPr>
              <a:t>Cost</a:t>
            </a:r>
            <a:endParaRPr lang="en-US" sz="1400" dirty="0"/>
          </a:p>
          <a:p>
            <a:pPr indent="0" marL="0">
              <a:buNone/>
            </a:pPr>
            <a:r>
              <a:rPr lang="en-US" sz="1400" dirty="0">
                <a:solidFill>
                  <a:srgbClr val="1B2430"/>
                </a:solidFill>
              </a:rPr>
              <a:t>Two skill sets and two runtime operations to support</a:t>
            </a:r>
            <a:endParaRPr lang="en-US" sz="1400" dirty="0"/>
          </a:p>
        </p:txBody>
      </p:sp>
      <p:sp>
        <p:nvSpPr>
          <p:cNvPr id="13" name="Shape 10"/>
          <p:cNvSpPr/>
          <p:nvPr/>
        </p:nvSpPr>
        <p:spPr>
          <a:xfrm>
            <a:off x="548640" y="5669280"/>
            <a:ext cx="11064240" cy="640080"/>
          </a:xfrm>
          <a:prstGeom prst="roundRect">
            <a:avLst>
              <a:gd name="adj" fmla="val 11429"/>
            </a:avLst>
          </a:prstGeom>
          <a:solidFill>
            <a:srgbClr val="F1F4F8"/>
          </a:solidFill>
          <a:ln w="12700">
            <a:solidFill>
              <a:srgbClr val="F1F4F8"/>
            </a:solidFill>
            <a:prstDash val="solid"/>
          </a:ln>
        </p:spPr>
      </p:sp>
      <p:sp>
        <p:nvSpPr>
          <p:cNvPr id="14" name="Text 11"/>
          <p:cNvSpPr txBox="1"/>
          <p:nvPr/>
        </p:nvSpPr>
        <p:spPr>
          <a:xfrm>
            <a:off x="777240" y="5669280"/>
            <a:ext cx="10607040" cy="640080"/>
          </a:xfrm>
          <a:prstGeom prst="rect">
            <a:avLst/>
          </a:prstGeom>
          <a:noFill/>
          <a:ln/>
        </p:spPr>
        <p:txBody>
          <a:bodyPr wrap="square" lIns="0" tIns="0" rIns="0" bIns="0" rtlCol="0" anchor="ctr"/>
          <a:lstStyle/>
          <a:p>
            <a:pPr indent="0" marL="0">
              <a:buNone/>
            </a:pPr>
            <a:r>
              <a:rPr lang="en-US" sz="1500" b="1" dirty="0">
                <a:solidFill>
                  <a:srgbClr val="0F1B2D"/>
                </a:solidFill>
              </a:rPr>
              <a:t>Recommended: Option C now; revisit consolidation after the PoC and 2 quarters of production data.</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The standard every runtime must meet, and next steps</a:t>
            </a:r>
            <a:endParaRPr lang="en-US" sz="3200" dirty="0"/>
          </a:p>
        </p:txBody>
      </p:sp>
      <p:sp>
        <p:nvSpPr>
          <p:cNvPr id="4" name="Text 1"/>
          <p:cNvSpPr txBox="1"/>
          <p:nvPr/>
        </p:nvSpPr>
        <p:spPr>
          <a:xfrm>
            <a:off x="548640" y="1325880"/>
            <a:ext cx="5303520" cy="365760"/>
          </a:xfrm>
          <a:prstGeom prst="rect">
            <a:avLst/>
          </a:prstGeom>
          <a:noFill/>
          <a:ln/>
        </p:spPr>
        <p:txBody>
          <a:bodyPr wrap="square" lIns="0" tIns="0" rIns="0" bIns="0" rtlCol="0" anchor="ctr"/>
          <a:lstStyle/>
          <a:p>
            <a:pPr indent="0" marL="0">
              <a:buNone/>
            </a:pPr>
            <a:r>
              <a:rPr lang="en-US" sz="2200" b="1" dirty="0">
                <a:solidFill>
                  <a:srgbClr val="0F766E"/>
                </a:solidFill>
                <a:latin typeface="Cambria" pitchFamily="34" charset="0"/>
                <a:ea typeface="Cambria" pitchFamily="34" charset="-122"/>
                <a:cs typeface="Cambria" pitchFamily="34" charset="-120"/>
              </a:rPr>
              <a:t>Standard contract</a:t>
            </a:r>
            <a:endParaRPr lang="en-US" sz="2200" dirty="0"/>
          </a:p>
        </p:txBody>
      </p:sp>
      <p:sp>
        <p:nvSpPr>
          <p:cNvPr id="5" name="Text 2"/>
          <p:cNvSpPr txBox="1"/>
          <p:nvPr/>
        </p:nvSpPr>
        <p:spPr>
          <a:xfrm>
            <a:off x="548640" y="1783080"/>
            <a:ext cx="530352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430"/>
                </a:solidFill>
              </a:rPr>
              <a:t>Entra ID is the identity source; no shared service accounts</a:t>
            </a:r>
            <a:endParaRPr lang="en-US" sz="1500" dirty="0"/>
          </a:p>
          <a:p>
            <a:pPr marL="342900" indent="-342900">
              <a:spcAft>
                <a:spcPts val="800"/>
              </a:spcAft>
              <a:buSzPct val="100000"/>
              <a:buChar char="•"/>
            </a:pPr>
            <a:r>
              <a:rPr lang="en-US" sz="1500" dirty="0">
                <a:solidFill>
                  <a:srgbClr val="1B2430"/>
                </a:solidFill>
              </a:rPr>
              <a:t>All LLM calls via Kong; no direct model endpoints</a:t>
            </a:r>
            <a:endParaRPr lang="en-US" sz="1500" dirty="0"/>
          </a:p>
          <a:p>
            <a:pPr marL="342900" indent="-342900">
              <a:spcAft>
                <a:spcPts val="800"/>
              </a:spcAft>
              <a:buSzPct val="100000"/>
              <a:buChar char="•"/>
            </a:pPr>
            <a:r>
              <a:rPr lang="en-US" sz="1500" dirty="0">
                <a:solidFill>
                  <a:srgbClr val="1B2430"/>
                </a:solidFill>
              </a:rPr>
              <a:t>OpenTelemetry GenAI traces to Dynatrace</a:t>
            </a:r>
            <a:endParaRPr lang="en-US" sz="1500" dirty="0"/>
          </a:p>
          <a:p>
            <a:pPr marL="342900" indent="-342900">
              <a:spcAft>
                <a:spcPts val="800"/>
              </a:spcAft>
              <a:buSzPct val="100000"/>
              <a:buChar char="•"/>
            </a:pPr>
            <a:r>
              <a:rPr lang="en-US" sz="1500" dirty="0">
                <a:solidFill>
                  <a:srgbClr val="1B2430"/>
                </a:solidFill>
              </a:rPr>
              <a:t>MCP / A2A for tools and agent calls</a:t>
            </a:r>
            <a:endParaRPr lang="en-US" sz="1500" dirty="0"/>
          </a:p>
          <a:p>
            <a:pPr marL="342900" indent="-342900">
              <a:spcAft>
                <a:spcPts val="800"/>
              </a:spcAft>
              <a:buSzPct val="100000"/>
              <a:buChar char="•"/>
            </a:pPr>
            <a:r>
              <a:rPr lang="en-US" sz="1500" dirty="0">
                <a:solidFill>
                  <a:srgbClr val="1B2430"/>
                </a:solidFill>
              </a:rPr>
              <a:t>Deployment by infrastructure-as-code and policy-as-code</a:t>
            </a:r>
            <a:endParaRPr lang="en-US" sz="1500" dirty="0"/>
          </a:p>
          <a:p>
            <a:pPr marL="342900" indent="-342900">
              <a:spcAft>
                <a:spcPts val="800"/>
              </a:spcAft>
              <a:buSzPct val="100000"/>
              <a:buChar char="•"/>
            </a:pPr>
            <a:r>
              <a:rPr lang="en-US" sz="1500" dirty="0">
                <a:solidFill>
                  <a:srgbClr val="1B2430"/>
                </a:solidFill>
              </a:rPr>
              <a:t>Tool-call authorization with a kill switch per agent</a:t>
            </a:r>
            <a:endParaRPr lang="en-US" sz="1500" dirty="0"/>
          </a:p>
        </p:txBody>
      </p:sp>
      <p:sp>
        <p:nvSpPr>
          <p:cNvPr id="6" name="Text 3"/>
          <p:cNvSpPr txBox="1"/>
          <p:nvPr/>
        </p:nvSpPr>
        <p:spPr>
          <a:xfrm>
            <a:off x="6309360" y="1325880"/>
            <a:ext cx="5303520" cy="365760"/>
          </a:xfrm>
          <a:prstGeom prst="rect">
            <a:avLst/>
          </a:prstGeom>
          <a:noFill/>
          <a:ln/>
        </p:spPr>
        <p:txBody>
          <a:bodyPr wrap="square" lIns="0" tIns="0" rIns="0" bIns="0" rtlCol="0" anchor="ctr"/>
          <a:lstStyle/>
          <a:p>
            <a:pPr indent="0" marL="0">
              <a:buNone/>
            </a:pPr>
            <a:r>
              <a:rPr lang="en-US" sz="2200" b="1" dirty="0">
                <a:solidFill>
                  <a:srgbClr val="0F766E"/>
                </a:solidFill>
                <a:latin typeface="Cambria" pitchFamily="34" charset="0"/>
                <a:ea typeface="Cambria" pitchFamily="34" charset="-122"/>
                <a:cs typeface="Cambria" pitchFamily="34" charset="-120"/>
              </a:rPr>
              <a:t>6-week proof of concept</a:t>
            </a:r>
            <a:endParaRPr lang="en-US" sz="2200" dirty="0"/>
          </a:p>
        </p:txBody>
      </p:sp>
      <p:sp>
        <p:nvSpPr>
          <p:cNvPr id="7" name="Shape 4"/>
          <p:cNvSpPr/>
          <p:nvPr/>
        </p:nvSpPr>
        <p:spPr>
          <a:xfrm>
            <a:off x="6309360" y="1828800"/>
            <a:ext cx="1371600" cy="1005840"/>
          </a:xfrm>
          <a:prstGeom prst="roundRect">
            <a:avLst>
              <a:gd name="adj" fmla="val 7273"/>
            </a:avLst>
          </a:prstGeom>
          <a:solidFill>
            <a:srgbClr val="0F766E"/>
          </a:solidFill>
          <a:ln w="12700">
            <a:solidFill>
              <a:srgbClr val="0F766E"/>
            </a:solidFill>
            <a:prstDash val="solid"/>
          </a:ln>
        </p:spPr>
      </p:sp>
      <p:sp>
        <p:nvSpPr>
          <p:cNvPr id="8" name="Text 5"/>
          <p:cNvSpPr txBox="1"/>
          <p:nvPr/>
        </p:nvSpPr>
        <p:spPr>
          <a:xfrm>
            <a:off x="6309360" y="1828800"/>
            <a:ext cx="1371600" cy="1005840"/>
          </a:xfrm>
          <a:prstGeom prst="rect">
            <a:avLst/>
          </a:prstGeom>
          <a:noFill/>
          <a:ln/>
        </p:spPr>
        <p:txBody>
          <a:bodyPr wrap="square" lIns="0" tIns="0" rIns="0" bIns="0" rtlCol="0" anchor="ctr"/>
          <a:lstStyle/>
          <a:p>
            <a:pPr algn="ctr" indent="0" marL="0">
              <a:buNone/>
            </a:pPr>
            <a:r>
              <a:rPr lang="en-US" sz="1400" b="1" dirty="0">
                <a:solidFill>
                  <a:srgbClr val="FFFFFF"/>
                </a:solidFill>
              </a:rPr>
              <a:t>Weeks 1-2</a:t>
            </a:r>
            <a:endParaRPr lang="en-US" sz="1400" dirty="0"/>
          </a:p>
        </p:txBody>
      </p:sp>
      <p:sp>
        <p:nvSpPr>
          <p:cNvPr id="9" name="Text 6"/>
          <p:cNvSpPr txBox="1"/>
          <p:nvPr/>
        </p:nvSpPr>
        <p:spPr>
          <a:xfrm>
            <a:off x="7863840" y="1828800"/>
            <a:ext cx="3749040" cy="1005840"/>
          </a:xfrm>
          <a:prstGeom prst="rect">
            <a:avLst/>
          </a:prstGeom>
          <a:noFill/>
          <a:ln/>
        </p:spPr>
        <p:txBody>
          <a:bodyPr wrap="square" lIns="0" tIns="0" rIns="0" bIns="0" rtlCol="0" anchor="ctr"/>
          <a:lstStyle/>
          <a:p>
            <a:pPr indent="0" marL="0">
              <a:buNone/>
            </a:pPr>
            <a:r>
              <a:rPr lang="en-US" sz="1400" dirty="0">
                <a:solidFill>
                  <a:srgbClr val="1B2430"/>
                </a:solidFill>
              </a:rPr>
              <a:t>Reference agent on both runtimes: Entra, Kong, Dynatrace wired</a:t>
            </a:r>
            <a:endParaRPr lang="en-US" sz="1400" dirty="0"/>
          </a:p>
        </p:txBody>
      </p:sp>
      <p:sp>
        <p:nvSpPr>
          <p:cNvPr id="10" name="Shape 7"/>
          <p:cNvSpPr/>
          <p:nvPr/>
        </p:nvSpPr>
        <p:spPr>
          <a:xfrm>
            <a:off x="6309360" y="3063240"/>
            <a:ext cx="1371600" cy="1005840"/>
          </a:xfrm>
          <a:prstGeom prst="roundRect">
            <a:avLst>
              <a:gd name="adj" fmla="val 7273"/>
            </a:avLst>
          </a:prstGeom>
          <a:solidFill>
            <a:srgbClr val="0F766E"/>
          </a:solidFill>
          <a:ln w="12700">
            <a:solidFill>
              <a:srgbClr val="0F766E"/>
            </a:solidFill>
            <a:prstDash val="solid"/>
          </a:ln>
        </p:spPr>
      </p:sp>
      <p:sp>
        <p:nvSpPr>
          <p:cNvPr id="11" name="Text 8"/>
          <p:cNvSpPr txBox="1"/>
          <p:nvPr/>
        </p:nvSpPr>
        <p:spPr>
          <a:xfrm>
            <a:off x="6309360" y="3063240"/>
            <a:ext cx="1371600" cy="1005840"/>
          </a:xfrm>
          <a:prstGeom prst="rect">
            <a:avLst/>
          </a:prstGeom>
          <a:noFill/>
          <a:ln/>
        </p:spPr>
        <p:txBody>
          <a:bodyPr wrap="square" lIns="0" tIns="0" rIns="0" bIns="0" rtlCol="0" anchor="ctr"/>
          <a:lstStyle/>
          <a:p>
            <a:pPr algn="ctr" indent="0" marL="0">
              <a:buNone/>
            </a:pPr>
            <a:r>
              <a:rPr lang="en-US" sz="1400" b="1" dirty="0">
                <a:solidFill>
                  <a:srgbClr val="FFFFFF"/>
                </a:solidFill>
              </a:rPr>
              <a:t>Weeks 3-4</a:t>
            </a:r>
            <a:endParaRPr lang="en-US" sz="1400" dirty="0"/>
          </a:p>
        </p:txBody>
      </p:sp>
      <p:sp>
        <p:nvSpPr>
          <p:cNvPr id="12" name="Text 9"/>
          <p:cNvSpPr txBox="1"/>
          <p:nvPr/>
        </p:nvSpPr>
        <p:spPr>
          <a:xfrm>
            <a:off x="7863840" y="3063240"/>
            <a:ext cx="3749040" cy="1005840"/>
          </a:xfrm>
          <a:prstGeom prst="rect">
            <a:avLst/>
          </a:prstGeom>
          <a:noFill/>
          <a:ln/>
        </p:spPr>
        <p:txBody>
          <a:bodyPr wrap="square" lIns="0" tIns="0" rIns="0" bIns="0" rtlCol="0" anchor="ctr"/>
          <a:lstStyle/>
          <a:p>
            <a:pPr indent="0" marL="0">
              <a:buNone/>
            </a:pPr>
            <a:r>
              <a:rPr lang="en-US" sz="1400" dirty="0">
                <a:solidFill>
                  <a:srgbClr val="1B2430"/>
                </a:solidFill>
              </a:rPr>
              <a:t>Red-team, policy and failure drills; measure latency and cost</a:t>
            </a:r>
            <a:endParaRPr lang="en-US" sz="1400" dirty="0"/>
          </a:p>
        </p:txBody>
      </p:sp>
      <p:sp>
        <p:nvSpPr>
          <p:cNvPr id="13" name="Shape 10"/>
          <p:cNvSpPr/>
          <p:nvPr/>
        </p:nvSpPr>
        <p:spPr>
          <a:xfrm>
            <a:off x="6309360" y="4297680"/>
            <a:ext cx="1371600" cy="1005840"/>
          </a:xfrm>
          <a:prstGeom prst="roundRect">
            <a:avLst>
              <a:gd name="adj" fmla="val 7273"/>
            </a:avLst>
          </a:prstGeom>
          <a:solidFill>
            <a:srgbClr val="0F766E"/>
          </a:solidFill>
          <a:ln w="12700">
            <a:solidFill>
              <a:srgbClr val="0F766E"/>
            </a:solidFill>
            <a:prstDash val="solid"/>
          </a:ln>
        </p:spPr>
      </p:sp>
      <p:sp>
        <p:nvSpPr>
          <p:cNvPr id="14" name="Text 11"/>
          <p:cNvSpPr txBox="1"/>
          <p:nvPr/>
        </p:nvSpPr>
        <p:spPr>
          <a:xfrm>
            <a:off x="6309360" y="4297680"/>
            <a:ext cx="1371600" cy="1005840"/>
          </a:xfrm>
          <a:prstGeom prst="rect">
            <a:avLst/>
          </a:prstGeom>
          <a:noFill/>
          <a:ln/>
        </p:spPr>
        <p:txBody>
          <a:bodyPr wrap="square" lIns="0" tIns="0" rIns="0" bIns="0" rtlCol="0" anchor="ctr"/>
          <a:lstStyle/>
          <a:p>
            <a:pPr algn="ctr" indent="0" marL="0">
              <a:buNone/>
            </a:pPr>
            <a:r>
              <a:rPr lang="en-US" sz="1400" b="1" dirty="0">
                <a:solidFill>
                  <a:srgbClr val="FFFFFF"/>
                </a:solidFill>
              </a:rPr>
              <a:t>Weeks 5-6</a:t>
            </a:r>
            <a:endParaRPr lang="en-US" sz="1400" dirty="0"/>
          </a:p>
        </p:txBody>
      </p:sp>
      <p:sp>
        <p:nvSpPr>
          <p:cNvPr id="15" name="Text 12"/>
          <p:cNvSpPr txBox="1"/>
          <p:nvPr/>
        </p:nvSpPr>
        <p:spPr>
          <a:xfrm>
            <a:off x="7863840" y="4297680"/>
            <a:ext cx="3749040" cy="1005840"/>
          </a:xfrm>
          <a:prstGeom prst="rect">
            <a:avLst/>
          </a:prstGeom>
          <a:noFill/>
          <a:ln/>
        </p:spPr>
        <p:txBody>
          <a:bodyPr wrap="square" lIns="0" tIns="0" rIns="0" bIns="0" rtlCol="0" anchor="ctr"/>
          <a:lstStyle/>
          <a:p>
            <a:pPr indent="0" marL="0">
              <a:buNone/>
            </a:pPr>
            <a:r>
              <a:rPr lang="en-US" sz="1400" dirty="0">
                <a:solidFill>
                  <a:srgbClr val="1B2430"/>
                </a:solidFill>
              </a:rPr>
              <a:t>Ops review: on-call effort, upgrades; confirm preview features</a:t>
            </a:r>
            <a:endParaRPr lang="en-US" sz="1400" dirty="0"/>
          </a:p>
        </p:txBody>
      </p:sp>
      <p:sp>
        <p:nvSpPr>
          <p:cNvPr id="16" name="Shape 13"/>
          <p:cNvSpPr/>
          <p:nvPr/>
        </p:nvSpPr>
        <p:spPr>
          <a:xfrm>
            <a:off x="548640" y="5669280"/>
            <a:ext cx="11064240" cy="640080"/>
          </a:xfrm>
          <a:prstGeom prst="roundRect">
            <a:avLst>
              <a:gd name="adj" fmla="val 11429"/>
            </a:avLst>
          </a:prstGeom>
          <a:solidFill>
            <a:srgbClr val="F1F4F8"/>
          </a:solidFill>
          <a:ln w="12700">
            <a:solidFill>
              <a:srgbClr val="F1F4F8"/>
            </a:solidFill>
            <a:prstDash val="solid"/>
          </a:ln>
        </p:spPr>
      </p:sp>
      <p:sp>
        <p:nvSpPr>
          <p:cNvPr id="17" name="Text 14"/>
          <p:cNvSpPr txBox="1"/>
          <p:nvPr/>
        </p:nvSpPr>
        <p:spPr>
          <a:xfrm>
            <a:off x="777240" y="5669280"/>
            <a:ext cx="10607040" cy="640080"/>
          </a:xfrm>
          <a:prstGeom prst="rect">
            <a:avLst/>
          </a:prstGeom>
          <a:noFill/>
          <a:ln/>
        </p:spPr>
        <p:txBody>
          <a:bodyPr wrap="square" lIns="0" tIns="0" rIns="0" bIns="0" rtlCol="0" anchor="ctr"/>
          <a:lstStyle/>
          <a:p>
            <a:pPr indent="0" marL="0">
              <a:buNone/>
            </a:pPr>
            <a:r>
              <a:rPr lang="en-US" sz="1500" b="1" dirty="0">
                <a:solidFill>
                  <a:srgbClr val="0F1B2D"/>
                </a:solidFill>
              </a:rPr>
              <a:t>Decision gate at week 6: confirm Option C, or consolidate on one runtime using the tiebreak rule.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rgbClr val="0F1B2D"/>
                </a:solidFill>
              </a:rPr>
              <a:t>Appendix: sources and caveats</a:t>
            </a:r>
            <a:endParaRPr lang="en-US" sz="3200" dirty="0"/>
          </a:p>
        </p:txBody>
      </p:sp>
      <p:sp>
        <p:nvSpPr>
          <p:cNvPr id="4" name="Text 1"/>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430"/>
                </a:solidFill>
              </a:rPr>
              <a:t>AWS: Amazon Bedrock AgentCore pricing page and developer guide (aws.amazon.com/bedrock/agentcore), reviewed Oct 2026</a:t>
            </a:r>
            <a:endParaRPr lang="en-US" sz="1500" dirty="0"/>
          </a:p>
          <a:p>
            <a:pPr marL="342900" indent="-342900">
              <a:spcAft>
                <a:spcPts val="800"/>
              </a:spcAft>
              <a:buSzPct val="100000"/>
              <a:buChar char="•"/>
            </a:pPr>
            <a:r>
              <a:rPr lang="en-US" sz="1500" dirty="0">
                <a:solidFill>
                  <a:srgbClr val="1B2430"/>
                </a:solidFill>
              </a:rPr>
              <a:t>Microsoft: Foundry Agent Service product and pricing pages; Foundry blog on hosted agents and Build 2026 updates</a:t>
            </a:r>
            <a:endParaRPr lang="en-US" sz="1500" dirty="0"/>
          </a:p>
          <a:p>
            <a:pPr marL="342900" indent="-342900">
              <a:spcAft>
                <a:spcPts val="800"/>
              </a:spcAft>
              <a:buSzPct val="100000"/>
              <a:buChar char="•"/>
            </a:pPr>
            <a:r>
              <a:rPr lang="en-US" sz="1500" dirty="0">
                <a:solidFill>
                  <a:srgbClr val="1B2430"/>
                </a:solidFill>
              </a:rPr>
              <a:t>Dynatrace: AI Observability integrations docs; AgentCore integration announcement</a:t>
            </a:r>
            <a:endParaRPr lang="en-US" sz="1500" dirty="0"/>
          </a:p>
          <a:p>
            <a:pPr marL="342900" indent="-342900">
              <a:spcAft>
                <a:spcPts val="800"/>
              </a:spcAft>
              <a:buSzPct val="100000"/>
              <a:buChar char="•"/>
            </a:pPr>
            <a:r>
              <a:rPr lang="en-US" sz="1500" dirty="0">
                <a:solidFill>
                  <a:srgbClr val="1B2430"/>
                </a:solidFill>
              </a:rPr>
              <a:t>Kong: AI Gateway 3.12 MCP proxy and 3.14 Agent Gateway, as described in third-party gateway comparisons</a:t>
            </a:r>
            <a:endParaRPr lang="en-US" sz="1500" dirty="0"/>
          </a:p>
          <a:p>
            <a:pPr marL="342900" indent="-342900">
              <a:spcAft>
                <a:spcPts val="800"/>
              </a:spcAft>
              <a:buSzPct val="100000"/>
              <a:buChar char="•"/>
            </a:pPr>
            <a:r>
              <a:rPr lang="en-US" sz="1500" dirty="0">
                <a:solidFill>
                  <a:srgbClr val="1B2430"/>
                </a:solidFill>
              </a:rPr>
              <a:t>Third-party reviews used for Foundry sandbox caps (2 vCPU / 4 GiB), idle-session expiry and East US rates; verify with Microsoft</a:t>
            </a:r>
            <a:endParaRPr lang="en-US" sz="1500" dirty="0"/>
          </a:p>
          <a:p>
            <a:pPr marL="342900" indent="-342900">
              <a:spcAft>
                <a:spcPts val="800"/>
              </a:spcAft>
              <a:buSzPct val="100000"/>
              <a:buChar char="•"/>
            </a:pPr>
            <a:r>
              <a:rPr lang="en-US" sz="1500" dirty="0">
                <a:solidFill>
                  <a:srgbClr val="1B2430"/>
                </a:solidFill>
              </a:rPr>
              <a:t>Scores and weights on slide 9 are architect judgment, not benchmark results; no load or latency testing performed</a:t>
            </a:r>
            <a:endParaRPr lang="en-US" sz="1500" dirty="0"/>
          </a:p>
          <a:p>
            <a:pPr marL="342900" indent="-342900">
              <a:spcAft>
                <a:spcPts val="800"/>
              </a:spcAft>
              <a:buSzPct val="100000"/>
              <a:buChar char="•"/>
            </a:pPr>
            <a:r>
              <a:rPr lang="en-US" sz="1500" dirty="0">
                <a:solidFill>
                  <a:srgbClr val="1B2430"/>
                </a:solidFill>
              </a:rPr>
              <a:t>Entra Agent ID GA date (April 2026) comes from a single secondary source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AgentRuntimeEval">
  <a:themeElements>
    <a:clrScheme name="AgentRuntimeEval">
      <a:dk1>
        <a:srgbClr val="1B2430"/>
      </a:dk1>
      <a:lt1>
        <a:srgbClr val="FFFFFF"/>
      </a:lt1>
      <a:dk2>
        <a:srgbClr val="0F1B2D"/>
      </a:dk2>
      <a:lt2>
        <a:srgbClr val="F1F4F8"/>
      </a:lt2>
      <a:accent1>
        <a:srgbClr val="0F766E"/>
      </a:accent1>
      <a:accent2>
        <a:srgbClr val="D9730D"/>
      </a:accent2>
      <a:accent3>
        <a:srgbClr val="1B6EC2"/>
      </a:accent3>
      <a:accent4>
        <a:srgbClr val="6B7785"/>
      </a:accent4>
      <a:accent5>
        <a:srgbClr val="B42318"/>
      </a:accent5>
      <a:accent6>
        <a:srgbClr val="2E7D32"/>
      </a:accent6>
      <a:hlink>
        <a:srgbClr val="1B6EC2"/>
      </a:hlink>
      <a:folHlink>
        <a:srgbClr val="6B7785"/>
      </a:folHlink>
    </a:clrScheme>
    <a:fontScheme name="AgentRuntimeEv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Agentic Runtime Standard: AWS Bedrock AgentCore vs Microsoft Foundry</dc:title>
  <dc:subject>PptxGenJS Presentation</dc:subject>
  <dc:creator>PptxGenJS</dc:creator>
  <cp:lastModifiedBy>PptxGenJS</cp:lastModifiedBy>
  <cp:revision>1</cp:revision>
  <dcterms:created xsi:type="dcterms:W3CDTF">2026-10-27T02:56:12Z</dcterms:created>
  <dcterms:modified xsi:type="dcterms:W3CDTF">2026-10-27T02:56:12Z</dcterms:modified>
</cp:coreProperties>
</file>