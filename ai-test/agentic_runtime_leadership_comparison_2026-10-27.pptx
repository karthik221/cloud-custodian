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95360" y="0"/>
            <a:ext cx="3593592" cy="1920240"/>
          </a:xfrm>
          <a:prstGeom prst="rect">
            <a:avLst/>
          </a:prstGeom>
          <a:solidFill>
            <a:srgbClr val="2563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418320" y="1920240"/>
            <a:ext cx="2770632" cy="2103120"/>
          </a:xfrm>
          <a:prstGeom prst="rect">
            <a:avLst/>
          </a:prstGeom>
          <a:solidFill>
            <a:srgbClr val="0082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321040" y="4023360"/>
            <a:ext cx="3867912" cy="2834640"/>
          </a:xfrm>
          <a:prstGeom prst="rect">
            <a:avLst/>
          </a:prstGeom>
          <a:solidFill>
            <a:srgbClr val="1D3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777240"/>
            <a:ext cx="7040880" cy="320040"/>
          </a:xfrm>
          <a:prstGeom prst="rect">
            <a:avLst/>
          </a:prstGeom>
          <a:noFill/>
        </p:spPr>
        <p:txBody>
          <a:bodyPr wrap="square" lIns="45720" rIns="45720" anchor="t">
            <a:spAutoFit/>
          </a:bodyPr>
          <a:lstStyle/>
          <a:p>
            <a:pPr>
              <a:spcAft>
                <a:spcPts val="500"/>
              </a:spcAft>
              <a:defRPr sz="1100" b="1">
                <a:solidFill>
                  <a:srgbClr val="73D6D2"/>
                </a:solidFill>
                <a:latin typeface="Aptos"/>
              </a:defRPr>
            </a:pPr>
            <a:r>
              <a:t>ENTERPRISE ARCHITECTURE • DECISION BRIEF</a:t>
            </a:r>
          </a:p>
        </p:txBody>
      </p:sp>
      <p:sp>
        <p:nvSpPr>
          <p:cNvPr id="7" name="TextBox 6"/>
          <p:cNvSpPr txBox="1"/>
          <p:nvPr/>
        </p:nvSpPr>
        <p:spPr>
          <a:xfrm>
            <a:off x="777240" y="1417320"/>
            <a:ext cx="7132320" cy="1417320"/>
          </a:xfrm>
          <a:prstGeom prst="rect">
            <a:avLst/>
          </a:prstGeom>
          <a:noFill/>
        </p:spPr>
        <p:txBody>
          <a:bodyPr wrap="square" lIns="45720" rIns="45720" anchor="t">
            <a:spAutoFit/>
          </a:bodyPr>
          <a:lstStyle/>
          <a:p>
            <a:pPr>
              <a:spcAft>
                <a:spcPts val="500"/>
              </a:spcAft>
              <a:defRPr sz="3400" b="1">
                <a:solidFill>
                  <a:srgbClr val="FFFFFF"/>
                </a:solidFill>
                <a:latin typeface="Aptos"/>
              </a:defRPr>
            </a:pPr>
            <a:r>
              <a:t>Standardizing the</a:t>
            </a:r>
          </a:p>
          <a:p>
            <a:pPr>
              <a:spcAft>
                <a:spcPts val="500"/>
              </a:spcAft>
              <a:defRPr sz="3400" b="1">
                <a:solidFill>
                  <a:srgbClr val="FFFFFF"/>
                </a:solidFill>
                <a:latin typeface="Aptos"/>
              </a:defRPr>
            </a:pPr>
            <a:r>
              <a:t>Agentic Runtime</a:t>
            </a:r>
          </a:p>
        </p:txBody>
      </p:sp>
      <p:sp>
        <p:nvSpPr>
          <p:cNvPr id="8" name="TextBox 7"/>
          <p:cNvSpPr txBox="1"/>
          <p:nvPr/>
        </p:nvSpPr>
        <p:spPr>
          <a:xfrm>
            <a:off x="804672" y="3127248"/>
            <a:ext cx="6583680" cy="868680"/>
          </a:xfrm>
          <a:prstGeom prst="rect">
            <a:avLst/>
          </a:prstGeom>
          <a:noFill/>
        </p:spPr>
        <p:txBody>
          <a:bodyPr wrap="square" lIns="45720" rIns="45720" anchor="t">
            <a:spAutoFit/>
          </a:bodyPr>
          <a:lstStyle/>
          <a:p>
            <a:pPr>
              <a:spcAft>
                <a:spcPts val="500"/>
              </a:spcAft>
              <a:defRPr sz="1900" b="0">
                <a:solidFill>
                  <a:srgbClr val="FFFFFF"/>
                </a:solidFill>
                <a:latin typeface="Aptos"/>
              </a:defRPr>
            </a:pPr>
            <a:r>
              <a:t>AWS Bedrock AgentCore vs Microsoft Foundry Agent Service</a:t>
            </a:r>
          </a:p>
        </p:txBody>
      </p:sp>
      <p:sp>
        <p:nvSpPr>
          <p:cNvPr id="9" name="TextBox 8"/>
          <p:cNvSpPr txBox="1"/>
          <p:nvPr/>
        </p:nvSpPr>
        <p:spPr>
          <a:xfrm>
            <a:off x="804672" y="4370832"/>
            <a:ext cx="6583680" cy="731520"/>
          </a:xfrm>
          <a:prstGeom prst="rect">
            <a:avLst/>
          </a:prstGeom>
          <a:noFill/>
        </p:spPr>
        <p:txBody>
          <a:bodyPr wrap="square" lIns="45720" rIns="45720" anchor="t">
            <a:spAutoFit/>
          </a:bodyPr>
          <a:lstStyle/>
          <a:p>
            <a:pPr>
              <a:spcAft>
                <a:spcPts val="500"/>
              </a:spcAft>
              <a:defRPr sz="1300" b="0">
                <a:solidFill>
                  <a:srgbClr val="DBE4ED"/>
                </a:solidFill>
                <a:latin typeface="Aptos"/>
              </a:defRPr>
            </a:pPr>
            <a:r>
              <a:t>Decision context: Entra ID • Kong AI Gateway • Dynatrace • Azure-heavy data estate • Databricks</a:t>
            </a:r>
          </a:p>
        </p:txBody>
      </p:sp>
      <p:sp>
        <p:nvSpPr>
          <p:cNvPr id="10" name="TextBox 9"/>
          <p:cNvSpPr txBox="1"/>
          <p:nvPr/>
        </p:nvSpPr>
        <p:spPr>
          <a:xfrm>
            <a:off x="804672" y="6080760"/>
            <a:ext cx="6583680" cy="274320"/>
          </a:xfrm>
          <a:prstGeom prst="rect">
            <a:avLst/>
          </a:prstGeom>
          <a:noFill/>
        </p:spPr>
        <p:txBody>
          <a:bodyPr wrap="square" lIns="45720" rIns="45720" anchor="t">
            <a:spAutoFit/>
          </a:bodyPr>
          <a:lstStyle/>
          <a:p>
            <a:pPr>
              <a:spcAft>
                <a:spcPts val="500"/>
              </a:spcAft>
              <a:defRPr sz="1000" b="0">
                <a:solidFill>
                  <a:srgbClr val="BECBDA"/>
                </a:solidFill>
                <a:latin typeface="Aptos"/>
              </a:defRPr>
            </a:pPr>
            <a:r>
              <a:t>For Senior Leadership  |  27 October 2026</a:t>
            </a:r>
          </a:p>
        </p:txBody>
      </p:sp>
      <p:sp>
        <p:nvSpPr>
          <p:cNvPr id="11" name="TextBox 10"/>
          <p:cNvSpPr txBox="1"/>
          <p:nvPr/>
        </p:nvSpPr>
        <p:spPr>
          <a:xfrm>
            <a:off x="8823960" y="4983480"/>
            <a:ext cx="2651760" cy="777240"/>
          </a:xfrm>
          <a:prstGeom prst="rect">
            <a:avLst/>
          </a:prstGeom>
          <a:noFill/>
        </p:spPr>
        <p:txBody>
          <a:bodyPr wrap="square" lIns="45720" rIns="45720" anchor="t">
            <a:spAutoFit/>
          </a:bodyPr>
          <a:lstStyle/>
          <a:p>
            <a:pPr>
              <a:spcAft>
                <a:spcPts val="500"/>
              </a:spcAft>
              <a:defRPr sz="1900" b="1">
                <a:solidFill>
                  <a:srgbClr val="FFFFFF"/>
                </a:solidFill>
                <a:latin typeface="Aptos"/>
              </a:defRPr>
            </a:pPr>
            <a:r>
              <a:t>Evaluate by</a:t>
            </a:r>
          </a:p>
          <a:p>
            <a:pPr>
              <a:spcAft>
                <a:spcPts val="500"/>
              </a:spcAft>
              <a:defRPr sz="1900" b="1">
                <a:solidFill>
                  <a:srgbClr val="FFFFFF"/>
                </a:solidFill>
                <a:latin typeface="Aptos"/>
              </a:defRPr>
            </a:pPr>
            <a:r>
              <a:t>enterprise fit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438912"/>
          </a:xfrm>
          <a:prstGeom prst="rect">
            <a:avLst/>
          </a:prstGeom>
          <a:noFill/>
        </p:spPr>
        <p:txBody>
          <a:bodyPr wrap="square" lIns="45720" rIns="45720" anchor="t">
            <a:spAutoFit/>
          </a:bodyPr>
          <a:lstStyle/>
          <a:p>
            <a:pPr>
              <a:spcAft>
                <a:spcPts val="500"/>
              </a:spcAft>
              <a:defRPr sz="2600" b="1">
                <a:solidFill>
                  <a:srgbClr val="12233D"/>
                </a:solidFill>
                <a:latin typeface="Aptos"/>
              </a:defRPr>
            </a:pPr>
            <a:r>
              <a:t>Executive recommendation</a:t>
            </a:r>
          </a:p>
        </p:txBody>
      </p:sp>
      <p:sp>
        <p:nvSpPr>
          <p:cNvPr id="4" name="TextBox 3"/>
          <p:cNvSpPr txBox="1"/>
          <p:nvPr/>
        </p:nvSpPr>
        <p:spPr>
          <a:xfrm>
            <a:off x="530352" y="749808"/>
            <a:ext cx="10972800" cy="384048"/>
          </a:xfrm>
          <a:prstGeom prst="rect">
            <a:avLst/>
          </a:prstGeom>
          <a:noFill/>
        </p:spPr>
        <p:txBody>
          <a:bodyPr wrap="square" lIns="45720" rIns="45720" anchor="t">
            <a:spAutoFit/>
          </a:bodyPr>
          <a:lstStyle/>
          <a:p>
            <a:pPr>
              <a:spcAft>
                <a:spcPts val="500"/>
              </a:spcAft>
              <a:defRPr sz="1100" b="0">
                <a:solidFill>
                  <a:srgbClr val="5F6C7A"/>
                </a:solidFill>
                <a:latin typeface="Aptos"/>
              </a:defRPr>
            </a:pPr>
            <a:r>
              <a:t>A conditional standard with evidence gates—not a platform popularity contest</a:t>
            </a:r>
          </a:p>
        </p:txBody>
      </p:sp>
      <p:sp>
        <p:nvSpPr>
          <p:cNvPr id="5" name="Rectangle 4"/>
          <p:cNvSpPr/>
          <p:nvPr/>
        </p:nvSpPr>
        <p:spPr>
          <a:xfrm>
            <a:off x="530352" y="1170432"/>
            <a:ext cx="11064240" cy="22860"/>
          </a:xfrm>
          <a:prstGeom prst="rect">
            <a:avLst/>
          </a:prstGeom>
          <a:solidFill>
            <a:srgbClr val="0082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66960" y="91440"/>
            <a:ext cx="1554480" cy="201168"/>
          </a:xfrm>
          <a:prstGeom prst="rect">
            <a:avLst/>
          </a:prstGeom>
          <a:noFill/>
        </p:spPr>
        <p:txBody>
          <a:bodyPr wrap="square" lIns="45720" rIns="45720" anchor="t">
            <a:spAutoFit/>
          </a:bodyPr>
          <a:lstStyle/>
          <a:p>
            <a:pPr algn="r">
              <a:spcAft>
                <a:spcPts val="500"/>
              </a:spcAft>
              <a:defRPr sz="800" b="1">
                <a:solidFill>
                  <a:srgbClr val="008284"/>
                </a:solidFill>
                <a:latin typeface="Aptos"/>
              </a:defRPr>
            </a:pPr>
            <a:r>
              <a:t>DECISION</a:t>
            </a:r>
          </a:p>
        </p:txBody>
      </p:sp>
      <p:sp>
        <p:nvSpPr>
          <p:cNvPr id="7" name="Rounded Rectangle 6"/>
          <p:cNvSpPr/>
          <p:nvPr/>
        </p:nvSpPr>
        <p:spPr>
          <a:xfrm>
            <a:off x="594360" y="1481328"/>
            <a:ext cx="3520440" cy="1874519"/>
          </a:xfrm>
          <a:prstGeom prst="roundRect">
            <a:avLst/>
          </a:prstGeom>
          <a:solidFill>
            <a:srgbClr val="F2F6FA"/>
          </a:solidFill>
          <a:ln>
            <a:solidFill>
              <a:srgbClr val="DB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481328"/>
            <a:ext cx="64008" cy="1874519"/>
          </a:xfrm>
          <a:prstGeom prst="rect">
            <a:avLst/>
          </a:prstGeom>
          <a:solidFill>
            <a:srgbClr val="0082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591056"/>
            <a:ext cx="3246120" cy="320040"/>
          </a:xfrm>
          <a:prstGeom prst="rect">
            <a:avLst/>
          </a:prstGeom>
          <a:noFill/>
        </p:spPr>
        <p:txBody>
          <a:bodyPr wrap="square" lIns="45720" rIns="45720" anchor="t">
            <a:spAutoFit/>
          </a:bodyPr>
          <a:lstStyle/>
          <a:p>
            <a:pPr>
              <a:spcAft>
                <a:spcPts val="500"/>
              </a:spcAft>
              <a:defRPr sz="1600" b="1">
                <a:solidFill>
                  <a:srgbClr val="12233D"/>
                </a:solidFill>
                <a:latin typeface="Aptos"/>
              </a:defRPr>
            </a:pPr>
            <a:r>
              <a:t>Recommended default</a:t>
            </a:r>
          </a:p>
        </p:txBody>
      </p:sp>
      <p:sp>
        <p:nvSpPr>
          <p:cNvPr id="10" name="TextBox 9"/>
          <p:cNvSpPr txBox="1"/>
          <p:nvPr/>
        </p:nvSpPr>
        <p:spPr>
          <a:xfrm>
            <a:off x="758952" y="1956816"/>
            <a:ext cx="3246120" cy="1307591"/>
          </a:xfrm>
          <a:prstGeom prst="rect">
            <a:avLst/>
          </a:prstGeom>
          <a:noFill/>
        </p:spPr>
        <p:txBody>
          <a:bodyPr wrap="square" lIns="45720" rIns="45720" anchor="t">
            <a:spAutoFit/>
          </a:bodyPr>
          <a:lstStyle/>
          <a:p>
            <a:pPr>
              <a:spcAft>
                <a:spcPts val="500"/>
              </a:spcAft>
              <a:defRPr sz="1300" b="0">
                <a:solidFill>
                  <a:srgbClr val="283443"/>
                </a:solidFill>
                <a:latin typeface="Aptos"/>
              </a:defRPr>
            </a:pPr>
            <a:r>
              <a:t>Run a time-boxed proof of value with Microsoft Foundry Agent Service as the leading default for Azure-centric, Entra-governed workloads.</a:t>
            </a:r>
          </a:p>
        </p:txBody>
      </p:sp>
      <p:sp>
        <p:nvSpPr>
          <p:cNvPr id="11" name="Rounded Rectangle 10"/>
          <p:cNvSpPr/>
          <p:nvPr/>
        </p:nvSpPr>
        <p:spPr>
          <a:xfrm>
            <a:off x="4315968" y="1481328"/>
            <a:ext cx="3520440" cy="1874519"/>
          </a:xfrm>
          <a:prstGeom prst="roundRect">
            <a:avLst/>
          </a:prstGeom>
          <a:solidFill>
            <a:srgbClr val="F2F6FA"/>
          </a:solidFill>
          <a:ln>
            <a:solidFill>
              <a:srgbClr val="DB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15968" y="1481328"/>
            <a:ext cx="64008" cy="1874519"/>
          </a:xfrm>
          <a:prstGeom prst="rect">
            <a:avLst/>
          </a:prstGeom>
          <a:solidFill>
            <a:srgbClr val="2563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59" y="1591056"/>
            <a:ext cx="3246120" cy="320040"/>
          </a:xfrm>
          <a:prstGeom prst="rect">
            <a:avLst/>
          </a:prstGeom>
          <a:noFill/>
        </p:spPr>
        <p:txBody>
          <a:bodyPr wrap="square" lIns="45720" rIns="45720" anchor="t">
            <a:spAutoFit/>
          </a:bodyPr>
          <a:lstStyle/>
          <a:p>
            <a:pPr>
              <a:spcAft>
                <a:spcPts val="500"/>
              </a:spcAft>
              <a:defRPr sz="1600" b="1">
                <a:solidFill>
                  <a:srgbClr val="12233D"/>
                </a:solidFill>
                <a:latin typeface="Aptos"/>
              </a:defRPr>
            </a:pPr>
            <a:r>
              <a:t>Retain a justified alternative</a:t>
            </a:r>
          </a:p>
        </p:txBody>
      </p:sp>
      <p:sp>
        <p:nvSpPr>
          <p:cNvPr id="14" name="TextBox 13"/>
          <p:cNvSpPr txBox="1"/>
          <p:nvPr/>
        </p:nvSpPr>
        <p:spPr>
          <a:xfrm>
            <a:off x="4480559" y="1956816"/>
            <a:ext cx="3246120" cy="1307591"/>
          </a:xfrm>
          <a:prstGeom prst="rect">
            <a:avLst/>
          </a:prstGeom>
          <a:noFill/>
        </p:spPr>
        <p:txBody>
          <a:bodyPr wrap="square" lIns="45720" rIns="45720" anchor="t">
            <a:spAutoFit/>
          </a:bodyPr>
          <a:lstStyle/>
          <a:p>
            <a:pPr>
              <a:spcAft>
                <a:spcPts val="500"/>
              </a:spcAft>
              <a:defRPr sz="1300" b="0">
                <a:solidFill>
                  <a:srgbClr val="283443"/>
                </a:solidFill>
                <a:latin typeface="Aptos"/>
              </a:defRPr>
            </a:pPr>
            <a:r>
              <a:t>Keep AgentCore eligible where its modular runtime, isolated execution, browser/code tools, or AWS-native operational model materially improves the use case.</a:t>
            </a:r>
          </a:p>
        </p:txBody>
      </p:sp>
      <p:sp>
        <p:nvSpPr>
          <p:cNvPr id="15" name="Rounded Rectangle 14"/>
          <p:cNvSpPr/>
          <p:nvPr/>
        </p:nvSpPr>
        <p:spPr>
          <a:xfrm>
            <a:off x="8028431" y="1481328"/>
            <a:ext cx="3520440" cy="1874519"/>
          </a:xfrm>
          <a:prstGeom prst="roundRect">
            <a:avLst/>
          </a:prstGeom>
          <a:solidFill>
            <a:srgbClr val="F2F6FA"/>
          </a:solidFill>
          <a:ln>
            <a:solidFill>
              <a:srgbClr val="DB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481328"/>
            <a:ext cx="64008" cy="1874519"/>
          </a:xfrm>
          <a:prstGeom prst="rect">
            <a:avLst/>
          </a:prstGeom>
          <a:solidFill>
            <a:srgbClr val="CF7E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93023" y="1591056"/>
            <a:ext cx="3246120" cy="320040"/>
          </a:xfrm>
          <a:prstGeom prst="rect">
            <a:avLst/>
          </a:prstGeom>
          <a:noFill/>
        </p:spPr>
        <p:txBody>
          <a:bodyPr wrap="square" lIns="45720" rIns="45720" anchor="t">
            <a:spAutoFit/>
          </a:bodyPr>
          <a:lstStyle/>
          <a:p>
            <a:pPr>
              <a:spcAft>
                <a:spcPts val="500"/>
              </a:spcAft>
              <a:defRPr sz="1600" b="1">
                <a:solidFill>
                  <a:srgbClr val="12233D"/>
                </a:solidFill>
                <a:latin typeface="Aptos"/>
              </a:defRPr>
            </a:pPr>
            <a:r>
              <a:t>Non-negotiable controls</a:t>
            </a:r>
          </a:p>
        </p:txBody>
      </p:sp>
      <p:sp>
        <p:nvSpPr>
          <p:cNvPr id="18" name="TextBox 17"/>
          <p:cNvSpPr txBox="1"/>
          <p:nvPr/>
        </p:nvSpPr>
        <p:spPr>
          <a:xfrm>
            <a:off x="8193023" y="1956816"/>
            <a:ext cx="3246120" cy="1307591"/>
          </a:xfrm>
          <a:prstGeom prst="rect">
            <a:avLst/>
          </a:prstGeom>
          <a:noFill/>
        </p:spPr>
        <p:txBody>
          <a:bodyPr wrap="square" lIns="45720" rIns="45720" anchor="t">
            <a:spAutoFit/>
          </a:bodyPr>
          <a:lstStyle/>
          <a:p>
            <a:pPr>
              <a:spcAft>
                <a:spcPts val="500"/>
              </a:spcAft>
              <a:defRPr sz="1300" b="0">
                <a:solidFill>
                  <a:srgbClr val="283443"/>
                </a:solidFill>
                <a:latin typeface="Aptos"/>
              </a:defRPr>
            </a:pPr>
            <a:r>
              <a:t>Kong must mediate every model call; Entra-based identity patterns and least privilege must be proven; Dynatrace must receive end-to-end traces.</a:t>
            </a:r>
          </a:p>
        </p:txBody>
      </p:sp>
      <p:sp>
        <p:nvSpPr>
          <p:cNvPr id="19" name="TextBox 18"/>
          <p:cNvSpPr txBox="1"/>
          <p:nvPr/>
        </p:nvSpPr>
        <p:spPr>
          <a:xfrm>
            <a:off x="658368" y="3703320"/>
            <a:ext cx="10881360" cy="365760"/>
          </a:xfrm>
          <a:prstGeom prst="rect">
            <a:avLst/>
          </a:prstGeom>
          <a:noFill/>
        </p:spPr>
        <p:txBody>
          <a:bodyPr wrap="square" lIns="45720" rIns="45720" anchor="t">
            <a:spAutoFit/>
          </a:bodyPr>
          <a:lstStyle/>
          <a:p>
            <a:pPr>
              <a:spcAft>
                <a:spcPts val="500"/>
              </a:spcAft>
              <a:defRPr sz="1800" b="1">
                <a:solidFill>
                  <a:srgbClr val="12233D"/>
                </a:solidFill>
                <a:latin typeface="Aptos"/>
              </a:defRPr>
            </a:pPr>
            <a:r>
              <a:t>Decision statement for leadership</a:t>
            </a:r>
          </a:p>
        </p:txBody>
      </p:sp>
      <p:sp>
        <p:nvSpPr>
          <p:cNvPr id="20" name="TextBox 19"/>
          <p:cNvSpPr txBox="1"/>
          <p:nvPr/>
        </p:nvSpPr>
        <p:spPr>
          <a:xfrm>
            <a:off x="685800" y="4114800"/>
            <a:ext cx="10698480" cy="1051560"/>
          </a:xfrm>
          <a:prstGeom prst="rect">
            <a:avLst/>
          </a:prstGeom>
          <a:noFill/>
        </p:spPr>
        <p:txBody>
          <a:bodyPr wrap="square" lIns="45720" rIns="45720" anchor="t">
            <a:spAutoFit/>
          </a:bodyPr>
          <a:lstStyle/>
          <a:p>
            <a:pPr>
              <a:spcAft>
                <a:spcPts val="500"/>
              </a:spcAft>
              <a:defRPr sz="1700" b="0">
                <a:solidFill>
                  <a:srgbClr val="283443"/>
                </a:solidFill>
                <a:latin typeface="Aptos"/>
              </a:defRPr>
            </a:pPr>
            <a:r>
              <a:t>Standardize the developer experience and control plane, not necessarily a single runtime for every workload. Select Foundry as the provisional default only if the PoC proves Kong routing, Databricks access, Entra identity, Dynatrace trace continuity, and acceptable TCO. Approve AgentCore exceptions against the same gates.</a:t>
            </a:r>
          </a:p>
        </p:txBody>
      </p:sp>
      <p:sp>
        <p:nvSpPr>
          <p:cNvPr id="21" name="TextBox 20"/>
          <p:cNvSpPr txBox="1"/>
          <p:nvPr/>
        </p:nvSpPr>
        <p:spPr>
          <a:xfrm>
            <a:off x="685800" y="5577840"/>
            <a:ext cx="10698480" cy="457200"/>
          </a:xfrm>
          <a:prstGeom prst="rect">
            <a:avLst/>
          </a:prstGeom>
          <a:noFill/>
        </p:spPr>
        <p:txBody>
          <a:bodyPr wrap="square" lIns="45720" rIns="45720" anchor="t">
            <a:spAutoFit/>
          </a:bodyPr>
          <a:lstStyle/>
          <a:p>
            <a:pPr>
              <a:spcAft>
                <a:spcPts val="500"/>
              </a:spcAft>
              <a:defRPr sz="1100" b="0">
                <a:solidFill>
                  <a:srgbClr val="5F6C7A"/>
                </a:solidFill>
                <a:latin typeface="Aptos"/>
              </a:defRPr>
            </a:pPr>
            <a:r>
              <a:t>Confidence: directional, not final procurement approval. Product capabilities and pricing change quickly; validate current region, SKU, preview/GA status, and contract terms.</a:t>
            </a:r>
          </a:p>
        </p:txBody>
      </p:sp>
      <p:sp>
        <p:nvSpPr>
          <p:cNvPr id="22" name="TextBox 21"/>
          <p:cNvSpPr txBox="1"/>
          <p:nvPr/>
        </p:nvSpPr>
        <p:spPr>
          <a:xfrm>
            <a:off x="530352" y="6537960"/>
            <a:ext cx="8961120" cy="164592"/>
          </a:xfrm>
          <a:prstGeom prst="rect">
            <a:avLst/>
          </a:prstGeom>
          <a:noFill/>
        </p:spPr>
        <p:txBody>
          <a:bodyPr wrap="square" lIns="45720" rIns="45720" anchor="t">
            <a:spAutoFit/>
          </a:bodyPr>
          <a:lstStyle/>
          <a:p>
            <a:pPr>
              <a:spcAft>
                <a:spcPts val="500"/>
              </a:spcAft>
              <a:defRPr sz="700" b="0">
                <a:solidFill>
                  <a:srgbClr val="5F6C7A"/>
                </a:solidFill>
                <a:latin typeface="Aptos"/>
              </a:defRPr>
            </a:pPr>
            <a:r>
              <a:t>Enterprise architecture decision brief  |  27 Oct 2026  |  Pricing and feature status should be revalidated at procurement</a:t>
            </a:r>
          </a:p>
        </p:txBody>
      </p:sp>
      <p:sp>
        <p:nvSpPr>
          <p:cNvPr id="23" name="TextBox 22"/>
          <p:cNvSpPr txBox="1"/>
          <p:nvPr/>
        </p:nvSpPr>
        <p:spPr>
          <a:xfrm>
            <a:off x="11155680" y="6510528"/>
            <a:ext cx="457200" cy="201168"/>
          </a:xfrm>
          <a:prstGeom prst="rect">
            <a:avLst/>
          </a:prstGeom>
          <a:noFill/>
        </p:spPr>
        <p:txBody>
          <a:bodyPr wrap="square" lIns="45720" rIns="45720" anchor="t">
            <a:spAutoFit/>
          </a:bodyPr>
          <a:lstStyle/>
          <a:p>
            <a:pPr algn="r">
              <a:spcAft>
                <a:spcPts val="500"/>
              </a:spcAft>
              <a:defRPr sz="800" b="0">
                <a:solidFill>
                  <a:srgbClr val="5F6C7A"/>
                </a:solidFill>
                <a:latin typeface="Aptos"/>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438912"/>
          </a:xfrm>
          <a:prstGeom prst="rect">
            <a:avLst/>
          </a:prstGeom>
          <a:noFill/>
        </p:spPr>
        <p:txBody>
          <a:bodyPr wrap="square" lIns="45720" rIns="45720" anchor="t">
            <a:spAutoFit/>
          </a:bodyPr>
          <a:lstStyle/>
          <a:p>
            <a:pPr>
              <a:spcAft>
                <a:spcPts val="500"/>
              </a:spcAft>
              <a:defRPr sz="2600" b="1">
                <a:solidFill>
                  <a:srgbClr val="12233D"/>
                </a:solidFill>
                <a:latin typeface="Aptos"/>
              </a:defRPr>
            </a:pPr>
            <a:r>
              <a:t>Architecture constraints that shape the decision</a:t>
            </a:r>
          </a:p>
        </p:txBody>
      </p:sp>
      <p:sp>
        <p:nvSpPr>
          <p:cNvPr id="4" name="TextBox 3"/>
          <p:cNvSpPr txBox="1"/>
          <p:nvPr/>
        </p:nvSpPr>
        <p:spPr>
          <a:xfrm>
            <a:off x="530352" y="749808"/>
            <a:ext cx="10972800" cy="384048"/>
          </a:xfrm>
          <a:prstGeom prst="rect">
            <a:avLst/>
          </a:prstGeom>
          <a:noFill/>
        </p:spPr>
        <p:txBody>
          <a:bodyPr wrap="square" lIns="45720" rIns="45720" anchor="t">
            <a:spAutoFit/>
          </a:bodyPr>
          <a:lstStyle/>
          <a:p>
            <a:pPr>
              <a:spcAft>
                <a:spcPts val="500"/>
              </a:spcAft>
              <a:defRPr sz="1100" b="0">
                <a:solidFill>
                  <a:srgbClr val="5F6C7A"/>
                </a:solidFill>
                <a:latin typeface="Aptos"/>
              </a:defRPr>
            </a:pPr>
            <a:r>
              <a:t>Treat these as acceptance criteria, not secondary integration details</a:t>
            </a:r>
          </a:p>
        </p:txBody>
      </p:sp>
      <p:sp>
        <p:nvSpPr>
          <p:cNvPr id="5" name="Rectangle 4"/>
          <p:cNvSpPr/>
          <p:nvPr/>
        </p:nvSpPr>
        <p:spPr>
          <a:xfrm>
            <a:off x="530352" y="1170432"/>
            <a:ext cx="11064240" cy="22860"/>
          </a:xfrm>
          <a:prstGeom prst="rect">
            <a:avLst/>
          </a:prstGeom>
          <a:solidFill>
            <a:srgbClr val="0082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66960" y="91440"/>
            <a:ext cx="1554480" cy="201168"/>
          </a:xfrm>
          <a:prstGeom prst="rect">
            <a:avLst/>
          </a:prstGeom>
          <a:noFill/>
        </p:spPr>
        <p:txBody>
          <a:bodyPr wrap="square" lIns="45720" rIns="45720" anchor="t">
            <a:spAutoFit/>
          </a:bodyPr>
          <a:lstStyle/>
          <a:p>
            <a:pPr algn="r">
              <a:spcAft>
                <a:spcPts val="500"/>
              </a:spcAft>
              <a:defRPr sz="800" b="1">
                <a:solidFill>
                  <a:srgbClr val="008284"/>
                </a:solidFill>
                <a:latin typeface="Aptos"/>
              </a:defRPr>
            </a:pPr>
            <a:r>
              <a:t>CONTEXT</a:t>
            </a:r>
          </a:p>
        </p:txBody>
      </p:sp>
      <p:graphicFrame>
        <p:nvGraphicFramePr>
          <p:cNvPr id="7" name="Table 6"/>
          <p:cNvGraphicFramePr>
            <a:graphicFrameLocks noGrp="1"/>
          </p:cNvGraphicFramePr>
          <p:nvPr/>
        </p:nvGraphicFramePr>
        <p:xfrm>
          <a:off x="594360" y="1417320"/>
          <a:ext cx="10972800" cy="4434840"/>
        </p:xfrm>
        <a:graphic>
          <a:graphicData uri="http://schemas.openxmlformats.org/drawingml/2006/table">
            <a:tbl>
              <a:tblPr firstRow="1" bandRow="1">
                <a:tableStyleId>{5C22544A-7EE6-4342-B048-85BDC9FD1C3A}</a:tableStyleId>
              </a:tblPr>
              <a:tblGrid>
                <a:gridCol w="1965960"/>
                <a:gridCol w="4389120"/>
                <a:gridCol w="4617720"/>
              </a:tblGrid>
              <a:tr h="739140">
                <a:tc>
                  <a:txBody>
                    <a:bodyPr/>
                    <a:lstStyle/>
                    <a:p>
                      <a:pPr>
                        <a:spcAft>
                          <a:spcPts val="0"/>
                        </a:spcAft>
                        <a:defRPr sz="1100" b="1">
                          <a:solidFill>
                            <a:srgbClr val="FFFFFF"/>
                          </a:solidFill>
                          <a:latin typeface="Aptos"/>
                        </a:defRPr>
                      </a:pPr>
                      <a:r>
                        <a:t>Constraint</a:t>
                      </a:r>
                    </a:p>
                  </a:txBody>
                  <a:tcPr marL="64008" marR="45720" marT="36576" marB="27432" anchor="ctr">
                    <a:solidFill>
                      <a:srgbClr val="12233D"/>
                    </a:solidFill>
                  </a:tcPr>
                </a:tc>
                <a:tc>
                  <a:txBody>
                    <a:bodyPr/>
                    <a:lstStyle/>
                    <a:p>
                      <a:pPr>
                        <a:spcAft>
                          <a:spcPts val="0"/>
                        </a:spcAft>
                        <a:defRPr sz="1100" b="1">
                          <a:solidFill>
                            <a:srgbClr val="FFFFFF"/>
                          </a:solidFill>
                          <a:latin typeface="Aptos"/>
                        </a:defRPr>
                      </a:pPr>
                      <a:r>
                        <a:t>Enterprise implication</a:t>
                      </a:r>
                    </a:p>
                  </a:txBody>
                  <a:tcPr marL="64008" marR="45720" marT="36576" marB="27432" anchor="ctr">
                    <a:solidFill>
                      <a:srgbClr val="12233D"/>
                    </a:solidFill>
                  </a:tcPr>
                </a:tc>
                <a:tc>
                  <a:txBody>
                    <a:bodyPr/>
                    <a:lstStyle/>
                    <a:p>
                      <a:pPr>
                        <a:spcAft>
                          <a:spcPts val="0"/>
                        </a:spcAft>
                        <a:defRPr sz="1100" b="1">
                          <a:solidFill>
                            <a:srgbClr val="FFFFFF"/>
                          </a:solidFill>
                          <a:latin typeface="Aptos"/>
                        </a:defRPr>
                      </a:pPr>
                      <a:r>
                        <a:t>Evidence required in PoC</a:t>
                      </a:r>
                    </a:p>
                  </a:txBody>
                  <a:tcPr marL="64008" marR="45720" marT="36576" marB="27432" anchor="ctr">
                    <a:solidFill>
                      <a:srgbClr val="12233D"/>
                    </a:solidFill>
                  </a:tcPr>
                </a:tc>
              </a:tr>
              <a:tr h="739140">
                <a:tc>
                  <a:txBody>
                    <a:bodyPr/>
                    <a:lstStyle/>
                    <a:p>
                      <a:pPr>
                        <a:spcAft>
                          <a:spcPts val="0"/>
                        </a:spcAft>
                        <a:defRPr sz="1100" b="0">
                          <a:solidFill>
                            <a:srgbClr val="283443"/>
                          </a:solidFill>
                          <a:latin typeface="Aptos"/>
                        </a:defRPr>
                      </a:pPr>
                      <a:r>
                        <a:t>Entra ID is the IdP</a:t>
                      </a:r>
                    </a:p>
                  </a:txBody>
                  <a:tcPr marL="64008" marR="45720" marT="36576" marB="27432" anchor="ctr">
                    <a:solidFill>
                      <a:srgbClr val="FFFFFF"/>
                    </a:solidFill>
                  </a:tcPr>
                </a:tc>
                <a:tc>
                  <a:txBody>
                    <a:bodyPr/>
                    <a:lstStyle/>
                    <a:p>
                      <a:pPr>
                        <a:spcAft>
                          <a:spcPts val="0"/>
                        </a:spcAft>
                        <a:defRPr sz="1100" b="0">
                          <a:solidFill>
                            <a:srgbClr val="283443"/>
                          </a:solidFill>
                          <a:latin typeface="Aptos"/>
                        </a:defRPr>
                      </a:pPr>
                      <a:r>
                        <a:t>Separate human identity, agent/workload identity, and downstream authorization; avoid shared broad credentials.</a:t>
                      </a:r>
                    </a:p>
                  </a:txBody>
                  <a:tcPr marL="64008" marR="45720" marT="36576" marB="27432" anchor="ctr">
                    <a:solidFill>
                      <a:srgbClr val="FFFFFF"/>
                    </a:solidFill>
                  </a:tcPr>
                </a:tc>
                <a:tc>
                  <a:txBody>
                    <a:bodyPr/>
                    <a:lstStyle/>
                    <a:p>
                      <a:pPr>
                        <a:spcAft>
                          <a:spcPts val="0"/>
                        </a:spcAft>
                        <a:defRPr sz="1100" b="0">
                          <a:solidFill>
                            <a:srgbClr val="283443"/>
                          </a:solidFill>
                          <a:latin typeface="Aptos"/>
                        </a:defRPr>
                      </a:pPr>
                      <a:r>
                        <a:t>User OBO vs app identity behavior, token audience/scope, revocation, audit trail.</a:t>
                      </a:r>
                    </a:p>
                  </a:txBody>
                  <a:tcPr marL="64008" marR="45720" marT="36576" marB="27432" anchor="ctr">
                    <a:solidFill>
                      <a:srgbClr val="FFFFFF"/>
                    </a:solidFill>
                  </a:tcPr>
                </a:tc>
              </a:tr>
              <a:tr h="739140">
                <a:tc>
                  <a:txBody>
                    <a:bodyPr/>
                    <a:lstStyle/>
                    <a:p>
                      <a:pPr>
                        <a:spcAft>
                          <a:spcPts val="0"/>
                        </a:spcAft>
                        <a:defRPr sz="1100" b="0">
                          <a:solidFill>
                            <a:srgbClr val="283443"/>
                          </a:solidFill>
                          <a:latin typeface="Aptos"/>
                        </a:defRPr>
                      </a:pPr>
                      <a:r>
                        <a:t>Kong is the mandatory AI Gateway</a:t>
                      </a:r>
                    </a:p>
                  </a:txBody>
                  <a:tcPr marL="64008" marR="45720" marT="36576" marB="27432" anchor="ctr">
                    <a:solidFill>
                      <a:srgbClr val="F2F6FA"/>
                    </a:solidFill>
                  </a:tcPr>
                </a:tc>
                <a:tc>
                  <a:txBody>
                    <a:bodyPr/>
                    <a:lstStyle/>
                    <a:p>
                      <a:pPr>
                        <a:spcAft>
                          <a:spcPts val="0"/>
                        </a:spcAft>
                        <a:defRPr sz="1100" b="0">
                          <a:solidFill>
                            <a:srgbClr val="283443"/>
                          </a:solidFill>
                          <a:latin typeface="Aptos"/>
                        </a:defRPr>
                      </a:pPr>
                      <a:r>
                        <a:t>Runtime defaults must not bypass Kong for primary calls, retries, subagents, embeddings, or fallback model calls.</a:t>
                      </a:r>
                    </a:p>
                  </a:txBody>
                  <a:tcPr marL="64008" marR="45720" marT="36576" marB="27432" anchor="ctr">
                    <a:solidFill>
                      <a:srgbClr val="F2F6FA"/>
                    </a:solidFill>
                  </a:tcPr>
                </a:tc>
                <a:tc>
                  <a:txBody>
                    <a:bodyPr/>
                    <a:lstStyle/>
                    <a:p>
                      <a:pPr>
                        <a:spcAft>
                          <a:spcPts val="0"/>
                        </a:spcAft>
                        <a:defRPr sz="1100" b="0">
                          <a:solidFill>
                            <a:srgbClr val="283443"/>
                          </a:solidFill>
                          <a:latin typeface="Aptos"/>
                        </a:defRPr>
                      </a:pPr>
                      <a:r>
                        <a:t>Network/API policy proves all LLM traffic traverses Kong; direct provider egress denied where required.</a:t>
                      </a:r>
                    </a:p>
                  </a:txBody>
                  <a:tcPr marL="64008" marR="45720" marT="36576" marB="27432" anchor="ctr">
                    <a:solidFill>
                      <a:srgbClr val="F2F6FA"/>
                    </a:solidFill>
                  </a:tcPr>
                </a:tc>
              </a:tr>
              <a:tr h="739140">
                <a:tc>
                  <a:txBody>
                    <a:bodyPr/>
                    <a:lstStyle/>
                    <a:p>
                      <a:pPr>
                        <a:spcAft>
                          <a:spcPts val="0"/>
                        </a:spcAft>
                        <a:defRPr sz="1100" b="0">
                          <a:solidFill>
                            <a:srgbClr val="283443"/>
                          </a:solidFill>
                          <a:latin typeface="Aptos"/>
                        </a:defRPr>
                      </a:pPr>
                      <a:r>
                        <a:t>Dynatrace is the monitoring standard</a:t>
                      </a:r>
                    </a:p>
                  </a:txBody>
                  <a:tcPr marL="64008" marR="45720" marT="36576" marB="27432" anchor="ctr">
                    <a:solidFill>
                      <a:srgbClr val="FFFFFF"/>
                    </a:solidFill>
                  </a:tcPr>
                </a:tc>
                <a:tc>
                  <a:txBody>
                    <a:bodyPr/>
                    <a:lstStyle/>
                    <a:p>
                      <a:pPr>
                        <a:spcAft>
                          <a:spcPts val="0"/>
                        </a:spcAft>
                        <a:defRPr sz="1100" b="0">
                          <a:solidFill>
                            <a:srgbClr val="283443"/>
                          </a:solidFill>
                          <a:latin typeface="Aptos"/>
                        </a:defRPr>
                      </a:pPr>
                      <a:r>
                        <a:t>Runtime-native telemetry is useful but cannot create a silo; correlate request, agent, model, tool and data traces.</a:t>
                      </a:r>
                    </a:p>
                  </a:txBody>
                  <a:tcPr marL="64008" marR="45720" marT="36576" marB="27432" anchor="ctr">
                    <a:solidFill>
                      <a:srgbClr val="FFFFFF"/>
                    </a:solidFill>
                  </a:tcPr>
                </a:tc>
                <a:tc>
                  <a:txBody>
                    <a:bodyPr/>
                    <a:lstStyle/>
                    <a:p>
                      <a:pPr>
                        <a:spcAft>
                          <a:spcPts val="0"/>
                        </a:spcAft>
                        <a:defRPr sz="1100" b="0">
                          <a:solidFill>
                            <a:srgbClr val="283443"/>
                          </a:solidFill>
                          <a:latin typeface="Aptos"/>
                        </a:defRPr>
                      </a:pPr>
                      <a:r>
                        <a:t>OTel trace continuity, trace IDs, metrics/logs, redaction, alerting, retention/cost.</a:t>
                      </a:r>
                    </a:p>
                  </a:txBody>
                  <a:tcPr marL="64008" marR="45720" marT="36576" marB="27432" anchor="ctr">
                    <a:solidFill>
                      <a:srgbClr val="FFFFFF"/>
                    </a:solidFill>
                  </a:tcPr>
                </a:tc>
              </a:tr>
              <a:tr h="739140">
                <a:tc>
                  <a:txBody>
                    <a:bodyPr/>
                    <a:lstStyle/>
                    <a:p>
                      <a:pPr>
                        <a:spcAft>
                          <a:spcPts val="0"/>
                        </a:spcAft>
                        <a:defRPr sz="1100" b="0">
                          <a:solidFill>
                            <a:srgbClr val="283443"/>
                          </a:solidFill>
                          <a:latin typeface="Aptos"/>
                        </a:defRPr>
                      </a:pPr>
                      <a:r>
                        <a:t>Azure-heavy data + Databricks</a:t>
                      </a:r>
                    </a:p>
                  </a:txBody>
                  <a:tcPr marL="64008" marR="45720" marT="36576" marB="27432" anchor="ctr">
                    <a:solidFill>
                      <a:srgbClr val="F2F6FA"/>
                    </a:solidFill>
                  </a:tcPr>
                </a:tc>
                <a:tc>
                  <a:txBody>
                    <a:bodyPr/>
                    <a:lstStyle/>
                    <a:p>
                      <a:pPr>
                        <a:spcAft>
                          <a:spcPts val="0"/>
                        </a:spcAft>
                        <a:defRPr sz="1100" b="0">
                          <a:solidFill>
                            <a:srgbClr val="283443"/>
                          </a:solidFill>
                          <a:latin typeface="Aptos"/>
                        </a:defRPr>
                      </a:pPr>
                      <a:r>
                        <a:t>Data locality, private connectivity, Unity Catalog permissions, and data egress affect security and latency.</a:t>
                      </a:r>
                    </a:p>
                  </a:txBody>
                  <a:tcPr marL="64008" marR="45720" marT="36576" marB="27432" anchor="ctr">
                    <a:solidFill>
                      <a:srgbClr val="F2F6FA"/>
                    </a:solidFill>
                  </a:tcPr>
                </a:tc>
                <a:tc>
                  <a:txBody>
                    <a:bodyPr/>
                    <a:lstStyle/>
                    <a:p>
                      <a:pPr>
                        <a:spcAft>
                          <a:spcPts val="0"/>
                        </a:spcAft>
                        <a:defRPr sz="1100" b="0">
                          <a:solidFill>
                            <a:srgbClr val="283443"/>
                          </a:solidFill>
                          <a:latin typeface="Aptos"/>
                        </a:defRPr>
                      </a:pPr>
                      <a:r>
                        <a:t>Private path, Entra/service-principal auth, user-level authorization where needed, query audit.</a:t>
                      </a:r>
                    </a:p>
                  </a:txBody>
                  <a:tcPr marL="64008" marR="45720" marT="36576" marB="27432" anchor="ctr">
                    <a:solidFill>
                      <a:srgbClr val="F2F6FA"/>
                    </a:solidFill>
                  </a:tcPr>
                </a:tc>
              </a:tr>
              <a:tr h="739140">
                <a:tc>
                  <a:txBody>
                    <a:bodyPr/>
                    <a:lstStyle/>
                    <a:p>
                      <a:pPr>
                        <a:spcAft>
                          <a:spcPts val="0"/>
                        </a:spcAft>
                        <a:defRPr sz="1100" b="0">
                          <a:solidFill>
                            <a:srgbClr val="283443"/>
                          </a:solidFill>
                          <a:latin typeface="Aptos"/>
                        </a:defRPr>
                      </a:pPr>
                      <a:r>
                        <a:t>Multiple dev-team use cases</a:t>
                      </a:r>
                    </a:p>
                  </a:txBody>
                  <a:tcPr marL="64008" marR="45720" marT="36576" marB="27432" anchor="ctr">
                    <a:solidFill>
                      <a:srgbClr val="FFFFFF"/>
                    </a:solidFill>
                  </a:tcPr>
                </a:tc>
                <a:tc>
                  <a:txBody>
                    <a:bodyPr/>
                    <a:lstStyle/>
                    <a:p>
                      <a:pPr>
                        <a:spcAft>
                          <a:spcPts val="0"/>
                        </a:spcAft>
                        <a:defRPr sz="1100" b="0">
                          <a:solidFill>
                            <a:srgbClr val="283443"/>
                          </a:solidFill>
                          <a:latin typeface="Aptos"/>
                        </a:defRPr>
                      </a:pPr>
                      <a:r>
                        <a:t>Need prompt-based speed and code-first orchestration, MCP/API tools, evaluation, CI/CD and portable interfaces.</a:t>
                      </a:r>
                    </a:p>
                  </a:txBody>
                  <a:tcPr marL="64008" marR="45720" marT="36576" marB="27432" anchor="ctr">
                    <a:solidFill>
                      <a:srgbClr val="FFFFFF"/>
                    </a:solidFill>
                  </a:tcPr>
                </a:tc>
                <a:tc>
                  <a:txBody>
                    <a:bodyPr/>
                    <a:lstStyle/>
                    <a:p>
                      <a:pPr>
                        <a:spcAft>
                          <a:spcPts val="0"/>
                        </a:spcAft>
                        <a:defRPr sz="1100" b="0">
                          <a:solidFill>
                            <a:srgbClr val="283443"/>
                          </a:solidFill>
                          <a:latin typeface="Aptos"/>
                        </a:defRPr>
                      </a:pPr>
                      <a:r>
                        <a:t>Representative agent patterns and developer workflow tests, not a single demo.</a:t>
                      </a:r>
                    </a:p>
                  </a:txBody>
                  <a:tcPr marL="64008" marR="45720" marT="36576" marB="27432" anchor="ctr">
                    <a:solidFill>
                      <a:srgbClr val="FFFFFF"/>
                    </a:solidFill>
                  </a:tcPr>
                </a:tc>
              </a:tr>
            </a:tbl>
          </a:graphicData>
        </a:graphic>
      </p:graphicFrame>
      <p:sp>
        <p:nvSpPr>
          <p:cNvPr id="8" name="TextBox 7"/>
          <p:cNvSpPr txBox="1"/>
          <p:nvPr/>
        </p:nvSpPr>
        <p:spPr>
          <a:xfrm>
            <a:off x="530352" y="6537960"/>
            <a:ext cx="8961120" cy="164592"/>
          </a:xfrm>
          <a:prstGeom prst="rect">
            <a:avLst/>
          </a:prstGeom>
          <a:noFill/>
        </p:spPr>
        <p:txBody>
          <a:bodyPr wrap="square" lIns="45720" rIns="45720" anchor="t">
            <a:spAutoFit/>
          </a:bodyPr>
          <a:lstStyle/>
          <a:p>
            <a:pPr>
              <a:spcAft>
                <a:spcPts val="500"/>
              </a:spcAft>
              <a:defRPr sz="700" b="0">
                <a:solidFill>
                  <a:srgbClr val="5F6C7A"/>
                </a:solidFill>
                <a:latin typeface="Aptos"/>
              </a:defRPr>
            </a:pPr>
            <a:r>
              <a:t>Enterprise architecture decision brief  |  27 Oct 2026  |  Pricing and feature status should be revalidated at procurement</a:t>
            </a:r>
          </a:p>
        </p:txBody>
      </p:sp>
      <p:sp>
        <p:nvSpPr>
          <p:cNvPr id="9" name="TextBox 8"/>
          <p:cNvSpPr txBox="1"/>
          <p:nvPr/>
        </p:nvSpPr>
        <p:spPr>
          <a:xfrm>
            <a:off x="11155680" y="6510528"/>
            <a:ext cx="457200" cy="201168"/>
          </a:xfrm>
          <a:prstGeom prst="rect">
            <a:avLst/>
          </a:prstGeom>
          <a:noFill/>
        </p:spPr>
        <p:txBody>
          <a:bodyPr wrap="square" lIns="45720" rIns="45720" anchor="t">
            <a:spAutoFit/>
          </a:bodyPr>
          <a:lstStyle/>
          <a:p>
            <a:pPr algn="r">
              <a:spcAft>
                <a:spcPts val="500"/>
              </a:spcAft>
              <a:defRPr sz="800" b="0">
                <a:solidFill>
                  <a:srgbClr val="5F6C7A"/>
                </a:solidFill>
                <a:latin typeface="Aptos"/>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438912"/>
          </a:xfrm>
          <a:prstGeom prst="rect">
            <a:avLst/>
          </a:prstGeom>
          <a:noFill/>
        </p:spPr>
        <p:txBody>
          <a:bodyPr wrap="square" lIns="45720" rIns="45720" anchor="t">
            <a:spAutoFit/>
          </a:bodyPr>
          <a:lstStyle/>
          <a:p>
            <a:pPr>
              <a:spcAft>
                <a:spcPts val="500"/>
              </a:spcAft>
              <a:defRPr sz="2600" b="1">
                <a:solidFill>
                  <a:srgbClr val="12233D"/>
                </a:solidFill>
                <a:latin typeface="Aptos"/>
              </a:defRPr>
            </a:pPr>
            <a:r>
              <a:t>First compare the right product boundaries</a:t>
            </a:r>
          </a:p>
        </p:txBody>
      </p:sp>
      <p:sp>
        <p:nvSpPr>
          <p:cNvPr id="4" name="TextBox 3"/>
          <p:cNvSpPr txBox="1"/>
          <p:nvPr/>
        </p:nvSpPr>
        <p:spPr>
          <a:xfrm>
            <a:off x="530352" y="749808"/>
            <a:ext cx="10972800" cy="384048"/>
          </a:xfrm>
          <a:prstGeom prst="rect">
            <a:avLst/>
          </a:prstGeom>
          <a:noFill/>
        </p:spPr>
        <p:txBody>
          <a:bodyPr wrap="square" lIns="45720" rIns="45720" anchor="t">
            <a:spAutoFit/>
          </a:bodyPr>
          <a:lstStyle/>
          <a:p>
            <a:pPr>
              <a:spcAft>
                <a:spcPts val="500"/>
              </a:spcAft>
              <a:defRPr sz="1100" b="0">
                <a:solidFill>
                  <a:srgbClr val="5F6C7A"/>
                </a:solidFill>
                <a:latin typeface="Aptos"/>
              </a:defRPr>
            </a:pPr>
            <a:r>
              <a:t>Both can host agents; they package the developer and operations experience differently</a:t>
            </a:r>
          </a:p>
        </p:txBody>
      </p:sp>
      <p:sp>
        <p:nvSpPr>
          <p:cNvPr id="5" name="Rectangle 4"/>
          <p:cNvSpPr/>
          <p:nvPr/>
        </p:nvSpPr>
        <p:spPr>
          <a:xfrm>
            <a:off x="530352" y="1170432"/>
            <a:ext cx="11064240" cy="22860"/>
          </a:xfrm>
          <a:prstGeom prst="rect">
            <a:avLst/>
          </a:prstGeom>
          <a:solidFill>
            <a:srgbClr val="0082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66960" y="91440"/>
            <a:ext cx="1554480" cy="201168"/>
          </a:xfrm>
          <a:prstGeom prst="rect">
            <a:avLst/>
          </a:prstGeom>
          <a:noFill/>
        </p:spPr>
        <p:txBody>
          <a:bodyPr wrap="square" lIns="45720" rIns="45720" anchor="t">
            <a:spAutoFit/>
          </a:bodyPr>
          <a:lstStyle/>
          <a:p>
            <a:pPr algn="r">
              <a:spcAft>
                <a:spcPts val="500"/>
              </a:spcAft>
              <a:defRPr sz="800" b="1">
                <a:solidFill>
                  <a:srgbClr val="008284"/>
                </a:solidFill>
                <a:latin typeface="Aptos"/>
              </a:defRPr>
            </a:pPr>
            <a:r>
              <a:t>PLATFORM</a:t>
            </a:r>
          </a:p>
        </p:txBody>
      </p:sp>
      <p:graphicFrame>
        <p:nvGraphicFramePr>
          <p:cNvPr id="7" name="Table 6"/>
          <p:cNvGraphicFramePr>
            <a:graphicFrameLocks noGrp="1"/>
          </p:cNvGraphicFramePr>
          <p:nvPr/>
        </p:nvGraphicFramePr>
        <p:xfrm>
          <a:off x="594360" y="1417320"/>
          <a:ext cx="10972800" cy="4480560"/>
        </p:xfrm>
        <a:graphic>
          <a:graphicData uri="http://schemas.openxmlformats.org/drawingml/2006/table">
            <a:tbl>
              <a:tblPr firstRow="1" bandRow="1">
                <a:tableStyleId>{5C22544A-7EE6-4342-B048-85BDC9FD1C3A}</a:tableStyleId>
              </a:tblPr>
              <a:tblGrid>
                <a:gridCol w="1645920"/>
                <a:gridCol w="4663440"/>
                <a:gridCol w="4663440"/>
              </a:tblGrid>
              <a:tr h="640080">
                <a:tc>
                  <a:txBody>
                    <a:bodyPr/>
                    <a:lstStyle/>
                    <a:p>
                      <a:pPr>
                        <a:spcAft>
                          <a:spcPts val="0"/>
                        </a:spcAft>
                        <a:defRPr sz="1000" b="1">
                          <a:solidFill>
                            <a:srgbClr val="FFFFFF"/>
                          </a:solidFill>
                          <a:latin typeface="Aptos"/>
                        </a:defRPr>
                      </a:pPr>
                      <a:r>
                        <a:t>Dimension</a:t>
                      </a:r>
                    </a:p>
                  </a:txBody>
                  <a:tcPr marL="64008" marR="45720" marT="36576" marB="27432" anchor="ctr">
                    <a:solidFill>
                      <a:srgbClr val="12233D"/>
                    </a:solidFill>
                  </a:tcPr>
                </a:tc>
                <a:tc>
                  <a:txBody>
                    <a:bodyPr/>
                    <a:lstStyle/>
                    <a:p>
                      <a:pPr>
                        <a:spcAft>
                          <a:spcPts val="0"/>
                        </a:spcAft>
                        <a:defRPr sz="1000" b="1">
                          <a:solidFill>
                            <a:srgbClr val="FFFFFF"/>
                          </a:solidFill>
                          <a:latin typeface="Aptos"/>
                        </a:defRPr>
                      </a:pPr>
                      <a:r>
                        <a:t>Microsoft Foundry Agent Service</a:t>
                      </a:r>
                    </a:p>
                  </a:txBody>
                  <a:tcPr marL="64008" marR="45720" marT="36576" marB="27432" anchor="ctr">
                    <a:solidFill>
                      <a:srgbClr val="12233D"/>
                    </a:solidFill>
                  </a:tcPr>
                </a:tc>
                <a:tc>
                  <a:txBody>
                    <a:bodyPr/>
                    <a:lstStyle/>
                    <a:p>
                      <a:pPr>
                        <a:spcAft>
                          <a:spcPts val="0"/>
                        </a:spcAft>
                        <a:defRPr sz="1000" b="1">
                          <a:solidFill>
                            <a:srgbClr val="FFFFFF"/>
                          </a:solidFill>
                          <a:latin typeface="Aptos"/>
                        </a:defRPr>
                      </a:pPr>
                      <a:r>
                        <a:t>AWS Bedrock AgentCore</a:t>
                      </a:r>
                    </a:p>
                  </a:txBody>
                  <a:tcPr marL="64008" marR="45720" marT="36576" marB="27432" anchor="ctr">
                    <a:solidFill>
                      <a:srgbClr val="12233D"/>
                    </a:solidFill>
                  </a:tcPr>
                </a:tc>
              </a:tr>
              <a:tr h="640080">
                <a:tc>
                  <a:txBody>
                    <a:bodyPr/>
                    <a:lstStyle/>
                    <a:p>
                      <a:pPr>
                        <a:spcAft>
                          <a:spcPts val="0"/>
                        </a:spcAft>
                        <a:defRPr sz="1000" b="0">
                          <a:solidFill>
                            <a:srgbClr val="283443"/>
                          </a:solidFill>
                          <a:latin typeface="Aptos"/>
                        </a:defRPr>
                      </a:pPr>
                      <a:r>
                        <a:t>Core model</a:t>
                      </a:r>
                    </a:p>
                  </a:txBody>
                  <a:tcPr marL="64008" marR="45720" marT="36576" marB="27432" anchor="ctr">
                    <a:solidFill>
                      <a:srgbClr val="FFFFFF"/>
                    </a:solidFill>
                  </a:tcPr>
                </a:tc>
                <a:tc>
                  <a:txBody>
                    <a:bodyPr/>
                    <a:lstStyle/>
                    <a:p>
                      <a:pPr>
                        <a:spcAft>
                          <a:spcPts val="0"/>
                        </a:spcAft>
                        <a:defRPr sz="1000" b="0">
                          <a:solidFill>
                            <a:srgbClr val="283443"/>
                          </a:solidFill>
                          <a:latin typeface="Aptos"/>
                        </a:defRPr>
                      </a:pPr>
                      <a:r>
                        <a:t>Managed agent service: prompt agents and hosted code agents; model catalog, toolboxes and publishing.</a:t>
                      </a:r>
                    </a:p>
                  </a:txBody>
                  <a:tcPr marL="64008" marR="45720" marT="36576" marB="27432" anchor="ctr">
                    <a:solidFill>
                      <a:srgbClr val="FFFFFF"/>
                    </a:solidFill>
                  </a:tcPr>
                </a:tc>
                <a:tc>
                  <a:txBody>
                    <a:bodyPr/>
                    <a:lstStyle/>
                    <a:p>
                      <a:pPr>
                        <a:spcAft>
                          <a:spcPts val="0"/>
                        </a:spcAft>
                        <a:defRPr sz="1000" b="0">
                          <a:solidFill>
                            <a:srgbClr val="283443"/>
                          </a:solidFill>
                          <a:latin typeface="Aptos"/>
                        </a:defRPr>
                      </a:pPr>
                      <a:r>
                        <a:t>Modular agent services: runtime, identity, memory, gateway, browser, code interpreter, policy and observability.</a:t>
                      </a:r>
                    </a:p>
                  </a:txBody>
                  <a:tcPr marL="64008" marR="45720" marT="36576" marB="27432" anchor="ctr">
                    <a:solidFill>
                      <a:srgbClr val="FFFFFF"/>
                    </a:solidFill>
                  </a:tcPr>
                </a:tc>
              </a:tr>
              <a:tr h="640080">
                <a:tc>
                  <a:txBody>
                    <a:bodyPr/>
                    <a:lstStyle/>
                    <a:p>
                      <a:pPr>
                        <a:spcAft>
                          <a:spcPts val="0"/>
                        </a:spcAft>
                        <a:defRPr sz="1000" b="0">
                          <a:solidFill>
                            <a:srgbClr val="283443"/>
                          </a:solidFill>
                          <a:latin typeface="Aptos"/>
                        </a:defRPr>
                      </a:pPr>
                      <a:r>
                        <a:t>Developer paths</a:t>
                      </a:r>
                    </a:p>
                  </a:txBody>
                  <a:tcPr marL="64008" marR="45720" marT="36576" marB="27432" anchor="ctr">
                    <a:solidFill>
                      <a:srgbClr val="F2F6FA"/>
                    </a:solidFill>
                  </a:tcPr>
                </a:tc>
                <a:tc>
                  <a:txBody>
                    <a:bodyPr/>
                    <a:lstStyle/>
                    <a:p>
                      <a:pPr>
                        <a:spcAft>
                          <a:spcPts val="0"/>
                        </a:spcAft>
                        <a:defRPr sz="1000" b="0">
                          <a:solidFill>
                            <a:srgbClr val="283443"/>
                          </a:solidFill>
                          <a:latin typeface="Aptos"/>
                        </a:defRPr>
                      </a:pPr>
                      <a:r>
                        <a:t>Portal/SDK prompt agents; hosted agents using supported external frameworks or custom code.</a:t>
                      </a:r>
                    </a:p>
                  </a:txBody>
                  <a:tcPr marL="64008" marR="45720" marT="36576" marB="27432" anchor="ctr">
                    <a:solidFill>
                      <a:srgbClr val="F2F6FA"/>
                    </a:solidFill>
                  </a:tcPr>
                </a:tc>
                <a:tc>
                  <a:txBody>
                    <a:bodyPr/>
                    <a:lstStyle/>
                    <a:p>
                      <a:pPr>
                        <a:spcAft>
                          <a:spcPts val="0"/>
                        </a:spcAft>
                        <a:defRPr sz="1000" b="0">
                          <a:solidFill>
                            <a:srgbClr val="283443"/>
                          </a:solidFill>
                          <a:latin typeface="Aptos"/>
                        </a:defRPr>
                      </a:pPr>
                      <a:r>
                        <a:t>Bring agent code/framework; use individual AgentCore capabilities independently or together.</a:t>
                      </a:r>
                    </a:p>
                  </a:txBody>
                  <a:tcPr marL="64008" marR="45720" marT="36576" marB="27432" anchor="ctr">
                    <a:solidFill>
                      <a:srgbClr val="F2F6FA"/>
                    </a:solidFill>
                  </a:tcPr>
                </a:tc>
              </a:tr>
              <a:tr h="640080">
                <a:tc>
                  <a:txBody>
                    <a:bodyPr/>
                    <a:lstStyle/>
                    <a:p>
                      <a:pPr>
                        <a:spcAft>
                          <a:spcPts val="0"/>
                        </a:spcAft>
                        <a:defRPr sz="1000" b="0">
                          <a:solidFill>
                            <a:srgbClr val="283443"/>
                          </a:solidFill>
                          <a:latin typeface="Aptos"/>
                        </a:defRPr>
                      </a:pPr>
                      <a:r>
                        <a:t>Identity fit</a:t>
                      </a:r>
                    </a:p>
                  </a:txBody>
                  <a:tcPr marL="64008" marR="45720" marT="36576" marB="27432" anchor="ctr">
                    <a:solidFill>
                      <a:srgbClr val="FFFFFF"/>
                    </a:solidFill>
                  </a:tcPr>
                </a:tc>
                <a:tc>
                  <a:txBody>
                    <a:bodyPr/>
                    <a:lstStyle/>
                    <a:p>
                      <a:pPr>
                        <a:spcAft>
                          <a:spcPts val="0"/>
                        </a:spcAft>
                        <a:defRPr sz="1000" b="0">
                          <a:solidFill>
                            <a:srgbClr val="283443"/>
                          </a:solidFill>
                          <a:latin typeface="Aptos"/>
                        </a:defRPr>
                      </a:pPr>
                      <a:r>
                        <a:t>Native Entra agent identity, Azure RBAC and OBO patterns; strong alignment to the selected enterprise IdP.</a:t>
                      </a:r>
                    </a:p>
                  </a:txBody>
                  <a:tcPr marL="64008" marR="45720" marT="36576" marB="27432" anchor="ctr">
                    <a:solidFill>
                      <a:srgbClr val="FFFFFF"/>
                    </a:solidFill>
                  </a:tcPr>
                </a:tc>
                <a:tc>
                  <a:txBody>
                    <a:bodyPr/>
                    <a:lstStyle/>
                    <a:p>
                      <a:pPr>
                        <a:spcAft>
                          <a:spcPts val="0"/>
                        </a:spcAft>
                        <a:defRPr sz="1000" b="0">
                          <a:solidFill>
                            <a:srgbClr val="283443"/>
                          </a:solidFill>
                          <a:latin typeface="Aptos"/>
                        </a:defRPr>
                      </a:pPr>
                      <a:r>
                        <a:t>AgentCore Identity supports external IdPs including Entra; validate exact token-exchange and downstream flows.</a:t>
                      </a:r>
                    </a:p>
                  </a:txBody>
                  <a:tcPr marL="64008" marR="45720" marT="36576" marB="27432" anchor="ctr">
                    <a:solidFill>
                      <a:srgbClr val="FFFFFF"/>
                    </a:solidFill>
                  </a:tcPr>
                </a:tc>
              </a:tr>
              <a:tr h="640080">
                <a:tc>
                  <a:txBody>
                    <a:bodyPr/>
                    <a:lstStyle/>
                    <a:p>
                      <a:pPr>
                        <a:spcAft>
                          <a:spcPts val="0"/>
                        </a:spcAft>
                        <a:defRPr sz="1000" b="0">
                          <a:solidFill>
                            <a:srgbClr val="283443"/>
                          </a:solidFill>
                          <a:latin typeface="Aptos"/>
                        </a:defRPr>
                      </a:pPr>
                      <a:r>
                        <a:t>Tools and protocols</a:t>
                      </a:r>
                    </a:p>
                  </a:txBody>
                  <a:tcPr marL="64008" marR="45720" marT="36576" marB="27432" anchor="ctr">
                    <a:solidFill>
                      <a:srgbClr val="F2F6FA"/>
                    </a:solidFill>
                  </a:tcPr>
                </a:tc>
                <a:tc>
                  <a:txBody>
                    <a:bodyPr/>
                    <a:lstStyle/>
                    <a:p>
                      <a:pPr>
                        <a:spcAft>
                          <a:spcPts val="0"/>
                        </a:spcAft>
                        <a:defRPr sz="1000" b="0">
                          <a:solidFill>
                            <a:srgbClr val="283443"/>
                          </a:solidFill>
                          <a:latin typeface="Aptos"/>
                        </a:defRPr>
                      </a:pPr>
                      <a:r>
                        <a:t>Managed toolboxes/MCP, built-in tools, custom functions, OpenAPI/MCP, and agent publishing paths.</a:t>
                      </a:r>
                    </a:p>
                  </a:txBody>
                  <a:tcPr marL="64008" marR="45720" marT="36576" marB="27432" anchor="ctr">
                    <a:solidFill>
                      <a:srgbClr val="F2F6FA"/>
                    </a:solidFill>
                  </a:tcPr>
                </a:tc>
                <a:tc>
                  <a:txBody>
                    <a:bodyPr/>
                    <a:lstStyle/>
                    <a:p>
                      <a:pPr>
                        <a:spcAft>
                          <a:spcPts val="0"/>
                        </a:spcAft>
                        <a:defRPr sz="1000" b="0">
                          <a:solidFill>
                            <a:srgbClr val="283443"/>
                          </a:solidFill>
                          <a:latin typeface="Aptos"/>
                        </a:defRPr>
                      </a:pPr>
                      <a:r>
                        <a:t>Gateway exposes APIs, Lambda and existing MCP servers as tools; browser and code interpreter are separate managed capabilities.</a:t>
                      </a:r>
                    </a:p>
                  </a:txBody>
                  <a:tcPr marL="64008" marR="45720" marT="36576" marB="27432" anchor="ctr">
                    <a:solidFill>
                      <a:srgbClr val="F2F6FA"/>
                    </a:solidFill>
                  </a:tcPr>
                </a:tc>
              </a:tr>
              <a:tr h="640080">
                <a:tc>
                  <a:txBody>
                    <a:bodyPr/>
                    <a:lstStyle/>
                    <a:p>
                      <a:pPr>
                        <a:spcAft>
                          <a:spcPts val="0"/>
                        </a:spcAft>
                        <a:defRPr sz="1000" b="0">
                          <a:solidFill>
                            <a:srgbClr val="283443"/>
                          </a:solidFill>
                          <a:latin typeface="Aptos"/>
                        </a:defRPr>
                      </a:pPr>
                      <a:r>
                        <a:t>Operational posture</a:t>
                      </a:r>
                    </a:p>
                  </a:txBody>
                  <a:tcPr marL="64008" marR="45720" marT="36576" marB="27432" anchor="ctr">
                    <a:solidFill>
                      <a:srgbClr val="FFFFFF"/>
                    </a:solidFill>
                  </a:tcPr>
                </a:tc>
                <a:tc>
                  <a:txBody>
                    <a:bodyPr/>
                    <a:lstStyle/>
                    <a:p>
                      <a:pPr>
                        <a:spcAft>
                          <a:spcPts val="0"/>
                        </a:spcAft>
                        <a:defRPr sz="1000" b="0">
                          <a:solidFill>
                            <a:srgbClr val="283443"/>
                          </a:solidFill>
                          <a:latin typeface="Aptos"/>
                        </a:defRPr>
                      </a:pPr>
                      <a:r>
                        <a:t>Lower friction for Azure-centric teams; hosted agents still require owning agent code, dependencies and release process.</a:t>
                      </a:r>
                    </a:p>
                  </a:txBody>
                  <a:tcPr marL="64008" marR="45720" marT="36576" marB="27432" anchor="ctr">
                    <a:solidFill>
                      <a:srgbClr val="FFFFFF"/>
                    </a:solidFill>
                  </a:tcPr>
                </a:tc>
                <a:tc>
                  <a:txBody>
                    <a:bodyPr/>
                    <a:lstStyle/>
                    <a:p>
                      <a:pPr>
                        <a:spcAft>
                          <a:spcPts val="0"/>
                        </a:spcAft>
                        <a:defRPr sz="1000" b="0">
                          <a:solidFill>
                            <a:srgbClr val="283443"/>
                          </a:solidFill>
                          <a:latin typeface="Aptos"/>
                        </a:defRPr>
                      </a:pPr>
                      <a:r>
                        <a:t>More modular control and choice; more integration decisions across services, policies, telemetry and data flows.</a:t>
                      </a:r>
                    </a:p>
                  </a:txBody>
                  <a:tcPr marL="64008" marR="45720" marT="36576" marB="27432" anchor="ctr">
                    <a:solidFill>
                      <a:srgbClr val="FFFFFF"/>
                    </a:solidFill>
                  </a:tcPr>
                </a:tc>
              </a:tr>
              <a:tr h="640080">
                <a:tc>
                  <a:txBody>
                    <a:bodyPr/>
                    <a:lstStyle/>
                    <a:p>
                      <a:pPr>
                        <a:spcAft>
                          <a:spcPts val="0"/>
                        </a:spcAft>
                        <a:defRPr sz="1000" b="0">
                          <a:solidFill>
                            <a:srgbClr val="283443"/>
                          </a:solidFill>
                          <a:latin typeface="Aptos"/>
                        </a:defRPr>
                      </a:pPr>
                      <a:r>
                        <a:t>Portability</a:t>
                      </a:r>
                    </a:p>
                  </a:txBody>
                  <a:tcPr marL="64008" marR="45720" marT="36576" marB="27432" anchor="ctr">
                    <a:solidFill>
                      <a:srgbClr val="F2F6FA"/>
                    </a:solidFill>
                  </a:tcPr>
                </a:tc>
                <a:tc>
                  <a:txBody>
                    <a:bodyPr/>
                    <a:lstStyle/>
                    <a:p>
                      <a:pPr>
                        <a:spcAft>
                          <a:spcPts val="0"/>
                        </a:spcAft>
                        <a:defRPr sz="1000" b="0">
                          <a:solidFill>
                            <a:srgbClr val="283443"/>
                          </a:solidFill>
                          <a:latin typeface="Aptos"/>
                        </a:defRPr>
                      </a:pPr>
                      <a:r>
                        <a:t>Framework support is broad, but managed agent definitions, tools, identity and publishing can create platform coupling.</a:t>
                      </a:r>
                    </a:p>
                  </a:txBody>
                  <a:tcPr marL="64008" marR="45720" marT="36576" marB="27432" anchor="ctr">
                    <a:solidFill>
                      <a:srgbClr val="F2F6FA"/>
                    </a:solidFill>
                  </a:tcPr>
                </a:tc>
                <a:tc>
                  <a:txBody>
                    <a:bodyPr/>
                    <a:lstStyle/>
                    <a:p>
                      <a:pPr>
                        <a:spcAft>
                          <a:spcPts val="0"/>
                        </a:spcAft>
                        <a:defRPr sz="1000" b="0">
                          <a:solidFill>
                            <a:srgbClr val="283443"/>
                          </a:solidFill>
                          <a:latin typeface="Aptos"/>
                        </a:defRPr>
                      </a:pPr>
                      <a:r>
                        <a:t>Framework/model flexibility is a strength; AgentCore-specific memory, gateway, identity and policy still create service coupling.</a:t>
                      </a:r>
                    </a:p>
                  </a:txBody>
                  <a:tcPr marL="64008" marR="45720" marT="36576" marB="27432" anchor="ctr">
                    <a:solidFill>
                      <a:srgbClr val="F2F6FA"/>
                    </a:solidFill>
                  </a:tcPr>
                </a:tc>
              </a:tr>
            </a:tbl>
          </a:graphicData>
        </a:graphic>
      </p:graphicFrame>
      <p:sp>
        <p:nvSpPr>
          <p:cNvPr id="8" name="TextBox 7"/>
          <p:cNvSpPr txBox="1"/>
          <p:nvPr/>
        </p:nvSpPr>
        <p:spPr>
          <a:xfrm>
            <a:off x="530352" y="6537960"/>
            <a:ext cx="8961120" cy="164592"/>
          </a:xfrm>
          <a:prstGeom prst="rect">
            <a:avLst/>
          </a:prstGeom>
          <a:noFill/>
        </p:spPr>
        <p:txBody>
          <a:bodyPr wrap="square" lIns="45720" rIns="45720" anchor="t">
            <a:spAutoFit/>
          </a:bodyPr>
          <a:lstStyle/>
          <a:p>
            <a:pPr>
              <a:spcAft>
                <a:spcPts val="500"/>
              </a:spcAft>
              <a:defRPr sz="700" b="0">
                <a:solidFill>
                  <a:srgbClr val="5F6C7A"/>
                </a:solidFill>
                <a:latin typeface="Aptos"/>
              </a:defRPr>
            </a:pPr>
            <a:r>
              <a:t>Enterprise architecture decision brief  |  27 Oct 2026  |  Pricing and feature status should be revalidated at procurement</a:t>
            </a:r>
          </a:p>
        </p:txBody>
      </p:sp>
      <p:sp>
        <p:nvSpPr>
          <p:cNvPr id="9" name="TextBox 8"/>
          <p:cNvSpPr txBox="1"/>
          <p:nvPr/>
        </p:nvSpPr>
        <p:spPr>
          <a:xfrm>
            <a:off x="11155680" y="6510528"/>
            <a:ext cx="457200" cy="201168"/>
          </a:xfrm>
          <a:prstGeom prst="rect">
            <a:avLst/>
          </a:prstGeom>
          <a:noFill/>
        </p:spPr>
        <p:txBody>
          <a:bodyPr wrap="square" lIns="45720" rIns="45720" anchor="t">
            <a:spAutoFit/>
          </a:bodyPr>
          <a:lstStyle/>
          <a:p>
            <a:pPr algn="r">
              <a:spcAft>
                <a:spcPts val="500"/>
              </a:spcAft>
              <a:defRPr sz="800" b="0">
                <a:solidFill>
                  <a:srgbClr val="5F6C7A"/>
                </a:solidFill>
                <a:latin typeface="Aptos"/>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438912"/>
          </a:xfrm>
          <a:prstGeom prst="rect">
            <a:avLst/>
          </a:prstGeom>
          <a:noFill/>
        </p:spPr>
        <p:txBody>
          <a:bodyPr wrap="square" lIns="45720" rIns="45720" anchor="t">
            <a:spAutoFit/>
          </a:bodyPr>
          <a:lstStyle/>
          <a:p>
            <a:pPr>
              <a:spcAft>
                <a:spcPts val="500"/>
              </a:spcAft>
              <a:defRPr sz="2600" b="1">
                <a:solidFill>
                  <a:srgbClr val="12233D"/>
                </a:solidFill>
                <a:latin typeface="Aptos"/>
              </a:defRPr>
            </a:pPr>
            <a:r>
              <a:t>Security: identity is not the same as authorization</a:t>
            </a:r>
          </a:p>
        </p:txBody>
      </p:sp>
      <p:sp>
        <p:nvSpPr>
          <p:cNvPr id="4" name="TextBox 3"/>
          <p:cNvSpPr txBox="1"/>
          <p:nvPr/>
        </p:nvSpPr>
        <p:spPr>
          <a:xfrm>
            <a:off x="530352" y="749808"/>
            <a:ext cx="10972800" cy="384048"/>
          </a:xfrm>
          <a:prstGeom prst="rect">
            <a:avLst/>
          </a:prstGeom>
          <a:noFill/>
        </p:spPr>
        <p:txBody>
          <a:bodyPr wrap="square" lIns="45720" rIns="45720" anchor="t">
            <a:spAutoFit/>
          </a:bodyPr>
          <a:lstStyle/>
          <a:p>
            <a:pPr>
              <a:spcAft>
                <a:spcPts val="500"/>
              </a:spcAft>
              <a:defRPr sz="1100" b="0">
                <a:solidFill>
                  <a:srgbClr val="5F6C7A"/>
                </a:solidFill>
                <a:latin typeface="Aptos"/>
              </a:defRPr>
            </a:pPr>
            <a:r>
              <a:t>Entra is the enterprise IdP; the runtime still needs safe identity propagation and tool-level policy</a:t>
            </a:r>
          </a:p>
        </p:txBody>
      </p:sp>
      <p:sp>
        <p:nvSpPr>
          <p:cNvPr id="5" name="Rectangle 4"/>
          <p:cNvSpPr/>
          <p:nvPr/>
        </p:nvSpPr>
        <p:spPr>
          <a:xfrm>
            <a:off x="530352" y="1170432"/>
            <a:ext cx="11064240" cy="22860"/>
          </a:xfrm>
          <a:prstGeom prst="rect">
            <a:avLst/>
          </a:prstGeom>
          <a:solidFill>
            <a:srgbClr val="0082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66960" y="91440"/>
            <a:ext cx="1554480" cy="201168"/>
          </a:xfrm>
          <a:prstGeom prst="rect">
            <a:avLst/>
          </a:prstGeom>
          <a:noFill/>
        </p:spPr>
        <p:txBody>
          <a:bodyPr wrap="square" lIns="45720" rIns="45720" anchor="t">
            <a:spAutoFit/>
          </a:bodyPr>
          <a:lstStyle/>
          <a:p>
            <a:pPr algn="r">
              <a:spcAft>
                <a:spcPts val="500"/>
              </a:spcAft>
              <a:defRPr sz="800" b="1">
                <a:solidFill>
                  <a:srgbClr val="008284"/>
                </a:solidFill>
                <a:latin typeface="Aptos"/>
              </a:defRPr>
            </a:pPr>
            <a:r>
              <a:t>SECURITY</a:t>
            </a:r>
          </a:p>
        </p:txBody>
      </p:sp>
      <p:sp>
        <p:nvSpPr>
          <p:cNvPr id="7" name="Rounded Rectangle 6"/>
          <p:cNvSpPr/>
          <p:nvPr/>
        </p:nvSpPr>
        <p:spPr>
          <a:xfrm>
            <a:off x="594360" y="1417320"/>
            <a:ext cx="5349240" cy="1828800"/>
          </a:xfrm>
          <a:prstGeom prst="roundRect">
            <a:avLst/>
          </a:prstGeom>
          <a:solidFill>
            <a:srgbClr val="F2F6FA"/>
          </a:solidFill>
          <a:ln>
            <a:solidFill>
              <a:srgbClr val="DB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417320"/>
            <a:ext cx="64008" cy="1828800"/>
          </a:xfrm>
          <a:prstGeom prst="rect">
            <a:avLst/>
          </a:prstGeom>
          <a:solidFill>
            <a:srgbClr val="0082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527048"/>
            <a:ext cx="5074920" cy="320040"/>
          </a:xfrm>
          <a:prstGeom prst="rect">
            <a:avLst/>
          </a:prstGeom>
          <a:noFill/>
        </p:spPr>
        <p:txBody>
          <a:bodyPr wrap="square" lIns="45720" rIns="45720" anchor="t">
            <a:spAutoFit/>
          </a:bodyPr>
          <a:lstStyle/>
          <a:p>
            <a:pPr>
              <a:spcAft>
                <a:spcPts val="500"/>
              </a:spcAft>
              <a:defRPr sz="1500" b="1">
                <a:solidFill>
                  <a:srgbClr val="12233D"/>
                </a:solidFill>
                <a:latin typeface="Aptos"/>
              </a:defRPr>
            </a:pPr>
            <a:r>
              <a:t>Foundry strengths</a:t>
            </a:r>
          </a:p>
        </p:txBody>
      </p:sp>
      <p:sp>
        <p:nvSpPr>
          <p:cNvPr id="10" name="TextBox 9"/>
          <p:cNvSpPr txBox="1"/>
          <p:nvPr/>
        </p:nvSpPr>
        <p:spPr>
          <a:xfrm>
            <a:off x="758952" y="1892808"/>
            <a:ext cx="5074920" cy="1261872"/>
          </a:xfrm>
          <a:prstGeom prst="rect">
            <a:avLst/>
          </a:prstGeom>
          <a:noFill/>
        </p:spPr>
        <p:txBody>
          <a:bodyPr wrap="square" lIns="45720" rIns="45720" anchor="t">
            <a:spAutoFit/>
          </a:bodyPr>
          <a:lstStyle/>
          <a:p>
            <a:pPr>
              <a:spcAft>
                <a:spcPts val="500"/>
              </a:spcAft>
              <a:defRPr sz="1200" b="0">
                <a:solidFill>
                  <a:srgbClr val="283443"/>
                </a:solidFill>
                <a:latin typeface="Aptos"/>
              </a:defRPr>
            </a:pPr>
            <a:r>
              <a:t>• First-class Entra agent identity lifecycle</a:t>
            </a:r>
          </a:p>
          <a:p>
            <a:pPr>
              <a:spcAft>
                <a:spcPts val="500"/>
              </a:spcAft>
              <a:defRPr sz="1200" b="0">
                <a:solidFill>
                  <a:srgbClr val="283443"/>
                </a:solidFill>
                <a:latin typeface="Aptos"/>
              </a:defRPr>
            </a:pPr>
            <a:r>
              <a:t>• Azure RBAC and managed identity integration</a:t>
            </a:r>
          </a:p>
          <a:p>
            <a:pPr>
              <a:spcAft>
                <a:spcPts val="500"/>
              </a:spcAft>
              <a:defRPr sz="1200" b="0">
                <a:solidFill>
                  <a:srgbClr val="283443"/>
                </a:solidFill>
                <a:latin typeface="Aptos"/>
              </a:defRPr>
            </a:pPr>
            <a:r>
              <a:t>• OBO support for selected tool flows</a:t>
            </a:r>
          </a:p>
          <a:p>
            <a:pPr>
              <a:spcAft>
                <a:spcPts val="500"/>
              </a:spcAft>
              <a:defRPr sz="1200" b="0">
                <a:solidFill>
                  <a:srgbClr val="283443"/>
                </a:solidFill>
                <a:latin typeface="Aptos"/>
              </a:defRPr>
            </a:pPr>
            <a:r>
              <a:t>• Built-in content filters and private networking options</a:t>
            </a:r>
          </a:p>
        </p:txBody>
      </p:sp>
      <p:sp>
        <p:nvSpPr>
          <p:cNvPr id="11" name="Rounded Rectangle 10"/>
          <p:cNvSpPr/>
          <p:nvPr/>
        </p:nvSpPr>
        <p:spPr>
          <a:xfrm>
            <a:off x="6172200" y="1417320"/>
            <a:ext cx="5349240" cy="1828800"/>
          </a:xfrm>
          <a:prstGeom prst="roundRect">
            <a:avLst/>
          </a:prstGeom>
          <a:solidFill>
            <a:srgbClr val="F2F6FA"/>
          </a:solidFill>
          <a:ln>
            <a:solidFill>
              <a:srgbClr val="DB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417320"/>
            <a:ext cx="64008" cy="1828800"/>
          </a:xfrm>
          <a:prstGeom prst="rect">
            <a:avLst/>
          </a:prstGeom>
          <a:solidFill>
            <a:srgbClr val="2563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36792" y="1527048"/>
            <a:ext cx="5074920" cy="320040"/>
          </a:xfrm>
          <a:prstGeom prst="rect">
            <a:avLst/>
          </a:prstGeom>
          <a:noFill/>
        </p:spPr>
        <p:txBody>
          <a:bodyPr wrap="square" lIns="45720" rIns="45720" anchor="t">
            <a:spAutoFit/>
          </a:bodyPr>
          <a:lstStyle/>
          <a:p>
            <a:pPr>
              <a:spcAft>
                <a:spcPts val="500"/>
              </a:spcAft>
              <a:defRPr sz="1500" b="1">
                <a:solidFill>
                  <a:srgbClr val="12233D"/>
                </a:solidFill>
                <a:latin typeface="Aptos"/>
              </a:defRPr>
            </a:pPr>
            <a:r>
              <a:t>AgentCore strengths</a:t>
            </a:r>
          </a:p>
        </p:txBody>
      </p:sp>
      <p:sp>
        <p:nvSpPr>
          <p:cNvPr id="14" name="TextBox 13"/>
          <p:cNvSpPr txBox="1"/>
          <p:nvPr/>
        </p:nvSpPr>
        <p:spPr>
          <a:xfrm>
            <a:off x="6336792" y="1892808"/>
            <a:ext cx="5074920" cy="1261872"/>
          </a:xfrm>
          <a:prstGeom prst="rect">
            <a:avLst/>
          </a:prstGeom>
          <a:noFill/>
        </p:spPr>
        <p:txBody>
          <a:bodyPr wrap="square" lIns="45720" rIns="45720" anchor="t">
            <a:spAutoFit/>
          </a:bodyPr>
          <a:lstStyle/>
          <a:p>
            <a:pPr>
              <a:spcAft>
                <a:spcPts val="500"/>
              </a:spcAft>
              <a:defRPr sz="1200" b="0">
                <a:solidFill>
                  <a:srgbClr val="283443"/>
                </a:solidFill>
                <a:latin typeface="Aptos"/>
              </a:defRPr>
            </a:pPr>
            <a:r>
              <a:t>• AgentCore Identity supports external IdPs including Entra</a:t>
            </a:r>
          </a:p>
          <a:p>
            <a:pPr>
              <a:spcAft>
                <a:spcPts val="500"/>
              </a:spcAft>
              <a:defRPr sz="1200" b="0">
                <a:solidFill>
                  <a:srgbClr val="283443"/>
                </a:solidFill>
                <a:latin typeface="Aptos"/>
              </a:defRPr>
            </a:pPr>
            <a:r>
              <a:t>• Modular controls can be adopted independently</a:t>
            </a:r>
          </a:p>
          <a:p>
            <a:pPr>
              <a:spcAft>
                <a:spcPts val="500"/>
              </a:spcAft>
              <a:defRPr sz="1200" b="0">
                <a:solidFill>
                  <a:srgbClr val="283443"/>
                </a:solidFill>
                <a:latin typeface="Aptos"/>
              </a:defRPr>
            </a:pPr>
            <a:r>
              <a:t>• Isolated runtime, browser and code execution services</a:t>
            </a:r>
          </a:p>
          <a:p>
            <a:pPr>
              <a:spcAft>
                <a:spcPts val="500"/>
              </a:spcAft>
              <a:defRPr sz="1200" b="0">
                <a:solidFill>
                  <a:srgbClr val="283443"/>
                </a:solidFill>
                <a:latin typeface="Aptos"/>
              </a:defRPr>
            </a:pPr>
            <a:r>
              <a:t>• Policy checks can authorize tool actions</a:t>
            </a:r>
          </a:p>
        </p:txBody>
      </p:sp>
      <p:sp>
        <p:nvSpPr>
          <p:cNvPr id="15" name="TextBox 14"/>
          <p:cNvSpPr txBox="1"/>
          <p:nvPr/>
        </p:nvSpPr>
        <p:spPr>
          <a:xfrm>
            <a:off x="685800" y="3611880"/>
            <a:ext cx="10698480" cy="320040"/>
          </a:xfrm>
          <a:prstGeom prst="rect">
            <a:avLst/>
          </a:prstGeom>
          <a:noFill/>
        </p:spPr>
        <p:txBody>
          <a:bodyPr wrap="square" lIns="45720" rIns="45720" anchor="t">
            <a:spAutoFit/>
          </a:bodyPr>
          <a:lstStyle/>
          <a:p>
            <a:pPr>
              <a:spcAft>
                <a:spcPts val="500"/>
              </a:spcAft>
              <a:defRPr sz="1700" b="1">
                <a:solidFill>
                  <a:srgbClr val="12233D"/>
                </a:solidFill>
                <a:latin typeface="Aptos"/>
              </a:defRPr>
            </a:pPr>
            <a:r>
              <a:t>Common controls required whichever runtime wins</a:t>
            </a:r>
          </a:p>
        </p:txBody>
      </p:sp>
      <p:sp>
        <p:nvSpPr>
          <p:cNvPr id="16" name="TextBox 15"/>
          <p:cNvSpPr txBox="1"/>
          <p:nvPr/>
        </p:nvSpPr>
        <p:spPr>
          <a:xfrm>
            <a:off x="713232" y="4023360"/>
            <a:ext cx="10698480" cy="1645920"/>
          </a:xfrm>
          <a:prstGeom prst="rect">
            <a:avLst/>
          </a:prstGeom>
          <a:noFill/>
        </p:spPr>
        <p:txBody>
          <a:bodyPr wrap="square" lIns="73152" rIns="73152" tIns="36576" bIns="36576">
            <a:spAutoFit/>
          </a:bodyPr>
          <a:lstStyle/>
          <a:p>
            <a:pPr>
              <a:spcAft>
                <a:spcPts val="500"/>
              </a:spcAft>
              <a:defRPr sz="1400">
                <a:solidFill>
                  <a:srgbClr val="283443"/>
                </a:solidFill>
                <a:latin typeface="Aptos"/>
              </a:defRPr>
            </a:pPr>
            <a:r>
              <a:t>•  Separate user identity, agent identity, and tool/service identity; no shared super-role for all agents.</a:t>
            </a:r>
          </a:p>
          <a:p>
            <a:pPr>
              <a:spcAft>
                <a:spcPts val="500"/>
              </a:spcAft>
              <a:defRPr sz="1400">
                <a:solidFill>
                  <a:srgbClr val="283443"/>
                </a:solidFill>
                <a:latin typeface="Aptos"/>
              </a:defRPr>
            </a:pPr>
            <a:r>
              <a:t>•  Use least-privilege, scoped, short-lived tokens; enforce authorization at the data/tool boundary—not only in the prompt.</a:t>
            </a:r>
          </a:p>
          <a:p>
            <a:pPr>
              <a:spcAft>
                <a:spcPts val="500"/>
              </a:spcAft>
              <a:defRPr sz="1400">
                <a:solidFill>
                  <a:srgbClr val="283443"/>
                </a:solidFill>
                <a:latin typeface="Aptos"/>
              </a:defRPr>
            </a:pPr>
            <a:r>
              <a:t>•  Treat prompt injection, tool poisoning, data exfiltration, unsafe actions, and excessive agency as explicit threat scenarios.</a:t>
            </a:r>
          </a:p>
          <a:p>
            <a:pPr>
              <a:spcAft>
                <a:spcPts val="500"/>
              </a:spcAft>
              <a:defRPr sz="1400">
                <a:solidFill>
                  <a:srgbClr val="283443"/>
                </a:solidFill>
                <a:latin typeface="Aptos"/>
              </a:defRPr>
            </a:pPr>
            <a:r>
              <a:t>•  Redact secrets and sensitive payloads from prompts, traces, logs, evaluations, and replay datasets; retain auditable policy decisions.</a:t>
            </a:r>
          </a:p>
        </p:txBody>
      </p:sp>
      <p:sp>
        <p:nvSpPr>
          <p:cNvPr id="17" name="TextBox 16"/>
          <p:cNvSpPr txBox="1"/>
          <p:nvPr/>
        </p:nvSpPr>
        <p:spPr>
          <a:xfrm>
            <a:off x="713232" y="5806440"/>
            <a:ext cx="10515600" cy="320040"/>
          </a:xfrm>
          <a:prstGeom prst="rect">
            <a:avLst/>
          </a:prstGeom>
          <a:noFill/>
        </p:spPr>
        <p:txBody>
          <a:bodyPr wrap="square" lIns="45720" rIns="45720" anchor="t">
            <a:spAutoFit/>
          </a:bodyPr>
          <a:lstStyle/>
          <a:p>
            <a:pPr>
              <a:spcAft>
                <a:spcPts val="500"/>
              </a:spcAft>
              <a:defRPr sz="1100" b="1">
                <a:solidFill>
                  <a:srgbClr val="A54242"/>
                </a:solidFill>
                <a:latin typeface="Aptos"/>
              </a:defRPr>
            </a:pPr>
            <a:r>
              <a:t>Gate: threat model + penetration test + negative tests for cross-user data access, tool escalation and gateway bypass.</a:t>
            </a:r>
          </a:p>
        </p:txBody>
      </p:sp>
      <p:sp>
        <p:nvSpPr>
          <p:cNvPr id="18" name="TextBox 17"/>
          <p:cNvSpPr txBox="1"/>
          <p:nvPr/>
        </p:nvSpPr>
        <p:spPr>
          <a:xfrm>
            <a:off x="530352" y="6537960"/>
            <a:ext cx="8961120" cy="164592"/>
          </a:xfrm>
          <a:prstGeom prst="rect">
            <a:avLst/>
          </a:prstGeom>
          <a:noFill/>
        </p:spPr>
        <p:txBody>
          <a:bodyPr wrap="square" lIns="45720" rIns="45720" anchor="t">
            <a:spAutoFit/>
          </a:bodyPr>
          <a:lstStyle/>
          <a:p>
            <a:pPr>
              <a:spcAft>
                <a:spcPts val="500"/>
              </a:spcAft>
              <a:defRPr sz="700" b="0">
                <a:solidFill>
                  <a:srgbClr val="5F6C7A"/>
                </a:solidFill>
                <a:latin typeface="Aptos"/>
              </a:defRPr>
            </a:pPr>
            <a:r>
              <a:t>Enterprise architecture decision brief  |  27 Oct 2026  |  Pricing and feature status should be revalidated at procurement</a:t>
            </a:r>
          </a:p>
        </p:txBody>
      </p:sp>
      <p:sp>
        <p:nvSpPr>
          <p:cNvPr id="19" name="TextBox 18"/>
          <p:cNvSpPr txBox="1"/>
          <p:nvPr/>
        </p:nvSpPr>
        <p:spPr>
          <a:xfrm>
            <a:off x="11155680" y="6510528"/>
            <a:ext cx="457200" cy="201168"/>
          </a:xfrm>
          <a:prstGeom prst="rect">
            <a:avLst/>
          </a:prstGeom>
          <a:noFill/>
        </p:spPr>
        <p:txBody>
          <a:bodyPr wrap="square" lIns="45720" rIns="45720" anchor="t">
            <a:spAutoFit/>
          </a:bodyPr>
          <a:lstStyle/>
          <a:p>
            <a:pPr algn="r">
              <a:spcAft>
                <a:spcPts val="500"/>
              </a:spcAft>
              <a:defRPr sz="800" b="0">
                <a:solidFill>
                  <a:srgbClr val="5F6C7A"/>
                </a:solidFill>
                <a:latin typeface="Aptos"/>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438912"/>
          </a:xfrm>
          <a:prstGeom prst="rect">
            <a:avLst/>
          </a:prstGeom>
          <a:noFill/>
        </p:spPr>
        <p:txBody>
          <a:bodyPr wrap="square" lIns="45720" rIns="45720" anchor="t">
            <a:spAutoFit/>
          </a:bodyPr>
          <a:lstStyle/>
          <a:p>
            <a:pPr>
              <a:spcAft>
                <a:spcPts val="500"/>
              </a:spcAft>
              <a:defRPr sz="2600" b="1">
                <a:solidFill>
                  <a:srgbClr val="12233D"/>
                </a:solidFill>
                <a:latin typeface="Aptos"/>
              </a:defRPr>
            </a:pPr>
            <a:r>
              <a:t>Reference architecture: Kong must be in the model path</a:t>
            </a:r>
          </a:p>
        </p:txBody>
      </p:sp>
      <p:sp>
        <p:nvSpPr>
          <p:cNvPr id="4" name="TextBox 3"/>
          <p:cNvSpPr txBox="1"/>
          <p:nvPr/>
        </p:nvSpPr>
        <p:spPr>
          <a:xfrm>
            <a:off x="530352" y="749808"/>
            <a:ext cx="10972800" cy="384048"/>
          </a:xfrm>
          <a:prstGeom prst="rect">
            <a:avLst/>
          </a:prstGeom>
          <a:noFill/>
        </p:spPr>
        <p:txBody>
          <a:bodyPr wrap="square" lIns="45720" rIns="45720" anchor="t">
            <a:spAutoFit/>
          </a:bodyPr>
          <a:lstStyle/>
          <a:p>
            <a:pPr>
              <a:spcAft>
                <a:spcPts val="500"/>
              </a:spcAft>
              <a:defRPr sz="1100" b="0">
                <a:solidFill>
                  <a:srgbClr val="5F6C7A"/>
                </a:solidFill>
                <a:latin typeface="Aptos"/>
              </a:defRPr>
            </a:pPr>
            <a:r>
              <a:t>Prove the actual runtime call path; do not infer gateway compliance from a configured endpoint</a:t>
            </a:r>
          </a:p>
        </p:txBody>
      </p:sp>
      <p:sp>
        <p:nvSpPr>
          <p:cNvPr id="5" name="Rectangle 4"/>
          <p:cNvSpPr/>
          <p:nvPr/>
        </p:nvSpPr>
        <p:spPr>
          <a:xfrm>
            <a:off x="530352" y="1170432"/>
            <a:ext cx="11064240" cy="22860"/>
          </a:xfrm>
          <a:prstGeom prst="rect">
            <a:avLst/>
          </a:prstGeom>
          <a:solidFill>
            <a:srgbClr val="0082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66960" y="91440"/>
            <a:ext cx="1554480" cy="201168"/>
          </a:xfrm>
          <a:prstGeom prst="rect">
            <a:avLst/>
          </a:prstGeom>
          <a:noFill/>
        </p:spPr>
        <p:txBody>
          <a:bodyPr wrap="square" lIns="45720" rIns="45720" anchor="t">
            <a:spAutoFit/>
          </a:bodyPr>
          <a:lstStyle/>
          <a:p>
            <a:pPr algn="r">
              <a:spcAft>
                <a:spcPts val="500"/>
              </a:spcAft>
              <a:defRPr sz="800" b="1">
                <a:solidFill>
                  <a:srgbClr val="008284"/>
                </a:solidFill>
                <a:latin typeface="Aptos"/>
              </a:defRPr>
            </a:pPr>
            <a:r>
              <a:t>ARCHITECTURE</a:t>
            </a:r>
          </a:p>
        </p:txBody>
      </p:sp>
      <p:sp>
        <p:nvSpPr>
          <p:cNvPr id="7" name="Rounded Rectangle 6"/>
          <p:cNvSpPr/>
          <p:nvPr/>
        </p:nvSpPr>
        <p:spPr>
          <a:xfrm>
            <a:off x="502920" y="1920240"/>
            <a:ext cx="1645920" cy="777240"/>
          </a:xfrm>
          <a:prstGeom prst="roundRect">
            <a:avLst/>
          </a:prstGeom>
          <a:solidFill>
            <a:srgbClr val="F2F6FA"/>
          </a:solidFill>
          <a:ln w="20320">
            <a:solidFill>
              <a:srgbClr val="2563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039112"/>
            <a:ext cx="1554480" cy="246888"/>
          </a:xfrm>
          <a:prstGeom prst="rect">
            <a:avLst/>
          </a:prstGeom>
          <a:noFill/>
        </p:spPr>
        <p:txBody>
          <a:bodyPr wrap="square" lIns="45720" rIns="45720" anchor="t">
            <a:spAutoFit/>
          </a:bodyPr>
          <a:lstStyle/>
          <a:p>
            <a:pPr algn="ctr">
              <a:spcAft>
                <a:spcPts val="500"/>
              </a:spcAft>
              <a:defRPr sz="1100" b="1">
                <a:solidFill>
                  <a:srgbClr val="12233D"/>
                </a:solidFill>
                <a:latin typeface="Aptos"/>
              </a:defRPr>
            </a:pPr>
            <a:r>
              <a:t>User / App</a:t>
            </a:r>
          </a:p>
        </p:txBody>
      </p:sp>
      <p:sp>
        <p:nvSpPr>
          <p:cNvPr id="9" name="TextBox 8"/>
          <p:cNvSpPr txBox="1"/>
          <p:nvPr/>
        </p:nvSpPr>
        <p:spPr>
          <a:xfrm>
            <a:off x="548640" y="2340864"/>
            <a:ext cx="1554480" cy="228600"/>
          </a:xfrm>
          <a:prstGeom prst="rect">
            <a:avLst/>
          </a:prstGeom>
          <a:noFill/>
        </p:spPr>
        <p:txBody>
          <a:bodyPr wrap="square" lIns="45720" rIns="45720" anchor="t">
            <a:spAutoFit/>
          </a:bodyPr>
          <a:lstStyle/>
          <a:p>
            <a:pPr algn="ctr">
              <a:spcAft>
                <a:spcPts val="500"/>
              </a:spcAft>
              <a:defRPr sz="800" b="0">
                <a:solidFill>
                  <a:srgbClr val="5F6C7A"/>
                </a:solidFill>
                <a:latin typeface="Aptos"/>
              </a:defRPr>
            </a:pPr>
            <a:r>
              <a:t>Entra sign-in</a:t>
            </a:r>
          </a:p>
        </p:txBody>
      </p:sp>
      <p:sp>
        <p:nvSpPr>
          <p:cNvPr id="10" name="Rounded Rectangle 9"/>
          <p:cNvSpPr/>
          <p:nvPr/>
        </p:nvSpPr>
        <p:spPr>
          <a:xfrm>
            <a:off x="2514600" y="1920240"/>
            <a:ext cx="1645920" cy="777240"/>
          </a:xfrm>
          <a:prstGeom prst="roundRect">
            <a:avLst/>
          </a:prstGeom>
          <a:solidFill>
            <a:srgbClr val="F2F6FA"/>
          </a:solidFill>
          <a:ln w="20320">
            <a:solidFill>
              <a:srgbClr val="0082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60320" y="2039112"/>
            <a:ext cx="1554480" cy="246888"/>
          </a:xfrm>
          <a:prstGeom prst="rect">
            <a:avLst/>
          </a:prstGeom>
          <a:noFill/>
        </p:spPr>
        <p:txBody>
          <a:bodyPr wrap="square" lIns="45720" rIns="45720" anchor="t">
            <a:spAutoFit/>
          </a:bodyPr>
          <a:lstStyle/>
          <a:p>
            <a:pPr algn="ctr">
              <a:spcAft>
                <a:spcPts val="500"/>
              </a:spcAft>
              <a:defRPr sz="1100" b="1">
                <a:solidFill>
                  <a:srgbClr val="12233D"/>
                </a:solidFill>
                <a:latin typeface="Aptos"/>
              </a:defRPr>
            </a:pPr>
            <a:r>
              <a:t>Agent Runtime</a:t>
            </a:r>
          </a:p>
        </p:txBody>
      </p:sp>
      <p:sp>
        <p:nvSpPr>
          <p:cNvPr id="12" name="TextBox 11"/>
          <p:cNvSpPr txBox="1"/>
          <p:nvPr/>
        </p:nvSpPr>
        <p:spPr>
          <a:xfrm>
            <a:off x="2560320" y="2340864"/>
            <a:ext cx="1554480" cy="228600"/>
          </a:xfrm>
          <a:prstGeom prst="rect">
            <a:avLst/>
          </a:prstGeom>
          <a:noFill/>
        </p:spPr>
        <p:txBody>
          <a:bodyPr wrap="square" lIns="45720" rIns="45720" anchor="t">
            <a:spAutoFit/>
          </a:bodyPr>
          <a:lstStyle/>
          <a:p>
            <a:pPr algn="ctr">
              <a:spcAft>
                <a:spcPts val="500"/>
              </a:spcAft>
              <a:defRPr sz="800" b="0">
                <a:solidFill>
                  <a:srgbClr val="5F6C7A"/>
                </a:solidFill>
                <a:latin typeface="Aptos"/>
              </a:defRPr>
            </a:pPr>
            <a:r>
              <a:t>Foundry or AgentCore</a:t>
            </a:r>
          </a:p>
        </p:txBody>
      </p:sp>
      <p:sp>
        <p:nvSpPr>
          <p:cNvPr id="13" name="Rounded Rectangle 12"/>
          <p:cNvSpPr/>
          <p:nvPr/>
        </p:nvSpPr>
        <p:spPr>
          <a:xfrm>
            <a:off x="4572000" y="1920240"/>
            <a:ext cx="1737360" cy="777240"/>
          </a:xfrm>
          <a:prstGeom prst="roundRect">
            <a:avLst/>
          </a:prstGeom>
          <a:solidFill>
            <a:srgbClr val="F2F6FA"/>
          </a:solidFill>
          <a:ln w="20320">
            <a:solidFill>
              <a:srgbClr val="CF7E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2039112"/>
            <a:ext cx="1645919" cy="246888"/>
          </a:xfrm>
          <a:prstGeom prst="rect">
            <a:avLst/>
          </a:prstGeom>
          <a:noFill/>
        </p:spPr>
        <p:txBody>
          <a:bodyPr wrap="square" lIns="45720" rIns="45720" anchor="t">
            <a:spAutoFit/>
          </a:bodyPr>
          <a:lstStyle/>
          <a:p>
            <a:pPr algn="ctr">
              <a:spcAft>
                <a:spcPts val="500"/>
              </a:spcAft>
              <a:defRPr sz="1100" b="1">
                <a:solidFill>
                  <a:srgbClr val="12233D"/>
                </a:solidFill>
                <a:latin typeface="Aptos"/>
              </a:defRPr>
            </a:pPr>
            <a:r>
              <a:t>Kong AI Gateway</a:t>
            </a:r>
          </a:p>
        </p:txBody>
      </p:sp>
      <p:sp>
        <p:nvSpPr>
          <p:cNvPr id="15" name="TextBox 14"/>
          <p:cNvSpPr txBox="1"/>
          <p:nvPr/>
        </p:nvSpPr>
        <p:spPr>
          <a:xfrm>
            <a:off x="4617720" y="2340864"/>
            <a:ext cx="1645919" cy="228600"/>
          </a:xfrm>
          <a:prstGeom prst="rect">
            <a:avLst/>
          </a:prstGeom>
          <a:noFill/>
        </p:spPr>
        <p:txBody>
          <a:bodyPr wrap="square" lIns="45720" rIns="45720" anchor="t">
            <a:spAutoFit/>
          </a:bodyPr>
          <a:lstStyle/>
          <a:p>
            <a:pPr algn="ctr">
              <a:spcAft>
                <a:spcPts val="500"/>
              </a:spcAft>
              <a:defRPr sz="800" b="0">
                <a:solidFill>
                  <a:srgbClr val="5F6C7A"/>
                </a:solidFill>
                <a:latin typeface="Aptos"/>
              </a:defRPr>
            </a:pPr>
            <a:r>
              <a:t>Policy • routing • keys</a:t>
            </a:r>
          </a:p>
        </p:txBody>
      </p:sp>
      <p:sp>
        <p:nvSpPr>
          <p:cNvPr id="16" name="Rounded Rectangle 15"/>
          <p:cNvSpPr/>
          <p:nvPr/>
        </p:nvSpPr>
        <p:spPr>
          <a:xfrm>
            <a:off x="6720840" y="1920240"/>
            <a:ext cx="1554480" cy="777240"/>
          </a:xfrm>
          <a:prstGeom prst="roundRect">
            <a:avLst/>
          </a:prstGeom>
          <a:solidFill>
            <a:srgbClr val="F2F6FA"/>
          </a:solidFill>
          <a:ln w="20320">
            <a:solidFill>
              <a:srgbClr val="2563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66559" y="2039112"/>
            <a:ext cx="1463039" cy="246888"/>
          </a:xfrm>
          <a:prstGeom prst="rect">
            <a:avLst/>
          </a:prstGeom>
          <a:noFill/>
        </p:spPr>
        <p:txBody>
          <a:bodyPr wrap="square" lIns="45720" rIns="45720" anchor="t">
            <a:spAutoFit/>
          </a:bodyPr>
          <a:lstStyle/>
          <a:p>
            <a:pPr algn="ctr">
              <a:spcAft>
                <a:spcPts val="500"/>
              </a:spcAft>
              <a:defRPr sz="1100" b="1">
                <a:solidFill>
                  <a:srgbClr val="12233D"/>
                </a:solidFill>
                <a:latin typeface="Aptos"/>
              </a:defRPr>
            </a:pPr>
            <a:r>
              <a:t>LLM Provider</a:t>
            </a:r>
          </a:p>
        </p:txBody>
      </p:sp>
      <p:sp>
        <p:nvSpPr>
          <p:cNvPr id="18" name="TextBox 17"/>
          <p:cNvSpPr txBox="1"/>
          <p:nvPr/>
        </p:nvSpPr>
        <p:spPr>
          <a:xfrm>
            <a:off x="6766559" y="2340864"/>
            <a:ext cx="1463039" cy="228600"/>
          </a:xfrm>
          <a:prstGeom prst="rect">
            <a:avLst/>
          </a:prstGeom>
          <a:noFill/>
        </p:spPr>
        <p:txBody>
          <a:bodyPr wrap="square" lIns="45720" rIns="45720" anchor="t">
            <a:spAutoFit/>
          </a:bodyPr>
          <a:lstStyle/>
          <a:p>
            <a:pPr algn="ctr">
              <a:spcAft>
                <a:spcPts val="500"/>
              </a:spcAft>
              <a:defRPr sz="800" b="0">
                <a:solidFill>
                  <a:srgbClr val="5F6C7A"/>
                </a:solidFill>
                <a:latin typeface="Aptos"/>
              </a:defRPr>
            </a:pPr>
            <a:r>
              <a:t>Azure / other models</a:t>
            </a:r>
          </a:p>
        </p:txBody>
      </p:sp>
      <p:sp>
        <p:nvSpPr>
          <p:cNvPr id="19" name="Rounded Rectangle 18"/>
          <p:cNvSpPr/>
          <p:nvPr/>
        </p:nvSpPr>
        <p:spPr>
          <a:xfrm>
            <a:off x="8686800" y="1920240"/>
            <a:ext cx="1325880" cy="777240"/>
          </a:xfrm>
          <a:prstGeom prst="roundRect">
            <a:avLst/>
          </a:prstGeom>
          <a:solidFill>
            <a:srgbClr val="F2F6FA"/>
          </a:solidFill>
          <a:ln w="20320">
            <a:solidFill>
              <a:srgbClr val="0082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32520" y="2039112"/>
            <a:ext cx="1234439" cy="246888"/>
          </a:xfrm>
          <a:prstGeom prst="rect">
            <a:avLst/>
          </a:prstGeom>
          <a:noFill/>
        </p:spPr>
        <p:txBody>
          <a:bodyPr wrap="square" lIns="45720" rIns="45720" anchor="t">
            <a:spAutoFit/>
          </a:bodyPr>
          <a:lstStyle/>
          <a:p>
            <a:pPr algn="ctr">
              <a:spcAft>
                <a:spcPts val="500"/>
              </a:spcAft>
              <a:defRPr sz="1100" b="1">
                <a:solidFill>
                  <a:srgbClr val="12233D"/>
                </a:solidFill>
                <a:latin typeface="Aptos"/>
              </a:defRPr>
            </a:pPr>
            <a:r>
              <a:t>Tool Layer</a:t>
            </a:r>
          </a:p>
        </p:txBody>
      </p:sp>
      <p:sp>
        <p:nvSpPr>
          <p:cNvPr id="21" name="TextBox 20"/>
          <p:cNvSpPr txBox="1"/>
          <p:nvPr/>
        </p:nvSpPr>
        <p:spPr>
          <a:xfrm>
            <a:off x="8732520" y="2340864"/>
            <a:ext cx="1234439" cy="228600"/>
          </a:xfrm>
          <a:prstGeom prst="rect">
            <a:avLst/>
          </a:prstGeom>
          <a:noFill/>
        </p:spPr>
        <p:txBody>
          <a:bodyPr wrap="square" lIns="45720" rIns="45720" anchor="t">
            <a:spAutoFit/>
          </a:bodyPr>
          <a:lstStyle/>
          <a:p>
            <a:pPr algn="ctr">
              <a:spcAft>
                <a:spcPts val="500"/>
              </a:spcAft>
              <a:defRPr sz="800" b="0">
                <a:solidFill>
                  <a:srgbClr val="5F6C7A"/>
                </a:solidFill>
                <a:latin typeface="Aptos"/>
              </a:defRPr>
            </a:pPr>
            <a:r>
              <a:t>MCP / APIs</a:t>
            </a:r>
          </a:p>
        </p:txBody>
      </p:sp>
      <p:sp>
        <p:nvSpPr>
          <p:cNvPr id="22" name="Rounded Rectangle 21"/>
          <p:cNvSpPr/>
          <p:nvPr/>
        </p:nvSpPr>
        <p:spPr>
          <a:xfrm>
            <a:off x="10332720" y="1920240"/>
            <a:ext cx="1325880" cy="777240"/>
          </a:xfrm>
          <a:prstGeom prst="roundRect">
            <a:avLst/>
          </a:prstGeom>
          <a:solidFill>
            <a:srgbClr val="F2F6FA"/>
          </a:solidFill>
          <a:ln w="20320">
            <a:solidFill>
              <a:srgbClr val="12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78440" y="2039112"/>
            <a:ext cx="1234439" cy="246888"/>
          </a:xfrm>
          <a:prstGeom prst="rect">
            <a:avLst/>
          </a:prstGeom>
          <a:noFill/>
        </p:spPr>
        <p:txBody>
          <a:bodyPr wrap="square" lIns="45720" rIns="45720" anchor="t">
            <a:spAutoFit/>
          </a:bodyPr>
          <a:lstStyle/>
          <a:p>
            <a:pPr algn="ctr">
              <a:spcAft>
                <a:spcPts val="500"/>
              </a:spcAft>
              <a:defRPr sz="1100" b="1">
                <a:solidFill>
                  <a:srgbClr val="12233D"/>
                </a:solidFill>
                <a:latin typeface="Aptos"/>
              </a:defRPr>
            </a:pPr>
            <a:r>
              <a:t>Data</a:t>
            </a:r>
          </a:p>
        </p:txBody>
      </p:sp>
      <p:sp>
        <p:nvSpPr>
          <p:cNvPr id="24" name="TextBox 23"/>
          <p:cNvSpPr txBox="1"/>
          <p:nvPr/>
        </p:nvSpPr>
        <p:spPr>
          <a:xfrm>
            <a:off x="10378440" y="2340864"/>
            <a:ext cx="1234439" cy="228600"/>
          </a:xfrm>
          <a:prstGeom prst="rect">
            <a:avLst/>
          </a:prstGeom>
          <a:noFill/>
        </p:spPr>
        <p:txBody>
          <a:bodyPr wrap="square" lIns="45720" rIns="45720" anchor="t">
            <a:spAutoFit/>
          </a:bodyPr>
          <a:lstStyle/>
          <a:p>
            <a:pPr algn="ctr">
              <a:spcAft>
                <a:spcPts val="500"/>
              </a:spcAft>
              <a:defRPr sz="800" b="0">
                <a:solidFill>
                  <a:srgbClr val="5F6C7A"/>
                </a:solidFill>
                <a:latin typeface="Aptos"/>
              </a:defRPr>
            </a:pPr>
            <a:r>
              <a:t>Azure / DBX</a:t>
            </a:r>
          </a:p>
        </p:txBody>
      </p:sp>
      <p:sp>
        <p:nvSpPr>
          <p:cNvPr id="25" name="Right Arrow 24"/>
          <p:cNvSpPr/>
          <p:nvPr/>
        </p:nvSpPr>
        <p:spPr>
          <a:xfrm>
            <a:off x="2148840" y="2212848"/>
            <a:ext cx="365759" cy="164592"/>
          </a:xfrm>
          <a:prstGeom prst="rightArrow">
            <a:avLst/>
          </a:prstGeom>
          <a:solidFill>
            <a:srgbClr val="5F6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ight Arrow 25"/>
          <p:cNvSpPr/>
          <p:nvPr/>
        </p:nvSpPr>
        <p:spPr>
          <a:xfrm>
            <a:off x="4160520" y="2212848"/>
            <a:ext cx="411480" cy="164592"/>
          </a:xfrm>
          <a:prstGeom prst="rightArrow">
            <a:avLst/>
          </a:prstGeom>
          <a:solidFill>
            <a:srgbClr val="5F6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ight Arrow 26"/>
          <p:cNvSpPr/>
          <p:nvPr/>
        </p:nvSpPr>
        <p:spPr>
          <a:xfrm>
            <a:off x="6309360" y="2212848"/>
            <a:ext cx="411479" cy="164592"/>
          </a:xfrm>
          <a:prstGeom prst="rightArrow">
            <a:avLst/>
          </a:prstGeom>
          <a:solidFill>
            <a:srgbClr val="5F6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ight Arrow 27"/>
          <p:cNvSpPr/>
          <p:nvPr/>
        </p:nvSpPr>
        <p:spPr>
          <a:xfrm>
            <a:off x="8275320" y="2212848"/>
            <a:ext cx="411479" cy="164592"/>
          </a:xfrm>
          <a:prstGeom prst="rightArrow">
            <a:avLst/>
          </a:prstGeom>
          <a:solidFill>
            <a:srgbClr val="5F6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ight Arrow 28"/>
          <p:cNvSpPr/>
          <p:nvPr/>
        </p:nvSpPr>
        <p:spPr>
          <a:xfrm>
            <a:off x="10012680" y="2212848"/>
            <a:ext cx="320040" cy="164592"/>
          </a:xfrm>
          <a:prstGeom prst="rightArrow">
            <a:avLst/>
          </a:prstGeom>
          <a:solidFill>
            <a:srgbClr val="5F6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58368" y="3246120"/>
            <a:ext cx="3474720" cy="1463040"/>
          </a:xfrm>
          <a:prstGeom prst="roundRect">
            <a:avLst/>
          </a:prstGeom>
          <a:solidFill>
            <a:srgbClr val="F2F6FA"/>
          </a:solidFill>
          <a:ln>
            <a:solidFill>
              <a:srgbClr val="DB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58368" y="3246120"/>
            <a:ext cx="64008" cy="1463040"/>
          </a:xfrm>
          <a:prstGeom prst="rect">
            <a:avLst/>
          </a:prstGeom>
          <a:solidFill>
            <a:srgbClr val="0082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59" y="3355848"/>
            <a:ext cx="3200400" cy="320040"/>
          </a:xfrm>
          <a:prstGeom prst="rect">
            <a:avLst/>
          </a:prstGeom>
          <a:noFill/>
        </p:spPr>
        <p:txBody>
          <a:bodyPr wrap="square" lIns="45720" rIns="45720" anchor="t">
            <a:spAutoFit/>
          </a:bodyPr>
          <a:lstStyle/>
          <a:p>
            <a:pPr>
              <a:spcAft>
                <a:spcPts val="500"/>
              </a:spcAft>
              <a:defRPr sz="1400" b="1">
                <a:solidFill>
                  <a:srgbClr val="12233D"/>
                </a:solidFill>
                <a:latin typeface="Aptos"/>
              </a:defRPr>
            </a:pPr>
            <a:r>
              <a:t>Identity &amp; authorization</a:t>
            </a:r>
          </a:p>
        </p:txBody>
      </p:sp>
      <p:sp>
        <p:nvSpPr>
          <p:cNvPr id="33" name="TextBox 32"/>
          <p:cNvSpPr txBox="1"/>
          <p:nvPr/>
        </p:nvSpPr>
        <p:spPr>
          <a:xfrm>
            <a:off x="822959" y="3721608"/>
            <a:ext cx="3200400" cy="896112"/>
          </a:xfrm>
          <a:prstGeom prst="rect">
            <a:avLst/>
          </a:prstGeom>
          <a:noFill/>
        </p:spPr>
        <p:txBody>
          <a:bodyPr wrap="square" lIns="45720" rIns="45720" anchor="t">
            <a:spAutoFit/>
          </a:bodyPr>
          <a:lstStyle/>
          <a:p>
            <a:pPr>
              <a:spcAft>
                <a:spcPts val="500"/>
              </a:spcAft>
              <a:defRPr sz="1100" b="0">
                <a:solidFill>
                  <a:srgbClr val="283443"/>
                </a:solidFill>
                <a:latin typeface="Aptos"/>
              </a:defRPr>
            </a:pPr>
            <a:r>
              <a:t>Entra user context / agent identity → scoped tool tokens → data-level authorization.</a:t>
            </a:r>
          </a:p>
        </p:txBody>
      </p:sp>
      <p:sp>
        <p:nvSpPr>
          <p:cNvPr id="34" name="Rounded Rectangle 33"/>
          <p:cNvSpPr/>
          <p:nvPr/>
        </p:nvSpPr>
        <p:spPr>
          <a:xfrm>
            <a:off x="4361688" y="3246120"/>
            <a:ext cx="3474720" cy="1463040"/>
          </a:xfrm>
          <a:prstGeom prst="roundRect">
            <a:avLst/>
          </a:prstGeom>
          <a:solidFill>
            <a:srgbClr val="F2F6FA"/>
          </a:solidFill>
          <a:ln>
            <a:solidFill>
              <a:srgbClr val="DB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361688" y="3246120"/>
            <a:ext cx="64008" cy="1463040"/>
          </a:xfrm>
          <a:prstGeom prst="rect">
            <a:avLst/>
          </a:prstGeom>
          <a:solidFill>
            <a:srgbClr val="2563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26279" y="3355848"/>
            <a:ext cx="3200400" cy="320040"/>
          </a:xfrm>
          <a:prstGeom prst="rect">
            <a:avLst/>
          </a:prstGeom>
          <a:noFill/>
        </p:spPr>
        <p:txBody>
          <a:bodyPr wrap="square" lIns="45720" rIns="45720" anchor="t">
            <a:spAutoFit/>
          </a:bodyPr>
          <a:lstStyle/>
          <a:p>
            <a:pPr>
              <a:spcAft>
                <a:spcPts val="500"/>
              </a:spcAft>
              <a:defRPr sz="1400" b="1">
                <a:solidFill>
                  <a:srgbClr val="12233D"/>
                </a:solidFill>
                <a:latin typeface="Aptos"/>
              </a:defRPr>
            </a:pPr>
            <a:r>
              <a:t>Observability plane</a:t>
            </a:r>
          </a:p>
        </p:txBody>
      </p:sp>
      <p:sp>
        <p:nvSpPr>
          <p:cNvPr id="37" name="TextBox 36"/>
          <p:cNvSpPr txBox="1"/>
          <p:nvPr/>
        </p:nvSpPr>
        <p:spPr>
          <a:xfrm>
            <a:off x="4526279" y="3721608"/>
            <a:ext cx="3200400" cy="896112"/>
          </a:xfrm>
          <a:prstGeom prst="rect">
            <a:avLst/>
          </a:prstGeom>
          <a:noFill/>
        </p:spPr>
        <p:txBody>
          <a:bodyPr wrap="square" lIns="45720" rIns="45720" anchor="t">
            <a:spAutoFit/>
          </a:bodyPr>
          <a:lstStyle/>
          <a:p>
            <a:pPr>
              <a:spcAft>
                <a:spcPts val="500"/>
              </a:spcAft>
              <a:defRPr sz="1100" b="0">
                <a:solidFill>
                  <a:srgbClr val="283443"/>
                </a:solidFill>
                <a:latin typeface="Aptos"/>
              </a:defRPr>
            </a:pPr>
            <a:r>
              <a:t>OpenTelemetry traces + runtime metrics/logs → Dynatrace; preserve correlation IDs across gateway and tools.</a:t>
            </a:r>
          </a:p>
        </p:txBody>
      </p:sp>
      <p:sp>
        <p:nvSpPr>
          <p:cNvPr id="38" name="Rounded Rectangle 37"/>
          <p:cNvSpPr/>
          <p:nvPr/>
        </p:nvSpPr>
        <p:spPr>
          <a:xfrm>
            <a:off x="8065008" y="3246120"/>
            <a:ext cx="3474720" cy="1463040"/>
          </a:xfrm>
          <a:prstGeom prst="roundRect">
            <a:avLst/>
          </a:prstGeom>
          <a:solidFill>
            <a:srgbClr val="F2F6FA"/>
          </a:solidFill>
          <a:ln>
            <a:solidFill>
              <a:srgbClr val="DB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65008" y="3246120"/>
            <a:ext cx="64008" cy="1463040"/>
          </a:xfrm>
          <a:prstGeom prst="rect">
            <a:avLst/>
          </a:prstGeom>
          <a:solidFill>
            <a:srgbClr val="CF7E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29600" y="3355848"/>
            <a:ext cx="3200400" cy="320040"/>
          </a:xfrm>
          <a:prstGeom prst="rect">
            <a:avLst/>
          </a:prstGeom>
          <a:noFill/>
        </p:spPr>
        <p:txBody>
          <a:bodyPr wrap="square" lIns="45720" rIns="45720" anchor="t">
            <a:spAutoFit/>
          </a:bodyPr>
          <a:lstStyle/>
          <a:p>
            <a:pPr>
              <a:spcAft>
                <a:spcPts val="500"/>
              </a:spcAft>
              <a:defRPr sz="1400" b="1">
                <a:solidFill>
                  <a:srgbClr val="12233D"/>
                </a:solidFill>
                <a:latin typeface="Aptos"/>
              </a:defRPr>
            </a:pPr>
            <a:r>
              <a:t>Egress &amp; data boundary</a:t>
            </a:r>
          </a:p>
        </p:txBody>
      </p:sp>
      <p:sp>
        <p:nvSpPr>
          <p:cNvPr id="41" name="TextBox 40"/>
          <p:cNvSpPr txBox="1"/>
          <p:nvPr/>
        </p:nvSpPr>
        <p:spPr>
          <a:xfrm>
            <a:off x="8229600" y="3721608"/>
            <a:ext cx="3200400" cy="896112"/>
          </a:xfrm>
          <a:prstGeom prst="rect">
            <a:avLst/>
          </a:prstGeom>
          <a:noFill/>
        </p:spPr>
        <p:txBody>
          <a:bodyPr wrap="square" lIns="45720" rIns="45720" anchor="t">
            <a:spAutoFit/>
          </a:bodyPr>
          <a:lstStyle/>
          <a:p>
            <a:pPr>
              <a:spcAft>
                <a:spcPts val="500"/>
              </a:spcAft>
              <a:defRPr sz="1100" b="0">
                <a:solidFill>
                  <a:srgbClr val="283443"/>
                </a:solidFill>
                <a:latin typeface="Aptos"/>
              </a:defRPr>
            </a:pPr>
            <a:r>
              <a:t>Private endpoints where available; explicit outbound allowlists; Databricks OAuth/Entra patterns and Unity Catalog controls.</a:t>
            </a:r>
          </a:p>
        </p:txBody>
      </p:sp>
      <p:sp>
        <p:nvSpPr>
          <p:cNvPr id="42" name="TextBox 41"/>
          <p:cNvSpPr txBox="1"/>
          <p:nvPr/>
        </p:nvSpPr>
        <p:spPr>
          <a:xfrm>
            <a:off x="731520" y="5212080"/>
            <a:ext cx="10789920" cy="685800"/>
          </a:xfrm>
          <a:prstGeom prst="rect">
            <a:avLst/>
          </a:prstGeom>
          <a:noFill/>
        </p:spPr>
        <p:txBody>
          <a:bodyPr wrap="square" lIns="45720" rIns="45720" anchor="t">
            <a:spAutoFit/>
          </a:bodyPr>
          <a:lstStyle/>
          <a:p>
            <a:pPr>
              <a:spcAft>
                <a:spcPts val="500"/>
              </a:spcAft>
              <a:defRPr sz="1300" b="1">
                <a:solidFill>
                  <a:srgbClr val="A54242"/>
                </a:solidFill>
                <a:latin typeface="Aptos"/>
              </a:defRPr>
            </a:pPr>
            <a:r>
              <a:t>Mandatory test: inspect network logs and provider-side telemetry to verify every LLM invocation—including retries, subagents, embeddings and fallback paths—goes through Kong. If a platform-managed tool makes hidden model calls that cannot be routed through Kong, document as a gap or exclude that pattern.</a:t>
            </a:r>
          </a:p>
        </p:txBody>
      </p:sp>
      <p:sp>
        <p:nvSpPr>
          <p:cNvPr id="43" name="TextBox 42"/>
          <p:cNvSpPr txBox="1"/>
          <p:nvPr/>
        </p:nvSpPr>
        <p:spPr>
          <a:xfrm>
            <a:off x="530352" y="6537960"/>
            <a:ext cx="8961120" cy="164592"/>
          </a:xfrm>
          <a:prstGeom prst="rect">
            <a:avLst/>
          </a:prstGeom>
          <a:noFill/>
        </p:spPr>
        <p:txBody>
          <a:bodyPr wrap="square" lIns="45720" rIns="45720" anchor="t">
            <a:spAutoFit/>
          </a:bodyPr>
          <a:lstStyle/>
          <a:p>
            <a:pPr>
              <a:spcAft>
                <a:spcPts val="500"/>
              </a:spcAft>
              <a:defRPr sz="700" b="0">
                <a:solidFill>
                  <a:srgbClr val="5F6C7A"/>
                </a:solidFill>
                <a:latin typeface="Aptos"/>
              </a:defRPr>
            </a:pPr>
            <a:r>
              <a:t>Enterprise architecture decision brief  |  27 Oct 2026  |  Pricing and feature status should be revalidated at procurement</a:t>
            </a:r>
          </a:p>
        </p:txBody>
      </p:sp>
      <p:sp>
        <p:nvSpPr>
          <p:cNvPr id="44" name="TextBox 43"/>
          <p:cNvSpPr txBox="1"/>
          <p:nvPr/>
        </p:nvSpPr>
        <p:spPr>
          <a:xfrm>
            <a:off x="11155680" y="6510528"/>
            <a:ext cx="457200" cy="201168"/>
          </a:xfrm>
          <a:prstGeom prst="rect">
            <a:avLst/>
          </a:prstGeom>
          <a:noFill/>
        </p:spPr>
        <p:txBody>
          <a:bodyPr wrap="square" lIns="45720" rIns="45720" anchor="t">
            <a:spAutoFit/>
          </a:bodyPr>
          <a:lstStyle/>
          <a:p>
            <a:pPr algn="r">
              <a:spcAft>
                <a:spcPts val="500"/>
              </a:spcAft>
              <a:defRPr sz="800" b="0">
                <a:solidFill>
                  <a:srgbClr val="5F6C7A"/>
                </a:solidFill>
                <a:latin typeface="Aptos"/>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438912"/>
          </a:xfrm>
          <a:prstGeom prst="rect">
            <a:avLst/>
          </a:prstGeom>
          <a:noFill/>
        </p:spPr>
        <p:txBody>
          <a:bodyPr wrap="square" lIns="45720" rIns="45720" anchor="t">
            <a:spAutoFit/>
          </a:bodyPr>
          <a:lstStyle/>
          <a:p>
            <a:pPr>
              <a:spcAft>
                <a:spcPts val="500"/>
              </a:spcAft>
              <a:defRPr sz="2600" b="1">
                <a:solidFill>
                  <a:srgbClr val="12233D"/>
                </a:solidFill>
                <a:latin typeface="Aptos"/>
              </a:defRPr>
            </a:pPr>
            <a:r>
              <a:t>Guardrails and developer enablement</a:t>
            </a:r>
          </a:p>
        </p:txBody>
      </p:sp>
      <p:sp>
        <p:nvSpPr>
          <p:cNvPr id="4" name="TextBox 3"/>
          <p:cNvSpPr txBox="1"/>
          <p:nvPr/>
        </p:nvSpPr>
        <p:spPr>
          <a:xfrm>
            <a:off x="530352" y="749808"/>
            <a:ext cx="10972800" cy="384048"/>
          </a:xfrm>
          <a:prstGeom prst="rect">
            <a:avLst/>
          </a:prstGeom>
          <a:noFill/>
        </p:spPr>
        <p:txBody>
          <a:bodyPr wrap="square" lIns="45720" rIns="45720" anchor="t">
            <a:spAutoFit/>
          </a:bodyPr>
          <a:lstStyle/>
          <a:p>
            <a:pPr>
              <a:spcAft>
                <a:spcPts val="500"/>
              </a:spcAft>
              <a:defRPr sz="1100" b="0">
                <a:solidFill>
                  <a:srgbClr val="5F6C7A"/>
                </a:solidFill>
                <a:latin typeface="Aptos"/>
              </a:defRPr>
            </a:pPr>
            <a:r>
              <a:t>No single built-in safety feature replaces application-level controls and evaluations</a:t>
            </a:r>
          </a:p>
        </p:txBody>
      </p:sp>
      <p:sp>
        <p:nvSpPr>
          <p:cNvPr id="5" name="Rectangle 4"/>
          <p:cNvSpPr/>
          <p:nvPr/>
        </p:nvSpPr>
        <p:spPr>
          <a:xfrm>
            <a:off x="530352" y="1170432"/>
            <a:ext cx="11064240" cy="22860"/>
          </a:xfrm>
          <a:prstGeom prst="rect">
            <a:avLst/>
          </a:prstGeom>
          <a:solidFill>
            <a:srgbClr val="0082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66960" y="91440"/>
            <a:ext cx="1554480" cy="201168"/>
          </a:xfrm>
          <a:prstGeom prst="rect">
            <a:avLst/>
          </a:prstGeom>
          <a:noFill/>
        </p:spPr>
        <p:txBody>
          <a:bodyPr wrap="square" lIns="45720" rIns="45720" anchor="t">
            <a:spAutoFit/>
          </a:bodyPr>
          <a:lstStyle/>
          <a:p>
            <a:pPr algn="r">
              <a:spcAft>
                <a:spcPts val="500"/>
              </a:spcAft>
              <a:defRPr sz="800" b="1">
                <a:solidFill>
                  <a:srgbClr val="008284"/>
                </a:solidFill>
                <a:latin typeface="Aptos"/>
              </a:defRPr>
            </a:pPr>
            <a:r>
              <a:t>CAPABILITIES</a:t>
            </a:r>
          </a:p>
        </p:txBody>
      </p:sp>
      <p:graphicFrame>
        <p:nvGraphicFramePr>
          <p:cNvPr id="7" name="Table 6"/>
          <p:cNvGraphicFramePr>
            <a:graphicFrameLocks noGrp="1"/>
          </p:cNvGraphicFramePr>
          <p:nvPr/>
        </p:nvGraphicFramePr>
        <p:xfrm>
          <a:off x="594360" y="1417320"/>
          <a:ext cx="10972800" cy="4526280"/>
        </p:xfrm>
        <a:graphic>
          <a:graphicData uri="http://schemas.openxmlformats.org/drawingml/2006/table">
            <a:tbl>
              <a:tblPr firstRow="1" bandRow="1">
                <a:tableStyleId>{5C22544A-7EE6-4342-B048-85BDC9FD1C3A}</a:tableStyleId>
              </a:tblPr>
              <a:tblGrid>
                <a:gridCol w="1554480"/>
                <a:gridCol w="2926080"/>
                <a:gridCol w="2926080"/>
                <a:gridCol w="3566160"/>
              </a:tblGrid>
              <a:tr h="646611">
                <a:tc>
                  <a:txBody>
                    <a:bodyPr/>
                    <a:lstStyle/>
                    <a:p>
                      <a:pPr>
                        <a:spcAft>
                          <a:spcPts val="0"/>
                        </a:spcAft>
                        <a:defRPr sz="900" b="1">
                          <a:solidFill>
                            <a:srgbClr val="FFFFFF"/>
                          </a:solidFill>
                          <a:latin typeface="Aptos"/>
                        </a:defRPr>
                      </a:pPr>
                      <a:r>
                        <a:t>Capability</a:t>
                      </a:r>
                    </a:p>
                  </a:txBody>
                  <a:tcPr marL="64008" marR="45720" marT="36576" marB="27432" anchor="ctr">
                    <a:solidFill>
                      <a:srgbClr val="12233D"/>
                    </a:solidFill>
                  </a:tcPr>
                </a:tc>
                <a:tc>
                  <a:txBody>
                    <a:bodyPr/>
                    <a:lstStyle/>
                    <a:p>
                      <a:pPr>
                        <a:spcAft>
                          <a:spcPts val="0"/>
                        </a:spcAft>
                        <a:defRPr sz="900" b="1">
                          <a:solidFill>
                            <a:srgbClr val="FFFFFF"/>
                          </a:solidFill>
                          <a:latin typeface="Aptos"/>
                        </a:defRPr>
                      </a:pPr>
                      <a:r>
                        <a:t>Foundry</a:t>
                      </a:r>
                    </a:p>
                  </a:txBody>
                  <a:tcPr marL="64008" marR="45720" marT="36576" marB="27432" anchor="ctr">
                    <a:solidFill>
                      <a:srgbClr val="12233D"/>
                    </a:solidFill>
                  </a:tcPr>
                </a:tc>
                <a:tc>
                  <a:txBody>
                    <a:bodyPr/>
                    <a:lstStyle/>
                    <a:p>
                      <a:pPr>
                        <a:spcAft>
                          <a:spcPts val="0"/>
                        </a:spcAft>
                        <a:defRPr sz="900" b="1">
                          <a:solidFill>
                            <a:srgbClr val="FFFFFF"/>
                          </a:solidFill>
                          <a:latin typeface="Aptos"/>
                        </a:defRPr>
                      </a:pPr>
                      <a:r>
                        <a:t>AgentCore</a:t>
                      </a:r>
                    </a:p>
                  </a:txBody>
                  <a:tcPr marL="64008" marR="45720" marT="36576" marB="27432" anchor="ctr">
                    <a:solidFill>
                      <a:srgbClr val="12233D"/>
                    </a:solidFill>
                  </a:tcPr>
                </a:tc>
                <a:tc>
                  <a:txBody>
                    <a:bodyPr/>
                    <a:lstStyle/>
                    <a:p>
                      <a:pPr>
                        <a:spcAft>
                          <a:spcPts val="0"/>
                        </a:spcAft>
                        <a:defRPr sz="900" b="1">
                          <a:solidFill>
                            <a:srgbClr val="FFFFFF"/>
                          </a:solidFill>
                          <a:latin typeface="Aptos"/>
                        </a:defRPr>
                      </a:pPr>
                      <a:r>
                        <a:t>Architecture interpretation</a:t>
                      </a:r>
                    </a:p>
                  </a:txBody>
                  <a:tcPr marL="64008" marR="45720" marT="36576" marB="27432" anchor="ctr">
                    <a:solidFill>
                      <a:srgbClr val="12233D"/>
                    </a:solidFill>
                  </a:tcPr>
                </a:tc>
              </a:tr>
              <a:tr h="646611">
                <a:tc>
                  <a:txBody>
                    <a:bodyPr/>
                    <a:lstStyle/>
                    <a:p>
                      <a:pPr>
                        <a:spcAft>
                          <a:spcPts val="0"/>
                        </a:spcAft>
                        <a:defRPr sz="900" b="0">
                          <a:solidFill>
                            <a:srgbClr val="283443"/>
                          </a:solidFill>
                          <a:latin typeface="Aptos"/>
                        </a:defRPr>
                      </a:pPr>
                      <a:r>
                        <a:t>Content safety / guardrails</a:t>
                      </a:r>
                    </a:p>
                  </a:txBody>
                  <a:tcPr marL="64008" marR="45720" marT="36576" marB="27432" anchor="ctr">
                    <a:solidFill>
                      <a:srgbClr val="FFFFFF"/>
                    </a:solidFill>
                  </a:tcPr>
                </a:tc>
                <a:tc>
                  <a:txBody>
                    <a:bodyPr/>
                    <a:lstStyle/>
                    <a:p>
                      <a:pPr>
                        <a:spcAft>
                          <a:spcPts val="0"/>
                        </a:spcAft>
                        <a:defRPr sz="900" b="0">
                          <a:solidFill>
                            <a:srgbClr val="283443"/>
                          </a:solidFill>
                          <a:latin typeface="Aptos"/>
                        </a:defRPr>
                      </a:pPr>
                      <a:r>
                        <a:t>Integrated content filters; safety and evaluation capabilities.</a:t>
                      </a:r>
                    </a:p>
                  </a:txBody>
                  <a:tcPr marL="64008" marR="45720" marT="36576" marB="27432" anchor="ctr">
                    <a:solidFill>
                      <a:srgbClr val="FFFFFF"/>
                    </a:solidFill>
                  </a:tcPr>
                </a:tc>
                <a:tc>
                  <a:txBody>
                    <a:bodyPr/>
                    <a:lstStyle/>
                    <a:p>
                      <a:pPr>
                        <a:spcAft>
                          <a:spcPts val="0"/>
                        </a:spcAft>
                        <a:defRPr sz="900" b="0">
                          <a:solidFill>
                            <a:srgbClr val="283443"/>
                          </a:solidFill>
                          <a:latin typeface="Aptos"/>
                        </a:defRPr>
                      </a:pPr>
                      <a:r>
                        <a:t>Bedrock Guardrails can be used with AgentCore; policy service can authorize tool actions.</a:t>
                      </a:r>
                    </a:p>
                  </a:txBody>
                  <a:tcPr marL="64008" marR="45720" marT="36576" marB="27432" anchor="ctr">
                    <a:solidFill>
                      <a:srgbClr val="FFFFFF"/>
                    </a:solidFill>
                  </a:tcPr>
                </a:tc>
                <a:tc>
                  <a:txBody>
                    <a:bodyPr/>
                    <a:lstStyle/>
                    <a:p>
                      <a:pPr>
                        <a:spcAft>
                          <a:spcPts val="0"/>
                        </a:spcAft>
                        <a:defRPr sz="900" b="0">
                          <a:solidFill>
                            <a:srgbClr val="283443"/>
                          </a:solidFill>
                          <a:latin typeface="Aptos"/>
                        </a:defRPr>
                      </a:pPr>
                      <a:r>
                        <a:t>Test input/output filtering, prompt injection, refusal quality and false positives on the same corpus.</a:t>
                      </a:r>
                    </a:p>
                  </a:txBody>
                  <a:tcPr marL="64008" marR="45720" marT="36576" marB="27432" anchor="ctr">
                    <a:solidFill>
                      <a:srgbClr val="FFFFFF"/>
                    </a:solidFill>
                  </a:tcPr>
                </a:tc>
              </a:tr>
              <a:tr h="646611">
                <a:tc>
                  <a:txBody>
                    <a:bodyPr/>
                    <a:lstStyle/>
                    <a:p>
                      <a:pPr>
                        <a:spcAft>
                          <a:spcPts val="0"/>
                        </a:spcAft>
                        <a:defRPr sz="900" b="0">
                          <a:solidFill>
                            <a:srgbClr val="283443"/>
                          </a:solidFill>
                          <a:latin typeface="Aptos"/>
                        </a:defRPr>
                      </a:pPr>
                      <a:r>
                        <a:t>Tool calling / MCP</a:t>
                      </a:r>
                    </a:p>
                  </a:txBody>
                  <a:tcPr marL="64008" marR="45720" marT="36576" marB="27432" anchor="ctr">
                    <a:solidFill>
                      <a:srgbClr val="F2F6FA"/>
                    </a:solidFill>
                  </a:tcPr>
                </a:tc>
                <a:tc>
                  <a:txBody>
                    <a:bodyPr/>
                    <a:lstStyle/>
                    <a:p>
                      <a:pPr>
                        <a:spcAft>
                          <a:spcPts val="0"/>
                        </a:spcAft>
                        <a:defRPr sz="900" b="0">
                          <a:solidFill>
                            <a:srgbClr val="283443"/>
                          </a:solidFill>
                          <a:latin typeface="Aptos"/>
                        </a:defRPr>
                      </a:pPr>
                      <a:r>
                        <a:t>Toolboxes centralize MCP/custom tools and auth/versioning.</a:t>
                      </a:r>
                    </a:p>
                  </a:txBody>
                  <a:tcPr marL="64008" marR="45720" marT="36576" marB="27432" anchor="ctr">
                    <a:solidFill>
                      <a:srgbClr val="F2F6FA"/>
                    </a:solidFill>
                  </a:tcPr>
                </a:tc>
                <a:tc>
                  <a:txBody>
                    <a:bodyPr/>
                    <a:lstStyle/>
                    <a:p>
                      <a:pPr>
                        <a:spcAft>
                          <a:spcPts val="0"/>
                        </a:spcAft>
                        <a:defRPr sz="900" b="0">
                          <a:solidFill>
                            <a:srgbClr val="283443"/>
                          </a:solidFill>
                          <a:latin typeface="Aptos"/>
                        </a:defRPr>
                      </a:pPr>
                      <a:r>
                        <a:t>Gateway converts APIs/Lambda/services to MCP-compatible tools and connects existing MCP servers.</a:t>
                      </a:r>
                    </a:p>
                  </a:txBody>
                  <a:tcPr marL="64008" marR="45720" marT="36576" marB="27432" anchor="ctr">
                    <a:solidFill>
                      <a:srgbClr val="F2F6FA"/>
                    </a:solidFill>
                  </a:tcPr>
                </a:tc>
                <a:tc>
                  <a:txBody>
                    <a:bodyPr/>
                    <a:lstStyle/>
                    <a:p>
                      <a:pPr>
                        <a:spcAft>
                          <a:spcPts val="0"/>
                        </a:spcAft>
                        <a:defRPr sz="900" b="0">
                          <a:solidFill>
                            <a:srgbClr val="283443"/>
                          </a:solidFill>
                          <a:latin typeface="Aptos"/>
                        </a:defRPr>
                      </a:pPr>
                      <a:r>
                        <a:t>Prefer enterprise-owned tool contracts with typed inputs/outputs, schemas, owners and authorization.</a:t>
                      </a:r>
                    </a:p>
                  </a:txBody>
                  <a:tcPr marL="64008" marR="45720" marT="36576" marB="27432" anchor="ctr">
                    <a:solidFill>
                      <a:srgbClr val="F2F6FA"/>
                    </a:solidFill>
                  </a:tcPr>
                </a:tc>
              </a:tr>
              <a:tr h="646611">
                <a:tc>
                  <a:txBody>
                    <a:bodyPr/>
                    <a:lstStyle/>
                    <a:p>
                      <a:pPr>
                        <a:spcAft>
                          <a:spcPts val="0"/>
                        </a:spcAft>
                        <a:defRPr sz="900" b="0">
                          <a:solidFill>
                            <a:srgbClr val="283443"/>
                          </a:solidFill>
                          <a:latin typeface="Aptos"/>
                        </a:defRPr>
                      </a:pPr>
                      <a:r>
                        <a:t>Memory / state</a:t>
                      </a:r>
                    </a:p>
                  </a:txBody>
                  <a:tcPr marL="64008" marR="45720" marT="36576" marB="27432" anchor="ctr">
                    <a:solidFill>
                      <a:srgbClr val="FFFFFF"/>
                    </a:solidFill>
                  </a:tcPr>
                </a:tc>
                <a:tc>
                  <a:txBody>
                    <a:bodyPr/>
                    <a:lstStyle/>
                    <a:p>
                      <a:pPr>
                        <a:spcAft>
                          <a:spcPts val="0"/>
                        </a:spcAft>
                        <a:defRPr sz="900" b="0">
                          <a:solidFill>
                            <a:srgbClr val="283443"/>
                          </a:solidFill>
                          <a:latin typeface="Aptos"/>
                        </a:defRPr>
                      </a:pPr>
                      <a:r>
                        <a:t>Conversation/session state and connected storage options; capability varies by agent type.</a:t>
                      </a:r>
                    </a:p>
                  </a:txBody>
                  <a:tcPr marL="64008" marR="45720" marT="36576" marB="27432" anchor="ctr">
                    <a:solidFill>
                      <a:srgbClr val="FFFFFF"/>
                    </a:solidFill>
                  </a:tcPr>
                </a:tc>
                <a:tc>
                  <a:txBody>
                    <a:bodyPr/>
                    <a:lstStyle/>
                    <a:p>
                      <a:pPr>
                        <a:spcAft>
                          <a:spcPts val="0"/>
                        </a:spcAft>
                        <a:defRPr sz="900" b="0">
                          <a:solidFill>
                            <a:srgbClr val="283443"/>
                          </a:solidFill>
                          <a:latin typeface="Aptos"/>
                        </a:defRPr>
                      </a:pPr>
                      <a:r>
                        <a:t>Dedicated short- and long-term memory service with configurable integration.</a:t>
                      </a:r>
                    </a:p>
                  </a:txBody>
                  <a:tcPr marL="64008" marR="45720" marT="36576" marB="27432" anchor="ctr">
                    <a:solidFill>
                      <a:srgbClr val="FFFFFF"/>
                    </a:solidFill>
                  </a:tcPr>
                </a:tc>
                <a:tc>
                  <a:txBody>
                    <a:bodyPr/>
                    <a:lstStyle/>
                    <a:p>
                      <a:pPr>
                        <a:spcAft>
                          <a:spcPts val="0"/>
                        </a:spcAft>
                        <a:defRPr sz="900" b="0">
                          <a:solidFill>
                            <a:srgbClr val="283443"/>
                          </a:solidFill>
                          <a:latin typeface="Aptos"/>
                        </a:defRPr>
                      </a:pPr>
                      <a:r>
                        <a:t>Benchmark retention, deletion, tenant isolation, retrieval quality, data residency and cost.</a:t>
                      </a:r>
                    </a:p>
                  </a:txBody>
                  <a:tcPr marL="64008" marR="45720" marT="36576" marB="27432" anchor="ctr">
                    <a:solidFill>
                      <a:srgbClr val="FFFFFF"/>
                    </a:solidFill>
                  </a:tcPr>
                </a:tc>
              </a:tr>
              <a:tr h="646611">
                <a:tc>
                  <a:txBody>
                    <a:bodyPr/>
                    <a:lstStyle/>
                    <a:p>
                      <a:pPr>
                        <a:spcAft>
                          <a:spcPts val="0"/>
                        </a:spcAft>
                        <a:defRPr sz="900" b="0">
                          <a:solidFill>
                            <a:srgbClr val="283443"/>
                          </a:solidFill>
                          <a:latin typeface="Aptos"/>
                        </a:defRPr>
                      </a:pPr>
                      <a:r>
                        <a:t>Code / browser execution</a:t>
                      </a:r>
                    </a:p>
                  </a:txBody>
                  <a:tcPr marL="64008" marR="45720" marT="36576" marB="27432" anchor="ctr">
                    <a:solidFill>
                      <a:srgbClr val="F2F6FA"/>
                    </a:solidFill>
                  </a:tcPr>
                </a:tc>
                <a:tc>
                  <a:txBody>
                    <a:bodyPr/>
                    <a:lstStyle/>
                    <a:p>
                      <a:pPr>
                        <a:spcAft>
                          <a:spcPts val="0"/>
                        </a:spcAft>
                        <a:defRPr sz="900" b="0">
                          <a:solidFill>
                            <a:srgbClr val="283443"/>
                          </a:solidFill>
                          <a:latin typeface="Aptos"/>
                        </a:defRPr>
                      </a:pPr>
                      <a:r>
                        <a:t>Code Interpreter and web/search tools; hosted code agents run in managed sandbox.</a:t>
                      </a:r>
                    </a:p>
                  </a:txBody>
                  <a:tcPr marL="64008" marR="45720" marT="36576" marB="27432" anchor="ctr">
                    <a:solidFill>
                      <a:srgbClr val="F2F6FA"/>
                    </a:solidFill>
                  </a:tcPr>
                </a:tc>
                <a:tc>
                  <a:txBody>
                    <a:bodyPr/>
                    <a:lstStyle/>
                    <a:p>
                      <a:pPr>
                        <a:spcAft>
                          <a:spcPts val="0"/>
                        </a:spcAft>
                        <a:defRPr sz="900" b="0">
                          <a:solidFill>
                            <a:srgbClr val="283443"/>
                          </a:solidFill>
                          <a:latin typeface="Aptos"/>
                        </a:defRPr>
                      </a:pPr>
                      <a:r>
                        <a:t>Dedicated isolated Code Interpreter and Browser services.</a:t>
                      </a:r>
                    </a:p>
                  </a:txBody>
                  <a:tcPr marL="64008" marR="45720" marT="36576" marB="27432" anchor="ctr">
                    <a:solidFill>
                      <a:srgbClr val="F2F6FA"/>
                    </a:solidFill>
                  </a:tcPr>
                </a:tc>
                <a:tc>
                  <a:txBody>
                    <a:bodyPr/>
                    <a:lstStyle/>
                    <a:p>
                      <a:pPr>
                        <a:spcAft>
                          <a:spcPts val="0"/>
                        </a:spcAft>
                        <a:defRPr sz="900" b="0">
                          <a:solidFill>
                            <a:srgbClr val="283443"/>
                          </a:solidFill>
                          <a:latin typeface="Aptos"/>
                        </a:defRPr>
                      </a:pPr>
                      <a:r>
                        <a:t>AgentCore is compelling for sandbox-heavy tasks; evaluate egress and action controls on both.</a:t>
                      </a:r>
                    </a:p>
                  </a:txBody>
                  <a:tcPr marL="64008" marR="45720" marT="36576" marB="27432" anchor="ctr">
                    <a:solidFill>
                      <a:srgbClr val="F2F6FA"/>
                    </a:solidFill>
                  </a:tcPr>
                </a:tc>
              </a:tr>
              <a:tr h="646611">
                <a:tc>
                  <a:txBody>
                    <a:bodyPr/>
                    <a:lstStyle/>
                    <a:p>
                      <a:pPr>
                        <a:spcAft>
                          <a:spcPts val="0"/>
                        </a:spcAft>
                        <a:defRPr sz="900" b="0">
                          <a:solidFill>
                            <a:srgbClr val="283443"/>
                          </a:solidFill>
                          <a:latin typeface="Aptos"/>
                        </a:defRPr>
                      </a:pPr>
                      <a:r>
                        <a:t>Evaluation / optimization</a:t>
                      </a:r>
                    </a:p>
                  </a:txBody>
                  <a:tcPr marL="64008" marR="45720" marT="36576" marB="27432" anchor="ctr">
                    <a:solidFill>
                      <a:srgbClr val="FFFFFF"/>
                    </a:solidFill>
                  </a:tcPr>
                </a:tc>
                <a:tc>
                  <a:txBody>
                    <a:bodyPr/>
                    <a:lstStyle/>
                    <a:p>
                      <a:pPr>
                        <a:spcAft>
                          <a:spcPts val="0"/>
                        </a:spcAft>
                        <a:defRPr sz="900" b="0">
                          <a:solidFill>
                            <a:srgbClr val="283443"/>
                          </a:solidFill>
                          <a:latin typeface="Aptos"/>
                        </a:defRPr>
                      </a:pPr>
                      <a:r>
                        <a:t>Built-in evaluators, tracing and agent optimizer (some capabilities may be preview/billed).</a:t>
                      </a:r>
                    </a:p>
                  </a:txBody>
                  <a:tcPr marL="64008" marR="45720" marT="36576" marB="27432" anchor="ctr">
                    <a:solidFill>
                      <a:srgbClr val="FFFFFF"/>
                    </a:solidFill>
                  </a:tcPr>
                </a:tc>
                <a:tc>
                  <a:txBody>
                    <a:bodyPr/>
                    <a:lstStyle/>
                    <a:p>
                      <a:pPr>
                        <a:spcAft>
                          <a:spcPts val="0"/>
                        </a:spcAft>
                        <a:defRPr sz="900" b="0">
                          <a:solidFill>
                            <a:srgbClr val="283443"/>
                          </a:solidFill>
                          <a:latin typeface="Aptos"/>
                        </a:defRPr>
                      </a:pPr>
                      <a:r>
                        <a:t>AgentCore evaluations and optimization features; some are separately metered or preview.</a:t>
                      </a:r>
                    </a:p>
                  </a:txBody>
                  <a:tcPr marL="64008" marR="45720" marT="36576" marB="27432" anchor="ctr">
                    <a:solidFill>
                      <a:srgbClr val="FFFFFF"/>
                    </a:solidFill>
                  </a:tcPr>
                </a:tc>
                <a:tc>
                  <a:txBody>
                    <a:bodyPr/>
                    <a:lstStyle/>
                    <a:p>
                      <a:pPr>
                        <a:spcAft>
                          <a:spcPts val="0"/>
                        </a:spcAft>
                        <a:defRPr sz="900" b="0">
                          <a:solidFill>
                            <a:srgbClr val="283443"/>
                          </a:solidFill>
                          <a:latin typeface="Aptos"/>
                        </a:defRPr>
                      </a:pPr>
                      <a:r>
                        <a:t>Use common golden datasets and release gates; avoid relying on vendor-specific scores alone.</a:t>
                      </a:r>
                    </a:p>
                  </a:txBody>
                  <a:tcPr marL="64008" marR="45720" marT="36576" marB="27432" anchor="ctr">
                    <a:solidFill>
                      <a:srgbClr val="FFFFFF"/>
                    </a:solidFill>
                  </a:tcPr>
                </a:tc>
              </a:tr>
              <a:tr h="646614">
                <a:tc>
                  <a:txBody>
                    <a:bodyPr/>
                    <a:lstStyle/>
                    <a:p>
                      <a:pPr>
                        <a:spcAft>
                          <a:spcPts val="0"/>
                        </a:spcAft>
                        <a:defRPr sz="900" b="0">
                          <a:solidFill>
                            <a:srgbClr val="283443"/>
                          </a:solidFill>
                          <a:latin typeface="Aptos"/>
                        </a:defRPr>
                      </a:pPr>
                      <a:r>
                        <a:t>Developer configurability</a:t>
                      </a:r>
                    </a:p>
                  </a:txBody>
                  <a:tcPr marL="64008" marR="45720" marT="36576" marB="27432" anchor="ctr">
                    <a:solidFill>
                      <a:srgbClr val="F2F6FA"/>
                    </a:solidFill>
                  </a:tcPr>
                </a:tc>
                <a:tc>
                  <a:txBody>
                    <a:bodyPr/>
                    <a:lstStyle/>
                    <a:p>
                      <a:pPr>
                        <a:spcAft>
                          <a:spcPts val="0"/>
                        </a:spcAft>
                        <a:defRPr sz="900" b="0">
                          <a:solidFill>
                            <a:srgbClr val="283443"/>
                          </a:solidFill>
                          <a:latin typeface="Aptos"/>
                        </a:defRPr>
                      </a:pPr>
                      <a:r>
                        <a:t>Portal-first prompt agents through code-first hosted agents.</a:t>
                      </a:r>
                    </a:p>
                  </a:txBody>
                  <a:tcPr marL="64008" marR="45720" marT="36576" marB="27432" anchor="ctr">
                    <a:solidFill>
                      <a:srgbClr val="F2F6FA"/>
                    </a:solidFill>
                  </a:tcPr>
                </a:tc>
                <a:tc>
                  <a:txBody>
                    <a:bodyPr/>
                    <a:lstStyle/>
                    <a:p>
                      <a:pPr>
                        <a:spcAft>
                          <a:spcPts val="0"/>
                        </a:spcAft>
                        <a:defRPr sz="900" b="0">
                          <a:solidFill>
                            <a:srgbClr val="283443"/>
                          </a:solidFill>
                          <a:latin typeface="Aptos"/>
                        </a:defRPr>
                      </a:pPr>
                      <a:r>
                        <a:t>Composable services and framework choice; more design choices to govern.</a:t>
                      </a:r>
                    </a:p>
                  </a:txBody>
                  <a:tcPr marL="64008" marR="45720" marT="36576" marB="27432" anchor="ctr">
                    <a:solidFill>
                      <a:srgbClr val="F2F6FA"/>
                    </a:solidFill>
                  </a:tcPr>
                </a:tc>
                <a:tc>
                  <a:txBody>
                    <a:bodyPr/>
                    <a:lstStyle/>
                    <a:p>
                      <a:pPr>
                        <a:spcAft>
                          <a:spcPts val="0"/>
                        </a:spcAft>
                        <a:defRPr sz="900" b="0">
                          <a:solidFill>
                            <a:srgbClr val="283443"/>
                          </a:solidFill>
                          <a:latin typeface="Aptos"/>
                        </a:defRPr>
                      </a:pPr>
                      <a:r>
                        <a:t>Offer paved roads: prompt agent, code-first agent, retrieval agent, workflow/multi-agent, data analyst.</a:t>
                      </a:r>
                    </a:p>
                  </a:txBody>
                  <a:tcPr marL="64008" marR="45720" marT="36576" marB="27432" anchor="ctr">
                    <a:solidFill>
                      <a:srgbClr val="F2F6FA"/>
                    </a:solidFill>
                  </a:tcPr>
                </a:tc>
              </a:tr>
            </a:tbl>
          </a:graphicData>
        </a:graphic>
      </p:graphicFrame>
      <p:sp>
        <p:nvSpPr>
          <p:cNvPr id="8" name="TextBox 7"/>
          <p:cNvSpPr txBox="1"/>
          <p:nvPr/>
        </p:nvSpPr>
        <p:spPr>
          <a:xfrm>
            <a:off x="530352" y="6537960"/>
            <a:ext cx="8961120" cy="164592"/>
          </a:xfrm>
          <a:prstGeom prst="rect">
            <a:avLst/>
          </a:prstGeom>
          <a:noFill/>
        </p:spPr>
        <p:txBody>
          <a:bodyPr wrap="square" lIns="45720" rIns="45720" anchor="t">
            <a:spAutoFit/>
          </a:bodyPr>
          <a:lstStyle/>
          <a:p>
            <a:pPr>
              <a:spcAft>
                <a:spcPts val="500"/>
              </a:spcAft>
              <a:defRPr sz="700" b="0">
                <a:solidFill>
                  <a:srgbClr val="5F6C7A"/>
                </a:solidFill>
                <a:latin typeface="Aptos"/>
              </a:defRPr>
            </a:pPr>
            <a:r>
              <a:t>Enterprise architecture decision brief  |  27 Oct 2026  |  Pricing and feature status should be revalidated at procurement</a:t>
            </a:r>
          </a:p>
        </p:txBody>
      </p:sp>
      <p:sp>
        <p:nvSpPr>
          <p:cNvPr id="9" name="TextBox 8"/>
          <p:cNvSpPr txBox="1"/>
          <p:nvPr/>
        </p:nvSpPr>
        <p:spPr>
          <a:xfrm>
            <a:off x="11155680" y="6510528"/>
            <a:ext cx="457200" cy="201168"/>
          </a:xfrm>
          <a:prstGeom prst="rect">
            <a:avLst/>
          </a:prstGeom>
          <a:noFill/>
        </p:spPr>
        <p:txBody>
          <a:bodyPr wrap="square" lIns="45720" rIns="45720" anchor="t">
            <a:spAutoFit/>
          </a:bodyPr>
          <a:lstStyle/>
          <a:p>
            <a:pPr algn="r">
              <a:spcAft>
                <a:spcPts val="500"/>
              </a:spcAft>
              <a:defRPr sz="800" b="0">
                <a:solidFill>
                  <a:srgbClr val="5F6C7A"/>
                </a:solidFill>
                <a:latin typeface="Aptos"/>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438912"/>
          </a:xfrm>
          <a:prstGeom prst="rect">
            <a:avLst/>
          </a:prstGeom>
          <a:noFill/>
        </p:spPr>
        <p:txBody>
          <a:bodyPr wrap="square" lIns="45720" rIns="45720" anchor="t">
            <a:spAutoFit/>
          </a:bodyPr>
          <a:lstStyle/>
          <a:p>
            <a:pPr>
              <a:spcAft>
                <a:spcPts val="500"/>
              </a:spcAft>
              <a:defRPr sz="2600" b="1">
                <a:solidFill>
                  <a:srgbClr val="12233D"/>
                </a:solidFill>
                <a:latin typeface="Aptos"/>
              </a:defRPr>
            </a:pPr>
            <a:r>
              <a:t>Observability: Dynatrace is the enterprise destination</a:t>
            </a:r>
          </a:p>
        </p:txBody>
      </p:sp>
      <p:sp>
        <p:nvSpPr>
          <p:cNvPr id="4" name="TextBox 3"/>
          <p:cNvSpPr txBox="1"/>
          <p:nvPr/>
        </p:nvSpPr>
        <p:spPr>
          <a:xfrm>
            <a:off x="530352" y="749808"/>
            <a:ext cx="10972800" cy="384048"/>
          </a:xfrm>
          <a:prstGeom prst="rect">
            <a:avLst/>
          </a:prstGeom>
          <a:noFill/>
        </p:spPr>
        <p:txBody>
          <a:bodyPr wrap="square" lIns="45720" rIns="45720" anchor="t">
            <a:spAutoFit/>
          </a:bodyPr>
          <a:lstStyle/>
          <a:p>
            <a:pPr>
              <a:spcAft>
                <a:spcPts val="500"/>
              </a:spcAft>
              <a:defRPr sz="1100" b="0">
                <a:solidFill>
                  <a:srgbClr val="5F6C7A"/>
                </a:solidFill>
                <a:latin typeface="Aptos"/>
              </a:defRPr>
            </a:pPr>
            <a:r>
              <a:t>Native dashboards help platform teams; Dynatrace must provide cross-stack correlation</a:t>
            </a:r>
          </a:p>
        </p:txBody>
      </p:sp>
      <p:sp>
        <p:nvSpPr>
          <p:cNvPr id="5" name="Rectangle 4"/>
          <p:cNvSpPr/>
          <p:nvPr/>
        </p:nvSpPr>
        <p:spPr>
          <a:xfrm>
            <a:off x="530352" y="1170432"/>
            <a:ext cx="11064240" cy="22860"/>
          </a:xfrm>
          <a:prstGeom prst="rect">
            <a:avLst/>
          </a:prstGeom>
          <a:solidFill>
            <a:srgbClr val="0082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66960" y="91440"/>
            <a:ext cx="1554480" cy="201168"/>
          </a:xfrm>
          <a:prstGeom prst="rect">
            <a:avLst/>
          </a:prstGeom>
          <a:noFill/>
        </p:spPr>
        <p:txBody>
          <a:bodyPr wrap="square" lIns="45720" rIns="45720" anchor="t">
            <a:spAutoFit/>
          </a:bodyPr>
          <a:lstStyle/>
          <a:p>
            <a:pPr algn="r">
              <a:spcAft>
                <a:spcPts val="500"/>
              </a:spcAft>
              <a:defRPr sz="800" b="1">
                <a:solidFill>
                  <a:srgbClr val="008284"/>
                </a:solidFill>
                <a:latin typeface="Aptos"/>
              </a:defRPr>
            </a:pPr>
            <a:r>
              <a:t>OPERATIONS</a:t>
            </a:r>
          </a:p>
        </p:txBody>
      </p:sp>
      <p:sp>
        <p:nvSpPr>
          <p:cNvPr id="7" name="Rounded Rectangle 6"/>
          <p:cNvSpPr/>
          <p:nvPr/>
        </p:nvSpPr>
        <p:spPr>
          <a:xfrm>
            <a:off x="594360" y="1463040"/>
            <a:ext cx="3520440" cy="1874519"/>
          </a:xfrm>
          <a:prstGeom prst="roundRect">
            <a:avLst/>
          </a:prstGeom>
          <a:solidFill>
            <a:srgbClr val="F2F6FA"/>
          </a:solidFill>
          <a:ln>
            <a:solidFill>
              <a:srgbClr val="DB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463040"/>
            <a:ext cx="64008" cy="1874519"/>
          </a:xfrm>
          <a:prstGeom prst="rect">
            <a:avLst/>
          </a:prstGeom>
          <a:solidFill>
            <a:srgbClr val="0082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572768"/>
            <a:ext cx="3246120" cy="320040"/>
          </a:xfrm>
          <a:prstGeom prst="rect">
            <a:avLst/>
          </a:prstGeom>
          <a:noFill/>
        </p:spPr>
        <p:txBody>
          <a:bodyPr wrap="square" lIns="45720" rIns="45720" anchor="t">
            <a:spAutoFit/>
          </a:bodyPr>
          <a:lstStyle/>
          <a:p>
            <a:pPr>
              <a:spcAft>
                <a:spcPts val="500"/>
              </a:spcAft>
              <a:defRPr sz="1500" b="1">
                <a:solidFill>
                  <a:srgbClr val="12233D"/>
                </a:solidFill>
                <a:latin typeface="Aptos"/>
              </a:defRPr>
            </a:pPr>
            <a:r>
              <a:t>Foundry</a:t>
            </a:r>
          </a:p>
        </p:txBody>
      </p:sp>
      <p:sp>
        <p:nvSpPr>
          <p:cNvPr id="10" name="TextBox 9"/>
          <p:cNvSpPr txBox="1"/>
          <p:nvPr/>
        </p:nvSpPr>
        <p:spPr>
          <a:xfrm>
            <a:off x="758952" y="1938528"/>
            <a:ext cx="3246120" cy="1307591"/>
          </a:xfrm>
          <a:prstGeom prst="rect">
            <a:avLst/>
          </a:prstGeom>
          <a:noFill/>
        </p:spPr>
        <p:txBody>
          <a:bodyPr wrap="square" lIns="45720" rIns="45720" anchor="t">
            <a:spAutoFit/>
          </a:bodyPr>
          <a:lstStyle/>
          <a:p>
            <a:pPr>
              <a:spcAft>
                <a:spcPts val="500"/>
              </a:spcAft>
              <a:defRPr sz="1200" b="0">
                <a:solidFill>
                  <a:srgbClr val="283443"/>
                </a:solidFill>
                <a:latin typeface="Aptos"/>
              </a:defRPr>
            </a:pPr>
            <a:r>
              <a:t>Built-in tracing, evaluations and Application Insights integration. For Dynatrace, validate export/forwarding path, span attributes, model/tool coverage and payload redaction.</a:t>
            </a:r>
          </a:p>
        </p:txBody>
      </p:sp>
      <p:sp>
        <p:nvSpPr>
          <p:cNvPr id="11" name="Rounded Rectangle 10"/>
          <p:cNvSpPr/>
          <p:nvPr/>
        </p:nvSpPr>
        <p:spPr>
          <a:xfrm>
            <a:off x="4315968" y="1463040"/>
            <a:ext cx="3520440" cy="1874519"/>
          </a:xfrm>
          <a:prstGeom prst="roundRect">
            <a:avLst/>
          </a:prstGeom>
          <a:solidFill>
            <a:srgbClr val="F2F6FA"/>
          </a:solidFill>
          <a:ln>
            <a:solidFill>
              <a:srgbClr val="DB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15968" y="1463040"/>
            <a:ext cx="64008" cy="1874519"/>
          </a:xfrm>
          <a:prstGeom prst="rect">
            <a:avLst/>
          </a:prstGeom>
          <a:solidFill>
            <a:srgbClr val="2563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59" y="1572768"/>
            <a:ext cx="3246120" cy="320040"/>
          </a:xfrm>
          <a:prstGeom prst="rect">
            <a:avLst/>
          </a:prstGeom>
          <a:noFill/>
        </p:spPr>
        <p:txBody>
          <a:bodyPr wrap="square" lIns="45720" rIns="45720" anchor="t">
            <a:spAutoFit/>
          </a:bodyPr>
          <a:lstStyle/>
          <a:p>
            <a:pPr>
              <a:spcAft>
                <a:spcPts val="500"/>
              </a:spcAft>
              <a:defRPr sz="1500" b="1">
                <a:solidFill>
                  <a:srgbClr val="12233D"/>
                </a:solidFill>
                <a:latin typeface="Aptos"/>
              </a:defRPr>
            </a:pPr>
            <a:r>
              <a:t>AgentCore</a:t>
            </a:r>
          </a:p>
        </p:txBody>
      </p:sp>
      <p:sp>
        <p:nvSpPr>
          <p:cNvPr id="14" name="TextBox 13"/>
          <p:cNvSpPr txBox="1"/>
          <p:nvPr/>
        </p:nvSpPr>
        <p:spPr>
          <a:xfrm>
            <a:off x="4480559" y="1938528"/>
            <a:ext cx="3246120" cy="1307591"/>
          </a:xfrm>
          <a:prstGeom prst="rect">
            <a:avLst/>
          </a:prstGeom>
          <a:noFill/>
        </p:spPr>
        <p:txBody>
          <a:bodyPr wrap="square" lIns="45720" rIns="45720" anchor="t">
            <a:spAutoFit/>
          </a:bodyPr>
          <a:lstStyle/>
          <a:p>
            <a:pPr>
              <a:spcAft>
                <a:spcPts val="500"/>
              </a:spcAft>
              <a:defRPr sz="1200" b="0">
                <a:solidFill>
                  <a:srgbClr val="283443"/>
                </a:solidFill>
                <a:latin typeface="Aptos"/>
              </a:defRPr>
            </a:pPr>
            <a:r>
              <a:t>OpenTelemetry-compatible telemetry with CloudWatch-backed native views. Validate export from AWS to Dynatrace, trace context across Kong and custom agent spans.</a:t>
            </a:r>
          </a:p>
        </p:txBody>
      </p:sp>
      <p:sp>
        <p:nvSpPr>
          <p:cNvPr id="15" name="Rounded Rectangle 14"/>
          <p:cNvSpPr/>
          <p:nvPr/>
        </p:nvSpPr>
        <p:spPr>
          <a:xfrm>
            <a:off x="8028431" y="1463040"/>
            <a:ext cx="3520440" cy="1874519"/>
          </a:xfrm>
          <a:prstGeom prst="roundRect">
            <a:avLst/>
          </a:prstGeom>
          <a:solidFill>
            <a:srgbClr val="F2F6FA"/>
          </a:solidFill>
          <a:ln>
            <a:solidFill>
              <a:srgbClr val="DB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463040"/>
            <a:ext cx="64008" cy="1874519"/>
          </a:xfrm>
          <a:prstGeom prst="rect">
            <a:avLst/>
          </a:prstGeom>
          <a:solidFill>
            <a:srgbClr val="CF7E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93023" y="1572768"/>
            <a:ext cx="3246120" cy="320040"/>
          </a:xfrm>
          <a:prstGeom prst="rect">
            <a:avLst/>
          </a:prstGeom>
          <a:noFill/>
        </p:spPr>
        <p:txBody>
          <a:bodyPr wrap="square" lIns="45720" rIns="45720" anchor="t">
            <a:spAutoFit/>
          </a:bodyPr>
          <a:lstStyle/>
          <a:p>
            <a:pPr>
              <a:spcAft>
                <a:spcPts val="500"/>
              </a:spcAft>
              <a:defRPr sz="1500" b="1">
                <a:solidFill>
                  <a:srgbClr val="12233D"/>
                </a:solidFill>
                <a:latin typeface="Aptos"/>
              </a:defRPr>
            </a:pPr>
            <a:r>
              <a:t>Common dashboard</a:t>
            </a:r>
          </a:p>
        </p:txBody>
      </p:sp>
      <p:sp>
        <p:nvSpPr>
          <p:cNvPr id="18" name="TextBox 17"/>
          <p:cNvSpPr txBox="1"/>
          <p:nvPr/>
        </p:nvSpPr>
        <p:spPr>
          <a:xfrm>
            <a:off x="8193023" y="1938528"/>
            <a:ext cx="3246120" cy="1307591"/>
          </a:xfrm>
          <a:prstGeom prst="rect">
            <a:avLst/>
          </a:prstGeom>
          <a:noFill/>
        </p:spPr>
        <p:txBody>
          <a:bodyPr wrap="square" lIns="45720" rIns="45720" anchor="t">
            <a:spAutoFit/>
          </a:bodyPr>
          <a:lstStyle/>
          <a:p>
            <a:pPr>
              <a:spcAft>
                <a:spcPts val="500"/>
              </a:spcAft>
              <a:defRPr sz="1200" b="0">
                <a:solidFill>
                  <a:srgbClr val="283443"/>
                </a:solidFill>
                <a:latin typeface="Aptos"/>
              </a:defRPr>
            </a:pPr>
            <a:r>
              <a:t>Request success, end-to-end latency, tokens/cost, tool error rates, retries, guardrail events, retrieval quality, user feedback and SLOs.</a:t>
            </a:r>
          </a:p>
        </p:txBody>
      </p:sp>
      <p:sp>
        <p:nvSpPr>
          <p:cNvPr id="19" name="TextBox 18"/>
          <p:cNvSpPr txBox="1"/>
          <p:nvPr/>
        </p:nvSpPr>
        <p:spPr>
          <a:xfrm>
            <a:off x="685800" y="3703320"/>
            <a:ext cx="10698480" cy="320040"/>
          </a:xfrm>
          <a:prstGeom prst="rect">
            <a:avLst/>
          </a:prstGeom>
          <a:noFill/>
        </p:spPr>
        <p:txBody>
          <a:bodyPr wrap="square" lIns="45720" rIns="45720" anchor="t">
            <a:spAutoFit/>
          </a:bodyPr>
          <a:lstStyle/>
          <a:p>
            <a:pPr>
              <a:spcAft>
                <a:spcPts val="500"/>
              </a:spcAft>
              <a:defRPr sz="1700" b="1">
                <a:solidFill>
                  <a:srgbClr val="12233D"/>
                </a:solidFill>
                <a:latin typeface="Aptos"/>
              </a:defRPr>
            </a:pPr>
            <a:r>
              <a:t>Acceptance criteria</a:t>
            </a:r>
          </a:p>
        </p:txBody>
      </p:sp>
      <p:sp>
        <p:nvSpPr>
          <p:cNvPr id="20" name="TextBox 19"/>
          <p:cNvSpPr txBox="1"/>
          <p:nvPr/>
        </p:nvSpPr>
        <p:spPr>
          <a:xfrm>
            <a:off x="713232" y="4096512"/>
            <a:ext cx="10698480" cy="1508760"/>
          </a:xfrm>
          <a:prstGeom prst="rect">
            <a:avLst/>
          </a:prstGeom>
          <a:noFill/>
        </p:spPr>
        <p:txBody>
          <a:bodyPr wrap="square" lIns="73152" rIns="73152" tIns="36576" bIns="36576">
            <a:spAutoFit/>
          </a:bodyPr>
          <a:lstStyle/>
          <a:p>
            <a:pPr>
              <a:spcAft>
                <a:spcPts val="400"/>
              </a:spcAft>
              <a:defRPr sz="1300">
                <a:solidFill>
                  <a:srgbClr val="283443"/>
                </a:solidFill>
                <a:latin typeface="Aptos"/>
              </a:defRPr>
            </a:pPr>
            <a:r>
              <a:t>•  One trace links frontend → runtime → Kong → model → tool/API → Databricks, with a stable correlation ID.</a:t>
            </a:r>
          </a:p>
          <a:p>
            <a:pPr>
              <a:spcAft>
                <a:spcPts val="400"/>
              </a:spcAft>
              <a:defRPr sz="1300">
                <a:solidFill>
                  <a:srgbClr val="283443"/>
                </a:solidFill>
                <a:latin typeface="Aptos"/>
              </a:defRPr>
            </a:pPr>
            <a:r>
              <a:t>•  Record token usage, model/deployment, latency, retries, policy outcomes and tool names; avoid raw prompt/PII by default.</a:t>
            </a:r>
          </a:p>
          <a:p>
            <a:pPr>
              <a:spcAft>
                <a:spcPts val="400"/>
              </a:spcAft>
              <a:defRPr sz="1300">
                <a:solidFill>
                  <a:srgbClr val="283443"/>
                </a:solidFill>
                <a:latin typeface="Aptos"/>
              </a:defRPr>
            </a:pPr>
            <a:r>
              <a:t>•  Establish sampling and retention budgets; tracing/evaluation can create meaningful ingestion and storage costs.</a:t>
            </a:r>
          </a:p>
          <a:p>
            <a:pPr>
              <a:spcAft>
                <a:spcPts val="400"/>
              </a:spcAft>
              <a:defRPr sz="1300">
                <a:solidFill>
                  <a:srgbClr val="283443"/>
                </a:solidFill>
                <a:latin typeface="Aptos"/>
              </a:defRPr>
            </a:pPr>
            <a:r>
              <a:t>•  Keep native platform logs for service health and audit, while Dynatrace is the cross-platform operational view.</a:t>
            </a:r>
          </a:p>
        </p:txBody>
      </p:sp>
      <p:sp>
        <p:nvSpPr>
          <p:cNvPr id="21" name="TextBox 20"/>
          <p:cNvSpPr txBox="1"/>
          <p:nvPr/>
        </p:nvSpPr>
        <p:spPr>
          <a:xfrm>
            <a:off x="530352" y="6537960"/>
            <a:ext cx="8961120" cy="164592"/>
          </a:xfrm>
          <a:prstGeom prst="rect">
            <a:avLst/>
          </a:prstGeom>
          <a:noFill/>
        </p:spPr>
        <p:txBody>
          <a:bodyPr wrap="square" lIns="45720" rIns="45720" anchor="t">
            <a:spAutoFit/>
          </a:bodyPr>
          <a:lstStyle/>
          <a:p>
            <a:pPr>
              <a:spcAft>
                <a:spcPts val="500"/>
              </a:spcAft>
              <a:defRPr sz="700" b="0">
                <a:solidFill>
                  <a:srgbClr val="5F6C7A"/>
                </a:solidFill>
                <a:latin typeface="Aptos"/>
              </a:defRPr>
            </a:pPr>
            <a:r>
              <a:t>Enterprise architecture decision brief  |  27 Oct 2026  |  Pricing and feature status should be revalidated at procurement</a:t>
            </a:r>
          </a:p>
        </p:txBody>
      </p:sp>
      <p:sp>
        <p:nvSpPr>
          <p:cNvPr id="22" name="TextBox 21"/>
          <p:cNvSpPr txBox="1"/>
          <p:nvPr/>
        </p:nvSpPr>
        <p:spPr>
          <a:xfrm>
            <a:off x="11155680" y="6510528"/>
            <a:ext cx="457200" cy="201168"/>
          </a:xfrm>
          <a:prstGeom prst="rect">
            <a:avLst/>
          </a:prstGeom>
          <a:noFill/>
        </p:spPr>
        <p:txBody>
          <a:bodyPr wrap="square" lIns="45720" rIns="45720" anchor="t">
            <a:spAutoFit/>
          </a:bodyPr>
          <a:lstStyle/>
          <a:p>
            <a:pPr algn="r">
              <a:spcAft>
                <a:spcPts val="500"/>
              </a:spcAft>
              <a:defRPr sz="800" b="0">
                <a:solidFill>
                  <a:srgbClr val="5F6C7A"/>
                </a:solidFill>
                <a:latin typeface="Aptos"/>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438912"/>
          </a:xfrm>
          <a:prstGeom prst="rect">
            <a:avLst/>
          </a:prstGeom>
          <a:noFill/>
        </p:spPr>
        <p:txBody>
          <a:bodyPr wrap="square" lIns="45720" rIns="45720" anchor="t">
            <a:spAutoFit/>
          </a:bodyPr>
          <a:lstStyle/>
          <a:p>
            <a:pPr>
              <a:spcAft>
                <a:spcPts val="500"/>
              </a:spcAft>
              <a:defRPr sz="2600" b="1">
                <a:solidFill>
                  <a:srgbClr val="12233D"/>
                </a:solidFill>
                <a:latin typeface="Aptos"/>
              </a:defRPr>
            </a:pPr>
            <a:r>
              <a:t>Databricks integration: design around data permissions</a:t>
            </a:r>
          </a:p>
        </p:txBody>
      </p:sp>
      <p:sp>
        <p:nvSpPr>
          <p:cNvPr id="4" name="TextBox 3"/>
          <p:cNvSpPr txBox="1"/>
          <p:nvPr/>
        </p:nvSpPr>
        <p:spPr>
          <a:xfrm>
            <a:off x="530352" y="749808"/>
            <a:ext cx="10972800" cy="384048"/>
          </a:xfrm>
          <a:prstGeom prst="rect">
            <a:avLst/>
          </a:prstGeom>
          <a:noFill/>
        </p:spPr>
        <p:txBody>
          <a:bodyPr wrap="square" lIns="45720" rIns="45720" anchor="t">
            <a:spAutoFit/>
          </a:bodyPr>
          <a:lstStyle/>
          <a:p>
            <a:pPr>
              <a:spcAft>
                <a:spcPts val="500"/>
              </a:spcAft>
              <a:defRPr sz="1100" b="0">
                <a:solidFill>
                  <a:srgbClr val="5F6C7A"/>
                </a:solidFill>
                <a:latin typeface="Aptos"/>
              </a:defRPr>
            </a:pPr>
            <a:r>
              <a:t>Runtime choice matters less than the identity and authorization model at the data boundary</a:t>
            </a:r>
          </a:p>
        </p:txBody>
      </p:sp>
      <p:sp>
        <p:nvSpPr>
          <p:cNvPr id="5" name="Rectangle 4"/>
          <p:cNvSpPr/>
          <p:nvPr/>
        </p:nvSpPr>
        <p:spPr>
          <a:xfrm>
            <a:off x="530352" y="1170432"/>
            <a:ext cx="11064240" cy="22860"/>
          </a:xfrm>
          <a:prstGeom prst="rect">
            <a:avLst/>
          </a:prstGeom>
          <a:solidFill>
            <a:srgbClr val="0082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66960" y="91440"/>
            <a:ext cx="1554480" cy="201168"/>
          </a:xfrm>
          <a:prstGeom prst="rect">
            <a:avLst/>
          </a:prstGeom>
          <a:noFill/>
        </p:spPr>
        <p:txBody>
          <a:bodyPr wrap="square" lIns="45720" rIns="45720" anchor="t">
            <a:spAutoFit/>
          </a:bodyPr>
          <a:lstStyle/>
          <a:p>
            <a:pPr algn="r">
              <a:spcAft>
                <a:spcPts val="500"/>
              </a:spcAft>
              <a:defRPr sz="800" b="1">
                <a:solidFill>
                  <a:srgbClr val="008284"/>
                </a:solidFill>
                <a:latin typeface="Aptos"/>
              </a:defRPr>
            </a:pPr>
            <a:r>
              <a:t>DATA</a:t>
            </a:r>
          </a:p>
        </p:txBody>
      </p:sp>
      <p:sp>
        <p:nvSpPr>
          <p:cNvPr id="7" name="Rounded Rectangle 6"/>
          <p:cNvSpPr/>
          <p:nvPr/>
        </p:nvSpPr>
        <p:spPr>
          <a:xfrm>
            <a:off x="594360" y="1463040"/>
            <a:ext cx="5349240" cy="1828800"/>
          </a:xfrm>
          <a:prstGeom prst="roundRect">
            <a:avLst/>
          </a:prstGeom>
          <a:solidFill>
            <a:srgbClr val="F2F6FA"/>
          </a:solidFill>
          <a:ln>
            <a:solidFill>
              <a:srgbClr val="DB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463040"/>
            <a:ext cx="64008" cy="1828800"/>
          </a:xfrm>
          <a:prstGeom prst="rect">
            <a:avLst/>
          </a:prstGeom>
          <a:solidFill>
            <a:srgbClr val="0082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572768"/>
            <a:ext cx="5074920" cy="320040"/>
          </a:xfrm>
          <a:prstGeom prst="rect">
            <a:avLst/>
          </a:prstGeom>
          <a:noFill/>
        </p:spPr>
        <p:txBody>
          <a:bodyPr wrap="square" lIns="45720" rIns="45720" anchor="t">
            <a:spAutoFit/>
          </a:bodyPr>
          <a:lstStyle/>
          <a:p>
            <a:pPr>
              <a:spcAft>
                <a:spcPts val="500"/>
              </a:spcAft>
              <a:defRPr sz="1500" b="1">
                <a:solidFill>
                  <a:srgbClr val="12233D"/>
                </a:solidFill>
                <a:latin typeface="Aptos"/>
              </a:defRPr>
            </a:pPr>
            <a:r>
              <a:t>Recommended integration pattern</a:t>
            </a:r>
          </a:p>
        </p:txBody>
      </p:sp>
      <p:sp>
        <p:nvSpPr>
          <p:cNvPr id="10" name="TextBox 9"/>
          <p:cNvSpPr txBox="1"/>
          <p:nvPr/>
        </p:nvSpPr>
        <p:spPr>
          <a:xfrm>
            <a:off x="758952" y="1938528"/>
            <a:ext cx="5074920" cy="1261872"/>
          </a:xfrm>
          <a:prstGeom prst="rect">
            <a:avLst/>
          </a:prstGeom>
          <a:noFill/>
        </p:spPr>
        <p:txBody>
          <a:bodyPr wrap="square" lIns="45720" rIns="45720" anchor="t">
            <a:spAutoFit/>
          </a:bodyPr>
          <a:lstStyle/>
          <a:p>
            <a:pPr>
              <a:spcAft>
                <a:spcPts val="500"/>
              </a:spcAft>
              <a:defRPr sz="1200" b="0">
                <a:solidFill>
                  <a:srgbClr val="283443"/>
                </a:solidFill>
                <a:latin typeface="Aptos"/>
              </a:defRPr>
            </a:pPr>
            <a:r>
              <a:t>Agent calls a governed tool/API or MCP server → validates caller/agent context → obtains short-lived OAuth token → invokes Databricks SQL/API → enforces workspace, catalog, schema, table and row/column permissions.</a:t>
            </a:r>
          </a:p>
        </p:txBody>
      </p:sp>
      <p:sp>
        <p:nvSpPr>
          <p:cNvPr id="11" name="Rounded Rectangle 10"/>
          <p:cNvSpPr/>
          <p:nvPr/>
        </p:nvSpPr>
        <p:spPr>
          <a:xfrm>
            <a:off x="6172200" y="1463040"/>
            <a:ext cx="5349240" cy="1828800"/>
          </a:xfrm>
          <a:prstGeom prst="roundRect">
            <a:avLst/>
          </a:prstGeom>
          <a:solidFill>
            <a:srgbClr val="F2F6FA"/>
          </a:solidFill>
          <a:ln>
            <a:solidFill>
              <a:srgbClr val="DB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463040"/>
            <a:ext cx="64008" cy="1828800"/>
          </a:xfrm>
          <a:prstGeom prst="rect">
            <a:avLst/>
          </a:prstGeom>
          <a:solidFill>
            <a:srgbClr val="A542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36792" y="1572768"/>
            <a:ext cx="5074920" cy="320040"/>
          </a:xfrm>
          <a:prstGeom prst="rect">
            <a:avLst/>
          </a:prstGeom>
          <a:noFill/>
        </p:spPr>
        <p:txBody>
          <a:bodyPr wrap="square" lIns="45720" rIns="45720" anchor="t">
            <a:spAutoFit/>
          </a:bodyPr>
          <a:lstStyle/>
          <a:p>
            <a:pPr>
              <a:spcAft>
                <a:spcPts val="500"/>
              </a:spcAft>
              <a:defRPr sz="1500" b="1">
                <a:solidFill>
                  <a:srgbClr val="12233D"/>
                </a:solidFill>
                <a:latin typeface="Aptos"/>
              </a:defRPr>
            </a:pPr>
            <a:r>
              <a:t>Avoid these anti-patterns</a:t>
            </a:r>
          </a:p>
        </p:txBody>
      </p:sp>
      <p:sp>
        <p:nvSpPr>
          <p:cNvPr id="14" name="TextBox 13"/>
          <p:cNvSpPr txBox="1"/>
          <p:nvPr/>
        </p:nvSpPr>
        <p:spPr>
          <a:xfrm>
            <a:off x="6336792" y="1938528"/>
            <a:ext cx="5074920" cy="1261872"/>
          </a:xfrm>
          <a:prstGeom prst="rect">
            <a:avLst/>
          </a:prstGeom>
          <a:noFill/>
        </p:spPr>
        <p:txBody>
          <a:bodyPr wrap="square" lIns="45720" rIns="45720" anchor="t">
            <a:spAutoFit/>
          </a:bodyPr>
          <a:lstStyle/>
          <a:p>
            <a:pPr>
              <a:spcAft>
                <a:spcPts val="500"/>
              </a:spcAft>
              <a:defRPr sz="1200" b="0">
                <a:solidFill>
                  <a:srgbClr val="283443"/>
                </a:solidFill>
                <a:latin typeface="Aptos"/>
              </a:defRPr>
            </a:pPr>
            <a:r>
              <a:t>• One workspace-wide token shared by all agents</a:t>
            </a:r>
          </a:p>
          <a:p>
            <a:pPr>
              <a:spcAft>
                <a:spcPts val="500"/>
              </a:spcAft>
              <a:defRPr sz="1200" b="0">
                <a:solidFill>
                  <a:srgbClr val="283443"/>
                </a:solidFill>
                <a:latin typeface="Aptos"/>
              </a:defRPr>
            </a:pPr>
            <a:r>
              <a:t>• Giving agents direct unrestricted SQL access</a:t>
            </a:r>
          </a:p>
          <a:p>
            <a:pPr>
              <a:spcAft>
                <a:spcPts val="500"/>
              </a:spcAft>
              <a:defRPr sz="1200" b="0">
                <a:solidFill>
                  <a:srgbClr val="283443"/>
                </a:solidFill>
                <a:latin typeface="Aptos"/>
              </a:defRPr>
            </a:pPr>
            <a:r>
              <a:t>• Treating prompt instructions as authorization</a:t>
            </a:r>
          </a:p>
          <a:p>
            <a:pPr>
              <a:spcAft>
                <a:spcPts val="500"/>
              </a:spcAft>
              <a:defRPr sz="1200" b="0">
                <a:solidFill>
                  <a:srgbClr val="283443"/>
                </a:solidFill>
                <a:latin typeface="Aptos"/>
              </a:defRPr>
            </a:pPr>
            <a:r>
              <a:t>• Copying large datasets into agent memory</a:t>
            </a:r>
          </a:p>
          <a:p>
            <a:pPr>
              <a:spcAft>
                <a:spcPts val="500"/>
              </a:spcAft>
              <a:defRPr sz="1200" b="0">
                <a:solidFill>
                  <a:srgbClr val="283443"/>
                </a:solidFill>
                <a:latin typeface="Aptos"/>
              </a:defRPr>
            </a:pPr>
            <a:r>
              <a:t>• Allowing uncontrolled public egress</a:t>
            </a:r>
          </a:p>
        </p:txBody>
      </p:sp>
      <p:sp>
        <p:nvSpPr>
          <p:cNvPr id="15" name="TextBox 14"/>
          <p:cNvSpPr txBox="1"/>
          <p:nvPr/>
        </p:nvSpPr>
        <p:spPr>
          <a:xfrm>
            <a:off x="685800" y="3703320"/>
            <a:ext cx="10789920" cy="320040"/>
          </a:xfrm>
          <a:prstGeom prst="rect">
            <a:avLst/>
          </a:prstGeom>
          <a:noFill/>
        </p:spPr>
        <p:txBody>
          <a:bodyPr wrap="square" lIns="45720" rIns="45720" anchor="t">
            <a:spAutoFit/>
          </a:bodyPr>
          <a:lstStyle/>
          <a:p>
            <a:pPr>
              <a:spcAft>
                <a:spcPts val="500"/>
              </a:spcAft>
              <a:defRPr sz="1700" b="1">
                <a:solidFill>
                  <a:srgbClr val="12233D"/>
                </a:solidFill>
                <a:latin typeface="Aptos"/>
              </a:defRPr>
            </a:pPr>
            <a:r>
              <a:t>PoC test cases</a:t>
            </a:r>
          </a:p>
        </p:txBody>
      </p:sp>
      <p:sp>
        <p:nvSpPr>
          <p:cNvPr id="16" name="TextBox 15"/>
          <p:cNvSpPr txBox="1"/>
          <p:nvPr/>
        </p:nvSpPr>
        <p:spPr>
          <a:xfrm>
            <a:off x="713232" y="4069080"/>
            <a:ext cx="10607040" cy="1371600"/>
          </a:xfrm>
          <a:prstGeom prst="rect">
            <a:avLst/>
          </a:prstGeom>
          <a:noFill/>
        </p:spPr>
        <p:txBody>
          <a:bodyPr wrap="square" lIns="73152" rIns="73152" tIns="36576" bIns="36576">
            <a:spAutoFit/>
          </a:bodyPr>
          <a:lstStyle/>
          <a:p>
            <a:pPr>
              <a:spcAft>
                <a:spcPts val="400"/>
              </a:spcAft>
              <a:defRPr sz="1300">
                <a:solidFill>
                  <a:srgbClr val="283443"/>
                </a:solidFill>
                <a:latin typeface="Aptos"/>
              </a:defRPr>
            </a:pPr>
            <a:r>
              <a:t>•  User-delegated query versus service-to-service query; prove which identity Databricks sees and audits.</a:t>
            </a:r>
          </a:p>
          <a:p>
            <a:pPr>
              <a:spcAft>
                <a:spcPts val="400"/>
              </a:spcAft>
              <a:defRPr sz="1300">
                <a:solidFill>
                  <a:srgbClr val="283443"/>
                </a:solidFill>
                <a:latin typeface="Aptos"/>
              </a:defRPr>
            </a:pPr>
            <a:r>
              <a:t>•  Unity Catalog permission denial and row/column controls remain effective even when the agent is prompt-injected.</a:t>
            </a:r>
          </a:p>
          <a:p>
            <a:pPr>
              <a:spcAft>
                <a:spcPts val="400"/>
              </a:spcAft>
              <a:defRPr sz="1300">
                <a:solidFill>
                  <a:srgbClr val="283443"/>
                </a:solidFill>
                <a:latin typeface="Aptos"/>
              </a:defRPr>
            </a:pPr>
            <a:r>
              <a:t>•  Private connectivity, DNS, outbound allowlisting, latency, query timeout, concurrency and retry behavior.</a:t>
            </a:r>
          </a:p>
          <a:p>
            <a:pPr>
              <a:spcAft>
                <a:spcPts val="400"/>
              </a:spcAft>
              <a:defRPr sz="1300">
                <a:solidFill>
                  <a:srgbClr val="283443"/>
                </a:solidFill>
                <a:latin typeface="Aptos"/>
              </a:defRPr>
            </a:pPr>
            <a:r>
              <a:t>•  Tool outputs are minimized and labeled as untrusted data before being passed back to the model.</a:t>
            </a:r>
          </a:p>
        </p:txBody>
      </p:sp>
      <p:sp>
        <p:nvSpPr>
          <p:cNvPr id="17" name="TextBox 16"/>
          <p:cNvSpPr txBox="1"/>
          <p:nvPr/>
        </p:nvSpPr>
        <p:spPr>
          <a:xfrm>
            <a:off x="713232" y="5715000"/>
            <a:ext cx="10515600" cy="320040"/>
          </a:xfrm>
          <a:prstGeom prst="rect">
            <a:avLst/>
          </a:prstGeom>
          <a:noFill/>
        </p:spPr>
        <p:txBody>
          <a:bodyPr wrap="square" lIns="45720" rIns="45720" anchor="t">
            <a:spAutoFit/>
          </a:bodyPr>
          <a:lstStyle/>
          <a:p>
            <a:pPr>
              <a:spcAft>
                <a:spcPts val="500"/>
              </a:spcAft>
              <a:defRPr sz="1000" b="0">
                <a:solidFill>
                  <a:srgbClr val="5F6C7A"/>
                </a:solidFill>
                <a:latin typeface="Aptos"/>
              </a:defRPr>
            </a:pPr>
            <a:r>
              <a:t>Use Databricks OAuth federation/service-principal patterns where appropriate; align the exact method with workspace configuration and whether the use case is user-delegated or unattended.</a:t>
            </a:r>
          </a:p>
        </p:txBody>
      </p:sp>
      <p:sp>
        <p:nvSpPr>
          <p:cNvPr id="18" name="TextBox 17"/>
          <p:cNvSpPr txBox="1"/>
          <p:nvPr/>
        </p:nvSpPr>
        <p:spPr>
          <a:xfrm>
            <a:off x="530352" y="6537960"/>
            <a:ext cx="8961120" cy="164592"/>
          </a:xfrm>
          <a:prstGeom prst="rect">
            <a:avLst/>
          </a:prstGeom>
          <a:noFill/>
        </p:spPr>
        <p:txBody>
          <a:bodyPr wrap="square" lIns="45720" rIns="45720" anchor="t">
            <a:spAutoFit/>
          </a:bodyPr>
          <a:lstStyle/>
          <a:p>
            <a:pPr>
              <a:spcAft>
                <a:spcPts val="500"/>
              </a:spcAft>
              <a:defRPr sz="700" b="0">
                <a:solidFill>
                  <a:srgbClr val="5F6C7A"/>
                </a:solidFill>
                <a:latin typeface="Aptos"/>
              </a:defRPr>
            </a:pPr>
            <a:r>
              <a:t>Enterprise architecture decision brief  |  27 Oct 2026  |  Pricing and feature status should be revalidated at procurement</a:t>
            </a:r>
          </a:p>
        </p:txBody>
      </p:sp>
      <p:sp>
        <p:nvSpPr>
          <p:cNvPr id="19" name="TextBox 18"/>
          <p:cNvSpPr txBox="1"/>
          <p:nvPr/>
        </p:nvSpPr>
        <p:spPr>
          <a:xfrm>
            <a:off x="11155680" y="6510528"/>
            <a:ext cx="457200" cy="201168"/>
          </a:xfrm>
          <a:prstGeom prst="rect">
            <a:avLst/>
          </a:prstGeom>
          <a:noFill/>
        </p:spPr>
        <p:txBody>
          <a:bodyPr wrap="square" lIns="45720" rIns="45720" anchor="t">
            <a:spAutoFit/>
          </a:bodyPr>
          <a:lstStyle/>
          <a:p>
            <a:pPr algn="r">
              <a:spcAft>
                <a:spcPts val="500"/>
              </a:spcAft>
              <a:defRPr sz="800" b="0">
                <a:solidFill>
                  <a:srgbClr val="5F6C7A"/>
                </a:solidFill>
                <a:latin typeface="Aptos"/>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438912"/>
          </a:xfrm>
          <a:prstGeom prst="rect">
            <a:avLst/>
          </a:prstGeom>
          <a:noFill/>
        </p:spPr>
        <p:txBody>
          <a:bodyPr wrap="square" lIns="45720" rIns="45720" anchor="t">
            <a:spAutoFit/>
          </a:bodyPr>
          <a:lstStyle/>
          <a:p>
            <a:pPr>
              <a:spcAft>
                <a:spcPts val="500"/>
              </a:spcAft>
              <a:defRPr sz="2600" b="1">
                <a:solidFill>
                  <a:srgbClr val="12233D"/>
                </a:solidFill>
                <a:latin typeface="Aptos"/>
              </a:defRPr>
            </a:pPr>
            <a:r>
              <a:t>Pricing: compare total cost of ownership, not runtime sticker price</a:t>
            </a:r>
          </a:p>
        </p:txBody>
      </p:sp>
      <p:sp>
        <p:nvSpPr>
          <p:cNvPr id="4" name="TextBox 3"/>
          <p:cNvSpPr txBox="1"/>
          <p:nvPr/>
        </p:nvSpPr>
        <p:spPr>
          <a:xfrm>
            <a:off x="530352" y="749808"/>
            <a:ext cx="10972800" cy="384048"/>
          </a:xfrm>
          <a:prstGeom prst="rect">
            <a:avLst/>
          </a:prstGeom>
          <a:noFill/>
        </p:spPr>
        <p:txBody>
          <a:bodyPr wrap="square" lIns="45720" rIns="45720" anchor="t">
            <a:spAutoFit/>
          </a:bodyPr>
          <a:lstStyle/>
          <a:p>
            <a:pPr>
              <a:spcAft>
                <a:spcPts val="500"/>
              </a:spcAft>
              <a:defRPr sz="1100" b="0">
                <a:solidFill>
                  <a:srgbClr val="5F6C7A"/>
                </a:solidFill>
                <a:latin typeface="Aptos"/>
              </a:defRPr>
            </a:pPr>
            <a:r>
              <a:t>Published rates are only one component; the model, tools, gateway and observability may dominate</a:t>
            </a:r>
          </a:p>
        </p:txBody>
      </p:sp>
      <p:sp>
        <p:nvSpPr>
          <p:cNvPr id="5" name="Rectangle 4"/>
          <p:cNvSpPr/>
          <p:nvPr/>
        </p:nvSpPr>
        <p:spPr>
          <a:xfrm>
            <a:off x="530352" y="1170432"/>
            <a:ext cx="11064240" cy="22860"/>
          </a:xfrm>
          <a:prstGeom prst="rect">
            <a:avLst/>
          </a:prstGeom>
          <a:solidFill>
            <a:srgbClr val="0082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66960" y="91440"/>
            <a:ext cx="1554480" cy="201168"/>
          </a:xfrm>
          <a:prstGeom prst="rect">
            <a:avLst/>
          </a:prstGeom>
          <a:noFill/>
        </p:spPr>
        <p:txBody>
          <a:bodyPr wrap="square" lIns="45720" rIns="45720" anchor="t">
            <a:spAutoFit/>
          </a:bodyPr>
          <a:lstStyle/>
          <a:p>
            <a:pPr algn="r">
              <a:spcAft>
                <a:spcPts val="500"/>
              </a:spcAft>
              <a:defRPr sz="800" b="1">
                <a:solidFill>
                  <a:srgbClr val="008284"/>
                </a:solidFill>
                <a:latin typeface="Aptos"/>
              </a:defRPr>
            </a:pPr>
            <a:r>
              <a:t>ECONOMICS</a:t>
            </a:r>
          </a:p>
        </p:txBody>
      </p:sp>
      <p:graphicFrame>
        <p:nvGraphicFramePr>
          <p:cNvPr id="7" name="Table 6"/>
          <p:cNvGraphicFramePr>
            <a:graphicFrameLocks noGrp="1"/>
          </p:cNvGraphicFramePr>
          <p:nvPr/>
        </p:nvGraphicFramePr>
        <p:xfrm>
          <a:off x="594360" y="1371600"/>
          <a:ext cx="10972800" cy="3154680"/>
        </p:xfrm>
        <a:graphic>
          <a:graphicData uri="http://schemas.openxmlformats.org/drawingml/2006/table">
            <a:tbl>
              <a:tblPr firstRow="1" bandRow="1">
                <a:tableStyleId>{5C22544A-7EE6-4342-B048-85BDC9FD1C3A}</a:tableStyleId>
              </a:tblPr>
              <a:tblGrid>
                <a:gridCol w="1554480"/>
                <a:gridCol w="3108960"/>
                <a:gridCol w="3291840"/>
                <a:gridCol w="3017520"/>
              </a:tblGrid>
              <a:tr h="630936">
                <a:tc>
                  <a:txBody>
                    <a:bodyPr/>
                    <a:lstStyle/>
                    <a:p>
                      <a:pPr>
                        <a:spcAft>
                          <a:spcPts val="0"/>
                        </a:spcAft>
                        <a:defRPr sz="900" b="1">
                          <a:solidFill>
                            <a:srgbClr val="FFFFFF"/>
                          </a:solidFill>
                          <a:latin typeface="Aptos"/>
                        </a:defRPr>
                      </a:pPr>
                      <a:r>
                        <a:t>Cost component</a:t>
                      </a:r>
                    </a:p>
                  </a:txBody>
                  <a:tcPr marL="64008" marR="45720" marT="36576" marB="27432" anchor="ctr">
                    <a:solidFill>
                      <a:srgbClr val="12233D"/>
                    </a:solidFill>
                  </a:tcPr>
                </a:tc>
                <a:tc>
                  <a:txBody>
                    <a:bodyPr/>
                    <a:lstStyle/>
                    <a:p>
                      <a:pPr>
                        <a:spcAft>
                          <a:spcPts val="0"/>
                        </a:spcAft>
                        <a:defRPr sz="900" b="1">
                          <a:solidFill>
                            <a:srgbClr val="FFFFFF"/>
                          </a:solidFill>
                          <a:latin typeface="Aptos"/>
                        </a:defRPr>
                      </a:pPr>
                      <a:r>
                        <a:t>AWS Bedrock AgentCore</a:t>
                      </a:r>
                    </a:p>
                  </a:txBody>
                  <a:tcPr marL="64008" marR="45720" marT="36576" marB="27432" anchor="ctr">
                    <a:solidFill>
                      <a:srgbClr val="12233D"/>
                    </a:solidFill>
                  </a:tcPr>
                </a:tc>
                <a:tc>
                  <a:txBody>
                    <a:bodyPr/>
                    <a:lstStyle/>
                    <a:p>
                      <a:pPr>
                        <a:spcAft>
                          <a:spcPts val="0"/>
                        </a:spcAft>
                        <a:defRPr sz="900" b="1">
                          <a:solidFill>
                            <a:srgbClr val="FFFFFF"/>
                          </a:solidFill>
                          <a:latin typeface="Aptos"/>
                        </a:defRPr>
                      </a:pPr>
                      <a:r>
                        <a:t>Microsoft Foundry Agent Service</a:t>
                      </a:r>
                    </a:p>
                  </a:txBody>
                  <a:tcPr marL="64008" marR="45720" marT="36576" marB="27432" anchor="ctr">
                    <a:solidFill>
                      <a:srgbClr val="12233D"/>
                    </a:solidFill>
                  </a:tcPr>
                </a:tc>
                <a:tc>
                  <a:txBody>
                    <a:bodyPr/>
                    <a:lstStyle/>
                    <a:p>
                      <a:pPr>
                        <a:spcAft>
                          <a:spcPts val="0"/>
                        </a:spcAft>
                        <a:defRPr sz="900" b="1">
                          <a:solidFill>
                            <a:srgbClr val="FFFFFF"/>
                          </a:solidFill>
                          <a:latin typeface="Aptos"/>
                        </a:defRPr>
                      </a:pPr>
                      <a:r>
                        <a:t>What to model</a:t>
                      </a:r>
                    </a:p>
                  </a:txBody>
                  <a:tcPr marL="64008" marR="45720" marT="36576" marB="27432" anchor="ctr">
                    <a:solidFill>
                      <a:srgbClr val="12233D"/>
                    </a:solidFill>
                  </a:tcPr>
                </a:tc>
              </a:tr>
              <a:tr h="630936">
                <a:tc>
                  <a:txBody>
                    <a:bodyPr/>
                    <a:lstStyle/>
                    <a:p>
                      <a:pPr>
                        <a:spcAft>
                          <a:spcPts val="0"/>
                        </a:spcAft>
                        <a:defRPr sz="900" b="0">
                          <a:solidFill>
                            <a:srgbClr val="283443"/>
                          </a:solidFill>
                          <a:latin typeface="Aptos"/>
                        </a:defRPr>
                      </a:pPr>
                      <a:r>
                        <a:t>Agent runtime</a:t>
                      </a:r>
                    </a:p>
                  </a:txBody>
                  <a:tcPr marL="64008" marR="45720" marT="36576" marB="27432" anchor="ctr">
                    <a:solidFill>
                      <a:srgbClr val="FFFFFF"/>
                    </a:solidFill>
                  </a:tcPr>
                </a:tc>
                <a:tc>
                  <a:txBody>
                    <a:bodyPr/>
                    <a:lstStyle/>
                    <a:p>
                      <a:pPr>
                        <a:spcAft>
                          <a:spcPts val="0"/>
                        </a:spcAft>
                        <a:defRPr sz="900" b="0">
                          <a:solidFill>
                            <a:srgbClr val="283443"/>
                          </a:solidFill>
                          <a:latin typeface="Aptos"/>
                        </a:defRPr>
                      </a:pPr>
                      <a:r>
                        <a:t>Consumption CPU/memory for microVMs; instance option also has EC2 + management fee.</a:t>
                      </a:r>
                    </a:p>
                  </a:txBody>
                  <a:tcPr marL="64008" marR="45720" marT="36576" marB="27432" anchor="ctr">
                    <a:solidFill>
                      <a:srgbClr val="FFFFFF"/>
                    </a:solidFill>
                  </a:tcPr>
                </a:tc>
                <a:tc>
                  <a:txBody>
                    <a:bodyPr/>
                    <a:lstStyle/>
                    <a:p>
                      <a:pPr>
                        <a:spcAft>
                          <a:spcPts val="0"/>
                        </a:spcAft>
                        <a:defRPr sz="900" b="0">
                          <a:solidFill>
                            <a:srgbClr val="283443"/>
                          </a:solidFill>
                          <a:latin typeface="Aptos"/>
                        </a:defRPr>
                      </a:pPr>
                      <a:r>
                        <a:t>Prompt-agent service has no additional charge for creating/running prompt agents; hosted agents incur CPU/memory session consumption.</a:t>
                      </a:r>
                    </a:p>
                  </a:txBody>
                  <a:tcPr marL="64008" marR="45720" marT="36576" marB="27432" anchor="ctr">
                    <a:solidFill>
                      <a:srgbClr val="FFFFFF"/>
                    </a:solidFill>
                  </a:tcPr>
                </a:tc>
                <a:tc>
                  <a:txBody>
                    <a:bodyPr/>
                    <a:lstStyle/>
                    <a:p>
                      <a:pPr>
                        <a:spcAft>
                          <a:spcPts val="0"/>
                        </a:spcAft>
                        <a:defRPr sz="900" b="0">
                          <a:solidFill>
                            <a:srgbClr val="283443"/>
                          </a:solidFill>
                          <a:latin typeface="Aptos"/>
                        </a:defRPr>
                      </a:pPr>
                      <a:r>
                        <a:t>Active vs idle time, concurrency, session length, CPU/RAM, scale-to-zero and region.</a:t>
                      </a:r>
                    </a:p>
                  </a:txBody>
                  <a:tcPr marL="64008" marR="45720" marT="36576" marB="27432" anchor="ctr">
                    <a:solidFill>
                      <a:srgbClr val="FFFFFF"/>
                    </a:solidFill>
                  </a:tcPr>
                </a:tc>
              </a:tr>
              <a:tr h="630936">
                <a:tc>
                  <a:txBody>
                    <a:bodyPr/>
                    <a:lstStyle/>
                    <a:p>
                      <a:pPr>
                        <a:spcAft>
                          <a:spcPts val="0"/>
                        </a:spcAft>
                        <a:defRPr sz="900" b="0">
                          <a:solidFill>
                            <a:srgbClr val="283443"/>
                          </a:solidFill>
                          <a:latin typeface="Aptos"/>
                        </a:defRPr>
                      </a:pPr>
                      <a:r>
                        <a:t>Model inference</a:t>
                      </a:r>
                    </a:p>
                  </a:txBody>
                  <a:tcPr marL="64008" marR="45720" marT="36576" marB="27432" anchor="ctr">
                    <a:solidFill>
                      <a:srgbClr val="F2F6FA"/>
                    </a:solidFill>
                  </a:tcPr>
                </a:tc>
                <a:tc>
                  <a:txBody>
                    <a:bodyPr/>
                    <a:lstStyle/>
                    <a:p>
                      <a:pPr>
                        <a:spcAft>
                          <a:spcPts val="0"/>
                        </a:spcAft>
                        <a:defRPr sz="900" b="0">
                          <a:solidFill>
                            <a:srgbClr val="283443"/>
                          </a:solidFill>
                          <a:latin typeface="Aptos"/>
                        </a:defRPr>
                      </a:pPr>
                      <a:r>
                        <a:t>Separate model-provider token charges; Kong may route to multiple providers.</a:t>
                      </a:r>
                    </a:p>
                  </a:txBody>
                  <a:tcPr marL="64008" marR="45720" marT="36576" marB="27432" anchor="ctr">
                    <a:solidFill>
                      <a:srgbClr val="F2F6FA"/>
                    </a:solidFill>
                  </a:tcPr>
                </a:tc>
                <a:tc>
                  <a:txBody>
                    <a:bodyPr/>
                    <a:lstStyle/>
                    <a:p>
                      <a:pPr>
                        <a:spcAft>
                          <a:spcPts val="0"/>
                        </a:spcAft>
                        <a:defRPr sz="900" b="0">
                          <a:solidFill>
                            <a:srgbClr val="283443"/>
                          </a:solidFill>
                          <a:latin typeface="Aptos"/>
                        </a:defRPr>
                      </a:pPr>
                      <a:r>
                        <a:t>Separate model inference/token charges; prompt agent price does not mean model calls are free.</a:t>
                      </a:r>
                    </a:p>
                  </a:txBody>
                  <a:tcPr marL="64008" marR="45720" marT="36576" marB="27432" anchor="ctr">
                    <a:solidFill>
                      <a:srgbClr val="F2F6FA"/>
                    </a:solidFill>
                  </a:tcPr>
                </a:tc>
                <a:tc>
                  <a:txBody>
                    <a:bodyPr/>
                    <a:lstStyle/>
                    <a:p>
                      <a:pPr>
                        <a:spcAft>
                          <a:spcPts val="0"/>
                        </a:spcAft>
                        <a:defRPr sz="900" b="0">
                          <a:solidFill>
                            <a:srgbClr val="283443"/>
                          </a:solidFill>
                          <a:latin typeface="Aptos"/>
                        </a:defRPr>
                      </a:pPr>
                      <a:r>
                        <a:t>Input/output tokens per task, retries, model mix, caching, evaluation/judge tokens.</a:t>
                      </a:r>
                    </a:p>
                  </a:txBody>
                  <a:tcPr marL="64008" marR="45720" marT="36576" marB="27432" anchor="ctr">
                    <a:solidFill>
                      <a:srgbClr val="F2F6FA"/>
                    </a:solidFill>
                  </a:tcPr>
                </a:tc>
              </a:tr>
              <a:tr h="630936">
                <a:tc>
                  <a:txBody>
                    <a:bodyPr/>
                    <a:lstStyle/>
                    <a:p>
                      <a:pPr>
                        <a:spcAft>
                          <a:spcPts val="0"/>
                        </a:spcAft>
                        <a:defRPr sz="900" b="0">
                          <a:solidFill>
                            <a:srgbClr val="283443"/>
                          </a:solidFill>
                          <a:latin typeface="Aptos"/>
                        </a:defRPr>
                      </a:pPr>
                      <a:r>
                        <a:t>Tools / state</a:t>
                      </a:r>
                    </a:p>
                  </a:txBody>
                  <a:tcPr marL="64008" marR="45720" marT="36576" marB="27432" anchor="ctr">
                    <a:solidFill>
                      <a:srgbClr val="FFFFFF"/>
                    </a:solidFill>
                  </a:tcPr>
                </a:tc>
                <a:tc>
                  <a:txBody>
                    <a:bodyPr/>
                    <a:lstStyle/>
                    <a:p>
                      <a:pPr>
                        <a:spcAft>
                          <a:spcPts val="0"/>
                        </a:spcAft>
                        <a:defRPr sz="900" b="0">
                          <a:solidFill>
                            <a:srgbClr val="283443"/>
                          </a:solidFill>
                          <a:latin typeface="Aptos"/>
                        </a:defRPr>
                      </a:pPr>
                      <a:r>
                        <a:t>Gateway invocations, memory, browser, code interpreter, search, policy and evaluation may be metered separately.</a:t>
                      </a:r>
                    </a:p>
                  </a:txBody>
                  <a:tcPr marL="64008" marR="45720" marT="36576" marB="27432" anchor="ctr">
                    <a:solidFill>
                      <a:srgbClr val="FFFFFF"/>
                    </a:solidFill>
                  </a:tcPr>
                </a:tc>
                <a:tc>
                  <a:txBody>
                    <a:bodyPr/>
                    <a:lstStyle/>
                    <a:p>
                      <a:pPr>
                        <a:spcAft>
                          <a:spcPts val="0"/>
                        </a:spcAft>
                        <a:defRPr sz="900" b="0">
                          <a:solidFill>
                            <a:srgbClr val="283443"/>
                          </a:solidFill>
                          <a:latin typeface="Aptos"/>
                        </a:defRPr>
                      </a:pPr>
                      <a:r>
                        <a:t>Tool charges, Code Interpreter/file search/vector storage, connected services and hosted compute vary by tool.</a:t>
                      </a:r>
                    </a:p>
                  </a:txBody>
                  <a:tcPr marL="64008" marR="45720" marT="36576" marB="27432" anchor="ctr">
                    <a:solidFill>
                      <a:srgbClr val="FFFFFF"/>
                    </a:solidFill>
                  </a:tcPr>
                </a:tc>
                <a:tc>
                  <a:txBody>
                    <a:bodyPr/>
                    <a:lstStyle/>
                    <a:p>
                      <a:pPr>
                        <a:spcAft>
                          <a:spcPts val="0"/>
                        </a:spcAft>
                        <a:defRPr sz="900" b="0">
                          <a:solidFill>
                            <a:srgbClr val="283443"/>
                          </a:solidFill>
                          <a:latin typeface="Aptos"/>
                        </a:defRPr>
                      </a:pPr>
                      <a:r>
                        <a:t>Tool calls per task, memory GB/month, search, code sessions, retrieval/storage.</a:t>
                      </a:r>
                    </a:p>
                  </a:txBody>
                  <a:tcPr marL="64008" marR="45720" marT="36576" marB="27432" anchor="ctr">
                    <a:solidFill>
                      <a:srgbClr val="FFFFFF"/>
                    </a:solidFill>
                  </a:tcPr>
                </a:tc>
              </a:tr>
              <a:tr h="630936">
                <a:tc>
                  <a:txBody>
                    <a:bodyPr/>
                    <a:lstStyle/>
                    <a:p>
                      <a:pPr>
                        <a:spcAft>
                          <a:spcPts val="0"/>
                        </a:spcAft>
                        <a:defRPr sz="900" b="0">
                          <a:solidFill>
                            <a:srgbClr val="283443"/>
                          </a:solidFill>
                          <a:latin typeface="Aptos"/>
                        </a:defRPr>
                      </a:pPr>
                      <a:r>
                        <a:t>Platform &amp; operations</a:t>
                      </a:r>
                    </a:p>
                  </a:txBody>
                  <a:tcPr marL="64008" marR="45720" marT="36576" marB="27432" anchor="ctr">
                    <a:solidFill>
                      <a:srgbClr val="F2F6FA"/>
                    </a:solidFill>
                  </a:tcPr>
                </a:tc>
                <a:tc>
                  <a:txBody>
                    <a:bodyPr/>
                    <a:lstStyle/>
                    <a:p>
                      <a:pPr>
                        <a:spcAft>
                          <a:spcPts val="0"/>
                        </a:spcAft>
                        <a:defRPr sz="900" b="0">
                          <a:solidFill>
                            <a:srgbClr val="283443"/>
                          </a:solidFill>
                          <a:latin typeface="Aptos"/>
                        </a:defRPr>
                      </a:pPr>
                      <a:r>
                        <a:t>CloudWatch telemetry, networking, data transfer, logging, security and integration engineering.</a:t>
                      </a:r>
                    </a:p>
                  </a:txBody>
                  <a:tcPr marL="64008" marR="45720" marT="36576" marB="27432" anchor="ctr">
                    <a:solidFill>
                      <a:srgbClr val="F2F6FA"/>
                    </a:solidFill>
                  </a:tcPr>
                </a:tc>
                <a:tc>
                  <a:txBody>
                    <a:bodyPr/>
                    <a:lstStyle/>
                    <a:p>
                      <a:pPr>
                        <a:spcAft>
                          <a:spcPts val="0"/>
                        </a:spcAft>
                        <a:defRPr sz="900" b="0">
                          <a:solidFill>
                            <a:srgbClr val="283443"/>
                          </a:solidFill>
                          <a:latin typeface="Aptos"/>
                        </a:defRPr>
                      </a:pPr>
                      <a:r>
                        <a:t>Azure networking, monitoring/diagnostics, storage, evaluations, hosted compute and integration engineering.</a:t>
                      </a:r>
                    </a:p>
                  </a:txBody>
                  <a:tcPr marL="64008" marR="45720" marT="36576" marB="27432" anchor="ctr">
                    <a:solidFill>
                      <a:srgbClr val="F2F6FA"/>
                    </a:solidFill>
                  </a:tcPr>
                </a:tc>
                <a:tc>
                  <a:txBody>
                    <a:bodyPr/>
                    <a:lstStyle/>
                    <a:p>
                      <a:pPr>
                        <a:spcAft>
                          <a:spcPts val="0"/>
                        </a:spcAft>
                        <a:defRPr sz="900" b="0">
                          <a:solidFill>
                            <a:srgbClr val="283443"/>
                          </a:solidFill>
                          <a:latin typeface="Aptos"/>
                        </a:defRPr>
                      </a:pPr>
                      <a:r>
                        <a:t>Dynatrace ingestion/retention, Kong subscription/capacity, private networking, support and staff time.</a:t>
                      </a:r>
                    </a:p>
                  </a:txBody>
                  <a:tcPr marL="64008" marR="45720" marT="36576" marB="27432" anchor="ctr">
                    <a:solidFill>
                      <a:srgbClr val="F2F6FA"/>
                    </a:solidFill>
                  </a:tcPr>
                </a:tc>
              </a:tr>
            </a:tbl>
          </a:graphicData>
        </a:graphic>
      </p:graphicFrame>
      <p:sp>
        <p:nvSpPr>
          <p:cNvPr id="8" name="TextBox 7"/>
          <p:cNvSpPr txBox="1"/>
          <p:nvPr/>
        </p:nvSpPr>
        <p:spPr>
          <a:xfrm>
            <a:off x="658368" y="4736592"/>
            <a:ext cx="10881360" cy="256032"/>
          </a:xfrm>
          <a:prstGeom prst="rect">
            <a:avLst/>
          </a:prstGeom>
          <a:noFill/>
        </p:spPr>
        <p:txBody>
          <a:bodyPr wrap="square" lIns="45720" rIns="45720" anchor="t">
            <a:spAutoFit/>
          </a:bodyPr>
          <a:lstStyle/>
          <a:p>
            <a:pPr>
              <a:spcAft>
                <a:spcPts val="500"/>
              </a:spcAft>
              <a:defRPr sz="1300" b="1">
                <a:solidFill>
                  <a:srgbClr val="12233D"/>
                </a:solidFill>
                <a:latin typeface="Aptos"/>
              </a:defRPr>
            </a:pPr>
            <a:r>
              <a:t>Illustrative public AgentCore list prices (verify region and current price sheet)</a:t>
            </a:r>
          </a:p>
        </p:txBody>
      </p:sp>
      <p:sp>
        <p:nvSpPr>
          <p:cNvPr id="9" name="TextBox 8"/>
          <p:cNvSpPr txBox="1"/>
          <p:nvPr/>
        </p:nvSpPr>
        <p:spPr>
          <a:xfrm>
            <a:off x="713232" y="5074920"/>
            <a:ext cx="10789920" cy="868680"/>
          </a:xfrm>
          <a:prstGeom prst="rect">
            <a:avLst/>
          </a:prstGeom>
          <a:noFill/>
        </p:spPr>
        <p:txBody>
          <a:bodyPr wrap="square" lIns="45720" rIns="45720" anchor="t">
            <a:spAutoFit/>
          </a:bodyPr>
          <a:lstStyle/>
          <a:p>
            <a:pPr>
              <a:spcAft>
                <a:spcPts val="500"/>
              </a:spcAft>
              <a:defRPr sz="1100" b="0">
                <a:solidFill>
                  <a:srgbClr val="283443"/>
                </a:solidFill>
                <a:latin typeface="Aptos"/>
              </a:defRPr>
            </a:pPr>
            <a:r>
              <a:t>Runtime microVM v1: $0.0895/vCPU-hour + $0.00945/GB-hour; v2 consumption: $0.1276/vCPU-hour + $0.0169/GB-hour. Gateway: $0.005 per 1,000 API invocations. Policy authorization: $0.000025/request. Memory, browser, code, evaluations, CloudWatch and model inference are additional. These rates are not a like-for-like workload quote.</a:t>
            </a:r>
          </a:p>
        </p:txBody>
      </p:sp>
      <p:sp>
        <p:nvSpPr>
          <p:cNvPr id="10" name="TextBox 9"/>
          <p:cNvSpPr txBox="1"/>
          <p:nvPr/>
        </p:nvSpPr>
        <p:spPr>
          <a:xfrm>
            <a:off x="713232" y="5971032"/>
            <a:ext cx="10789920" cy="228600"/>
          </a:xfrm>
          <a:prstGeom prst="rect">
            <a:avLst/>
          </a:prstGeom>
          <a:noFill/>
        </p:spPr>
        <p:txBody>
          <a:bodyPr wrap="square" lIns="45720" rIns="45720" anchor="t">
            <a:spAutoFit/>
          </a:bodyPr>
          <a:lstStyle/>
          <a:p>
            <a:pPr>
              <a:spcAft>
                <a:spcPts val="500"/>
              </a:spcAft>
              <a:defRPr sz="1000" b="0">
                <a:solidFill>
                  <a:srgbClr val="5F6C7A"/>
                </a:solidFill>
                <a:latin typeface="Aptos"/>
              </a:defRPr>
            </a:pPr>
            <a:r>
              <a:t>Foundry public pricing says prompt-agent creation/running has no additional service charge; model inference and tools are charged separately. Hosted-agent compute is usage-based. Build a measured estimate, not a guessed annual total.</a:t>
            </a:r>
          </a:p>
        </p:txBody>
      </p:sp>
      <p:sp>
        <p:nvSpPr>
          <p:cNvPr id="11" name="TextBox 10"/>
          <p:cNvSpPr txBox="1"/>
          <p:nvPr/>
        </p:nvSpPr>
        <p:spPr>
          <a:xfrm>
            <a:off x="530352" y="6537960"/>
            <a:ext cx="8961120" cy="164592"/>
          </a:xfrm>
          <a:prstGeom prst="rect">
            <a:avLst/>
          </a:prstGeom>
          <a:noFill/>
        </p:spPr>
        <p:txBody>
          <a:bodyPr wrap="square" lIns="45720" rIns="45720" anchor="t">
            <a:spAutoFit/>
          </a:bodyPr>
          <a:lstStyle/>
          <a:p>
            <a:pPr>
              <a:spcAft>
                <a:spcPts val="500"/>
              </a:spcAft>
              <a:defRPr sz="700" b="0">
                <a:solidFill>
                  <a:srgbClr val="5F6C7A"/>
                </a:solidFill>
                <a:latin typeface="Aptos"/>
              </a:defRPr>
            </a:pPr>
            <a:r>
              <a:t>Enterprise architecture decision brief  |  27 Oct 2026  |  Pricing and feature status should be revalidated at procurement</a:t>
            </a:r>
          </a:p>
        </p:txBody>
      </p:sp>
      <p:sp>
        <p:nvSpPr>
          <p:cNvPr id="12" name="TextBox 11"/>
          <p:cNvSpPr txBox="1"/>
          <p:nvPr/>
        </p:nvSpPr>
        <p:spPr>
          <a:xfrm>
            <a:off x="11155680" y="6510528"/>
            <a:ext cx="457200" cy="201168"/>
          </a:xfrm>
          <a:prstGeom prst="rect">
            <a:avLst/>
          </a:prstGeom>
          <a:noFill/>
        </p:spPr>
        <p:txBody>
          <a:bodyPr wrap="square" lIns="45720" rIns="45720" anchor="t">
            <a:spAutoFit/>
          </a:bodyPr>
          <a:lstStyle/>
          <a:p>
            <a:pPr algn="r">
              <a:spcAft>
                <a:spcPts val="500"/>
              </a:spcAft>
              <a:defRPr sz="800" b="0">
                <a:solidFill>
                  <a:srgbClr val="5F6C7A"/>
                </a:solidFill>
                <a:latin typeface="Aptos"/>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438912"/>
          </a:xfrm>
          <a:prstGeom prst="rect">
            <a:avLst/>
          </a:prstGeom>
          <a:noFill/>
        </p:spPr>
        <p:txBody>
          <a:bodyPr wrap="square" lIns="45720" rIns="45720" anchor="t">
            <a:spAutoFit/>
          </a:bodyPr>
          <a:lstStyle/>
          <a:p>
            <a:pPr>
              <a:spcAft>
                <a:spcPts val="500"/>
              </a:spcAft>
              <a:defRPr sz="2600" b="1">
                <a:solidFill>
                  <a:srgbClr val="12233D"/>
                </a:solidFill>
                <a:latin typeface="Aptos"/>
              </a:defRPr>
            </a:pPr>
            <a:r>
              <a:t>A defensible TCO model</a:t>
            </a:r>
          </a:p>
        </p:txBody>
      </p:sp>
      <p:sp>
        <p:nvSpPr>
          <p:cNvPr id="4" name="TextBox 3"/>
          <p:cNvSpPr txBox="1"/>
          <p:nvPr/>
        </p:nvSpPr>
        <p:spPr>
          <a:xfrm>
            <a:off x="530352" y="749808"/>
            <a:ext cx="10972800" cy="384048"/>
          </a:xfrm>
          <a:prstGeom prst="rect">
            <a:avLst/>
          </a:prstGeom>
          <a:noFill/>
        </p:spPr>
        <p:txBody>
          <a:bodyPr wrap="square" lIns="45720" rIns="45720" anchor="t">
            <a:spAutoFit/>
          </a:bodyPr>
          <a:lstStyle/>
          <a:p>
            <a:pPr>
              <a:spcAft>
                <a:spcPts val="500"/>
              </a:spcAft>
              <a:defRPr sz="1100" b="0">
                <a:solidFill>
                  <a:srgbClr val="5F6C7A"/>
                </a:solidFill>
                <a:latin typeface="Aptos"/>
              </a:defRPr>
            </a:pPr>
            <a:r>
              <a:t>Use identical agent tasks, traffic assumptions and observability settings for both platforms</a:t>
            </a:r>
          </a:p>
        </p:txBody>
      </p:sp>
      <p:sp>
        <p:nvSpPr>
          <p:cNvPr id="5" name="Rectangle 4"/>
          <p:cNvSpPr/>
          <p:nvPr/>
        </p:nvSpPr>
        <p:spPr>
          <a:xfrm>
            <a:off x="530352" y="1170432"/>
            <a:ext cx="11064240" cy="22860"/>
          </a:xfrm>
          <a:prstGeom prst="rect">
            <a:avLst/>
          </a:prstGeom>
          <a:solidFill>
            <a:srgbClr val="0082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66960" y="91440"/>
            <a:ext cx="1554480" cy="201168"/>
          </a:xfrm>
          <a:prstGeom prst="rect">
            <a:avLst/>
          </a:prstGeom>
          <a:noFill/>
        </p:spPr>
        <p:txBody>
          <a:bodyPr wrap="square" lIns="45720" rIns="45720" anchor="t">
            <a:spAutoFit/>
          </a:bodyPr>
          <a:lstStyle/>
          <a:p>
            <a:pPr algn="r">
              <a:spcAft>
                <a:spcPts val="500"/>
              </a:spcAft>
              <a:defRPr sz="800" b="1">
                <a:solidFill>
                  <a:srgbClr val="008284"/>
                </a:solidFill>
                <a:latin typeface="Aptos"/>
              </a:defRPr>
            </a:pPr>
            <a:r>
              <a:t>ECONOMICS</a:t>
            </a:r>
          </a:p>
        </p:txBody>
      </p:sp>
      <p:sp>
        <p:nvSpPr>
          <p:cNvPr id="7" name="Rounded Rectangle 6"/>
          <p:cNvSpPr/>
          <p:nvPr/>
        </p:nvSpPr>
        <p:spPr>
          <a:xfrm>
            <a:off x="594360" y="1417320"/>
            <a:ext cx="3520440" cy="1828800"/>
          </a:xfrm>
          <a:prstGeom prst="roundRect">
            <a:avLst/>
          </a:prstGeom>
          <a:solidFill>
            <a:srgbClr val="F2F6FA"/>
          </a:solidFill>
          <a:ln>
            <a:solidFill>
              <a:srgbClr val="DB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417320"/>
            <a:ext cx="64008" cy="1828800"/>
          </a:xfrm>
          <a:prstGeom prst="rect">
            <a:avLst/>
          </a:prstGeom>
          <a:solidFill>
            <a:srgbClr val="2563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527048"/>
            <a:ext cx="3246120" cy="320040"/>
          </a:xfrm>
          <a:prstGeom prst="rect">
            <a:avLst/>
          </a:prstGeom>
          <a:noFill/>
        </p:spPr>
        <p:txBody>
          <a:bodyPr wrap="square" lIns="45720" rIns="45720" anchor="t">
            <a:spAutoFit/>
          </a:bodyPr>
          <a:lstStyle/>
          <a:p>
            <a:pPr>
              <a:spcAft>
                <a:spcPts val="500"/>
              </a:spcAft>
              <a:defRPr sz="1500" b="1">
                <a:solidFill>
                  <a:srgbClr val="12233D"/>
                </a:solidFill>
                <a:latin typeface="Aptos"/>
              </a:defRPr>
            </a:pPr>
            <a:r>
              <a:t>Workload baseline</a:t>
            </a:r>
          </a:p>
        </p:txBody>
      </p:sp>
      <p:sp>
        <p:nvSpPr>
          <p:cNvPr id="10" name="TextBox 9"/>
          <p:cNvSpPr txBox="1"/>
          <p:nvPr/>
        </p:nvSpPr>
        <p:spPr>
          <a:xfrm>
            <a:off x="758952" y="1892808"/>
            <a:ext cx="3246120" cy="1261872"/>
          </a:xfrm>
          <a:prstGeom prst="rect">
            <a:avLst/>
          </a:prstGeom>
          <a:noFill/>
        </p:spPr>
        <p:txBody>
          <a:bodyPr wrap="square" lIns="45720" rIns="45720" anchor="t">
            <a:spAutoFit/>
          </a:bodyPr>
          <a:lstStyle/>
          <a:p>
            <a:pPr>
              <a:spcAft>
                <a:spcPts val="500"/>
              </a:spcAft>
              <a:defRPr sz="1100" b="0">
                <a:solidFill>
                  <a:srgbClr val="283443"/>
                </a:solidFill>
                <a:latin typeface="Aptos"/>
              </a:defRPr>
            </a:pPr>
            <a:r>
              <a:t>• Monthly requests by use case</a:t>
            </a:r>
          </a:p>
          <a:p>
            <a:pPr>
              <a:spcAft>
                <a:spcPts val="500"/>
              </a:spcAft>
              <a:defRPr sz="1100" b="0">
                <a:solidFill>
                  <a:srgbClr val="283443"/>
                </a:solidFill>
                <a:latin typeface="Aptos"/>
              </a:defRPr>
            </a:pPr>
            <a:r>
              <a:t>• Mean / p95 turns per task</a:t>
            </a:r>
          </a:p>
          <a:p>
            <a:pPr>
              <a:spcAft>
                <a:spcPts val="500"/>
              </a:spcAft>
              <a:defRPr sz="1100" b="0">
                <a:solidFill>
                  <a:srgbClr val="283443"/>
                </a:solidFill>
                <a:latin typeface="Aptos"/>
              </a:defRPr>
            </a:pPr>
            <a:r>
              <a:t>• Input/output tokens and model mix</a:t>
            </a:r>
          </a:p>
          <a:p>
            <a:pPr>
              <a:spcAft>
                <a:spcPts val="500"/>
              </a:spcAft>
              <a:defRPr sz="1100" b="0">
                <a:solidFill>
                  <a:srgbClr val="283443"/>
                </a:solidFill>
                <a:latin typeface="Aptos"/>
              </a:defRPr>
            </a:pPr>
            <a:r>
              <a:t>• Tool calls, retrieval and code sessions</a:t>
            </a:r>
          </a:p>
          <a:p>
            <a:pPr>
              <a:spcAft>
                <a:spcPts val="500"/>
              </a:spcAft>
              <a:defRPr sz="1100" b="0">
                <a:solidFill>
                  <a:srgbClr val="283443"/>
                </a:solidFill>
                <a:latin typeface="Aptos"/>
              </a:defRPr>
            </a:pPr>
            <a:r>
              <a:t>• Concurrency, session duration, idle ratio</a:t>
            </a:r>
          </a:p>
        </p:txBody>
      </p:sp>
      <p:sp>
        <p:nvSpPr>
          <p:cNvPr id="11" name="Rounded Rectangle 10"/>
          <p:cNvSpPr/>
          <p:nvPr/>
        </p:nvSpPr>
        <p:spPr>
          <a:xfrm>
            <a:off x="4315968" y="1417320"/>
            <a:ext cx="3520440" cy="1828800"/>
          </a:xfrm>
          <a:prstGeom prst="roundRect">
            <a:avLst/>
          </a:prstGeom>
          <a:solidFill>
            <a:srgbClr val="F2F6FA"/>
          </a:solidFill>
          <a:ln>
            <a:solidFill>
              <a:srgbClr val="DB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15968" y="1417320"/>
            <a:ext cx="64008" cy="1828800"/>
          </a:xfrm>
          <a:prstGeom prst="rect">
            <a:avLst/>
          </a:prstGeom>
          <a:solidFill>
            <a:srgbClr val="0082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59" y="1527048"/>
            <a:ext cx="3246120" cy="320040"/>
          </a:xfrm>
          <a:prstGeom prst="rect">
            <a:avLst/>
          </a:prstGeom>
          <a:noFill/>
        </p:spPr>
        <p:txBody>
          <a:bodyPr wrap="square" lIns="45720" rIns="45720" anchor="t">
            <a:spAutoFit/>
          </a:bodyPr>
          <a:lstStyle/>
          <a:p>
            <a:pPr>
              <a:spcAft>
                <a:spcPts val="500"/>
              </a:spcAft>
              <a:defRPr sz="1500" b="1">
                <a:solidFill>
                  <a:srgbClr val="12233D"/>
                </a:solidFill>
                <a:latin typeface="Aptos"/>
              </a:defRPr>
            </a:pPr>
            <a:r>
              <a:t>Monthly TCO equation</a:t>
            </a:r>
          </a:p>
        </p:txBody>
      </p:sp>
      <p:sp>
        <p:nvSpPr>
          <p:cNvPr id="14" name="TextBox 13"/>
          <p:cNvSpPr txBox="1"/>
          <p:nvPr/>
        </p:nvSpPr>
        <p:spPr>
          <a:xfrm>
            <a:off x="4480559" y="1892808"/>
            <a:ext cx="3246120" cy="1261872"/>
          </a:xfrm>
          <a:prstGeom prst="rect">
            <a:avLst/>
          </a:prstGeom>
          <a:noFill/>
        </p:spPr>
        <p:txBody>
          <a:bodyPr wrap="square" lIns="45720" rIns="45720" anchor="t">
            <a:spAutoFit/>
          </a:bodyPr>
          <a:lstStyle/>
          <a:p>
            <a:pPr>
              <a:spcAft>
                <a:spcPts val="500"/>
              </a:spcAft>
              <a:defRPr sz="1200" b="0">
                <a:solidFill>
                  <a:srgbClr val="283443"/>
                </a:solidFill>
                <a:latin typeface="Aptos"/>
              </a:defRPr>
            </a:pPr>
            <a:r>
              <a:t>Model tokens + runtime compute + tool/memory/search + network/data egress + Kong + Dynatrace + evaluation + platform support + engineering/operations.</a:t>
            </a:r>
          </a:p>
        </p:txBody>
      </p:sp>
      <p:sp>
        <p:nvSpPr>
          <p:cNvPr id="15" name="Rounded Rectangle 14"/>
          <p:cNvSpPr/>
          <p:nvPr/>
        </p:nvSpPr>
        <p:spPr>
          <a:xfrm>
            <a:off x="8028431" y="1417320"/>
            <a:ext cx="3520440" cy="1828800"/>
          </a:xfrm>
          <a:prstGeom prst="roundRect">
            <a:avLst/>
          </a:prstGeom>
          <a:solidFill>
            <a:srgbClr val="F2F6FA"/>
          </a:solidFill>
          <a:ln>
            <a:solidFill>
              <a:srgbClr val="DB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417320"/>
            <a:ext cx="64008" cy="1828800"/>
          </a:xfrm>
          <a:prstGeom prst="rect">
            <a:avLst/>
          </a:prstGeom>
          <a:solidFill>
            <a:srgbClr val="CF7E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93023" y="1527048"/>
            <a:ext cx="3246120" cy="320040"/>
          </a:xfrm>
          <a:prstGeom prst="rect">
            <a:avLst/>
          </a:prstGeom>
          <a:noFill/>
        </p:spPr>
        <p:txBody>
          <a:bodyPr wrap="square" lIns="45720" rIns="45720" anchor="t">
            <a:spAutoFit/>
          </a:bodyPr>
          <a:lstStyle/>
          <a:p>
            <a:pPr>
              <a:spcAft>
                <a:spcPts val="500"/>
              </a:spcAft>
              <a:defRPr sz="1500" b="1">
                <a:solidFill>
                  <a:srgbClr val="12233D"/>
                </a:solidFill>
                <a:latin typeface="Aptos"/>
              </a:defRPr>
            </a:pPr>
            <a:r>
              <a:t>Report three scenarios</a:t>
            </a:r>
          </a:p>
        </p:txBody>
      </p:sp>
      <p:sp>
        <p:nvSpPr>
          <p:cNvPr id="18" name="TextBox 17"/>
          <p:cNvSpPr txBox="1"/>
          <p:nvPr/>
        </p:nvSpPr>
        <p:spPr>
          <a:xfrm>
            <a:off x="8193023" y="1892808"/>
            <a:ext cx="3246120" cy="1261872"/>
          </a:xfrm>
          <a:prstGeom prst="rect">
            <a:avLst/>
          </a:prstGeom>
          <a:noFill/>
        </p:spPr>
        <p:txBody>
          <a:bodyPr wrap="square" lIns="45720" rIns="45720" anchor="t">
            <a:spAutoFit/>
          </a:bodyPr>
          <a:lstStyle/>
          <a:p>
            <a:pPr>
              <a:spcAft>
                <a:spcPts val="500"/>
              </a:spcAft>
              <a:defRPr sz="1200" b="0">
                <a:solidFill>
                  <a:srgbClr val="283443"/>
                </a:solidFill>
                <a:latin typeface="Aptos"/>
              </a:defRPr>
            </a:pPr>
            <a:r>
              <a:t>Low / expected / peak. Include regional availability, discounts, commitments, quota headroom, support and implementation effort. Separate one-time build from recurring run cost.</a:t>
            </a:r>
          </a:p>
        </p:txBody>
      </p:sp>
      <p:sp>
        <p:nvSpPr>
          <p:cNvPr id="19" name="TextBox 18"/>
          <p:cNvSpPr txBox="1"/>
          <p:nvPr/>
        </p:nvSpPr>
        <p:spPr>
          <a:xfrm>
            <a:off x="685800" y="3703320"/>
            <a:ext cx="10698480" cy="320040"/>
          </a:xfrm>
          <a:prstGeom prst="rect">
            <a:avLst/>
          </a:prstGeom>
          <a:noFill/>
        </p:spPr>
        <p:txBody>
          <a:bodyPr wrap="square" lIns="45720" rIns="45720" anchor="t">
            <a:spAutoFit/>
          </a:bodyPr>
          <a:lstStyle/>
          <a:p>
            <a:pPr>
              <a:spcAft>
                <a:spcPts val="500"/>
              </a:spcAft>
              <a:defRPr sz="1700" b="1">
                <a:solidFill>
                  <a:srgbClr val="12233D"/>
                </a:solidFill>
                <a:latin typeface="Aptos"/>
              </a:defRPr>
            </a:pPr>
            <a:r>
              <a:t>Measure these unit economics</a:t>
            </a:r>
          </a:p>
        </p:txBody>
      </p:sp>
      <p:graphicFrame>
        <p:nvGraphicFramePr>
          <p:cNvPr id="20" name="Table 19"/>
          <p:cNvGraphicFramePr>
            <a:graphicFrameLocks noGrp="1"/>
          </p:cNvGraphicFramePr>
          <p:nvPr/>
        </p:nvGraphicFramePr>
        <p:xfrm>
          <a:off x="685800" y="4096512"/>
          <a:ext cx="10698480" cy="1417320"/>
        </p:xfrm>
        <a:graphic>
          <a:graphicData uri="http://schemas.openxmlformats.org/drawingml/2006/table">
            <a:tbl>
              <a:tblPr firstRow="1" bandRow="1">
                <a:tableStyleId>{5C22544A-7EE6-4342-B048-85BDC9FD1C3A}</a:tableStyleId>
              </a:tblPr>
              <a:tblGrid>
                <a:gridCol w="2926080"/>
                <a:gridCol w="7772400"/>
              </a:tblGrid>
              <a:tr h="354330">
                <a:tc>
                  <a:txBody>
                    <a:bodyPr/>
                    <a:lstStyle/>
                    <a:p>
                      <a:pPr>
                        <a:spcAft>
                          <a:spcPts val="0"/>
                        </a:spcAft>
                        <a:defRPr sz="1000" b="1">
                          <a:solidFill>
                            <a:srgbClr val="FFFFFF"/>
                          </a:solidFill>
                          <a:latin typeface="Aptos"/>
                        </a:defRPr>
                      </a:pPr>
                      <a:r>
                        <a:t>Metric</a:t>
                      </a:r>
                    </a:p>
                  </a:txBody>
                  <a:tcPr marL="64008" marR="45720" marT="36576" marB="27432" anchor="ctr">
                    <a:solidFill>
                      <a:srgbClr val="12233D"/>
                    </a:solidFill>
                  </a:tcPr>
                </a:tc>
                <a:tc>
                  <a:txBody>
                    <a:bodyPr/>
                    <a:lstStyle/>
                    <a:p>
                      <a:pPr>
                        <a:spcAft>
                          <a:spcPts val="0"/>
                        </a:spcAft>
                        <a:defRPr sz="1000" b="1">
                          <a:solidFill>
                            <a:srgbClr val="FFFFFF"/>
                          </a:solidFill>
                          <a:latin typeface="Aptos"/>
                        </a:defRPr>
                      </a:pPr>
                      <a:r>
                        <a:t>Why leadership needs it</a:t>
                      </a:r>
                    </a:p>
                  </a:txBody>
                  <a:tcPr marL="64008" marR="45720" marT="36576" marB="27432" anchor="ctr">
                    <a:solidFill>
                      <a:srgbClr val="12233D"/>
                    </a:solidFill>
                  </a:tcPr>
                </a:tc>
              </a:tr>
              <a:tr h="354330">
                <a:tc>
                  <a:txBody>
                    <a:bodyPr/>
                    <a:lstStyle/>
                    <a:p>
                      <a:pPr>
                        <a:spcAft>
                          <a:spcPts val="0"/>
                        </a:spcAft>
                        <a:defRPr sz="1000" b="0">
                          <a:solidFill>
                            <a:srgbClr val="283443"/>
                          </a:solidFill>
                          <a:latin typeface="Aptos"/>
                        </a:defRPr>
                      </a:pPr>
                      <a:r>
                        <a:t>Cost per successful task</a:t>
                      </a:r>
                    </a:p>
                  </a:txBody>
                  <a:tcPr marL="64008" marR="45720" marT="36576" marB="27432" anchor="ctr">
                    <a:solidFill>
                      <a:srgbClr val="FFFFFF"/>
                    </a:solidFill>
                  </a:tcPr>
                </a:tc>
                <a:tc>
                  <a:txBody>
                    <a:bodyPr/>
                    <a:lstStyle/>
                    <a:p>
                      <a:pPr>
                        <a:spcAft>
                          <a:spcPts val="0"/>
                        </a:spcAft>
                        <a:defRPr sz="1000" b="0">
                          <a:solidFill>
                            <a:srgbClr val="283443"/>
                          </a:solidFill>
                          <a:latin typeface="Aptos"/>
                        </a:defRPr>
                      </a:pPr>
                      <a:r>
                        <a:t>Normalizes for quality and retry differences; compare only tasks meeting the same acceptance threshold.</a:t>
                      </a:r>
                    </a:p>
                  </a:txBody>
                  <a:tcPr marL="64008" marR="45720" marT="36576" marB="27432" anchor="ctr">
                    <a:solidFill>
                      <a:srgbClr val="FFFFFF"/>
                    </a:solidFill>
                  </a:tcPr>
                </a:tc>
              </a:tr>
              <a:tr h="354330">
                <a:tc>
                  <a:txBody>
                    <a:bodyPr/>
                    <a:lstStyle/>
                    <a:p>
                      <a:pPr>
                        <a:spcAft>
                          <a:spcPts val="0"/>
                        </a:spcAft>
                        <a:defRPr sz="1000" b="0">
                          <a:solidFill>
                            <a:srgbClr val="283443"/>
                          </a:solidFill>
                          <a:latin typeface="Aptos"/>
                        </a:defRPr>
                      </a:pPr>
                      <a:r>
                        <a:t>Cost per 1,000 requests at p95 load</a:t>
                      </a:r>
                    </a:p>
                  </a:txBody>
                  <a:tcPr marL="64008" marR="45720" marT="36576" marB="27432" anchor="ctr">
                    <a:solidFill>
                      <a:srgbClr val="F2F6FA"/>
                    </a:solidFill>
                  </a:tcPr>
                </a:tc>
                <a:tc>
                  <a:txBody>
                    <a:bodyPr/>
                    <a:lstStyle/>
                    <a:p>
                      <a:pPr>
                        <a:spcAft>
                          <a:spcPts val="0"/>
                        </a:spcAft>
                        <a:defRPr sz="1000" b="0">
                          <a:solidFill>
                            <a:srgbClr val="283443"/>
                          </a:solidFill>
                          <a:latin typeface="Aptos"/>
                        </a:defRPr>
                      </a:pPr>
                      <a:r>
                        <a:t>Makes scale and peak capacity visible; include runtime, gateway, model and telemetry.</a:t>
                      </a:r>
                    </a:p>
                  </a:txBody>
                  <a:tcPr marL="64008" marR="45720" marT="36576" marB="27432" anchor="ctr">
                    <a:solidFill>
                      <a:srgbClr val="F2F6FA"/>
                    </a:solidFill>
                  </a:tcPr>
                </a:tc>
              </a:tr>
              <a:tr h="354330">
                <a:tc>
                  <a:txBody>
                    <a:bodyPr/>
                    <a:lstStyle/>
                    <a:p>
                      <a:pPr>
                        <a:spcAft>
                          <a:spcPts val="0"/>
                        </a:spcAft>
                        <a:defRPr sz="1000" b="0">
                          <a:solidFill>
                            <a:srgbClr val="283443"/>
                          </a:solidFill>
                          <a:latin typeface="Aptos"/>
                        </a:defRPr>
                      </a:pPr>
                      <a:r>
                        <a:t>Engineer-hours to production</a:t>
                      </a:r>
                    </a:p>
                  </a:txBody>
                  <a:tcPr marL="64008" marR="45720" marT="36576" marB="27432" anchor="ctr">
                    <a:solidFill>
                      <a:srgbClr val="FFFFFF"/>
                    </a:solidFill>
                  </a:tcPr>
                </a:tc>
                <a:tc>
                  <a:txBody>
                    <a:bodyPr/>
                    <a:lstStyle/>
                    <a:p>
                      <a:pPr>
                        <a:spcAft>
                          <a:spcPts val="0"/>
                        </a:spcAft>
                        <a:defRPr sz="1000" b="0">
                          <a:solidFill>
                            <a:srgbClr val="283443"/>
                          </a:solidFill>
                          <a:latin typeface="Aptos"/>
                        </a:defRPr>
                      </a:pPr>
                      <a:r>
                        <a:t>Captures real operational overhead: identity, networking, deployment, guardrails, tracing, upgrades and incident response.</a:t>
                      </a:r>
                    </a:p>
                  </a:txBody>
                  <a:tcPr marL="64008" marR="45720" marT="36576" marB="27432" anchor="ctr">
                    <a:solidFill>
                      <a:srgbClr val="FFFFFF"/>
                    </a:solidFill>
                  </a:tcPr>
                </a:tc>
              </a:tr>
            </a:tbl>
          </a:graphicData>
        </a:graphic>
      </p:graphicFrame>
      <p:sp>
        <p:nvSpPr>
          <p:cNvPr id="21" name="TextBox 20"/>
          <p:cNvSpPr txBox="1"/>
          <p:nvPr/>
        </p:nvSpPr>
        <p:spPr>
          <a:xfrm>
            <a:off x="530352" y="6537960"/>
            <a:ext cx="8961120" cy="164592"/>
          </a:xfrm>
          <a:prstGeom prst="rect">
            <a:avLst/>
          </a:prstGeom>
          <a:noFill/>
        </p:spPr>
        <p:txBody>
          <a:bodyPr wrap="square" lIns="45720" rIns="45720" anchor="t">
            <a:spAutoFit/>
          </a:bodyPr>
          <a:lstStyle/>
          <a:p>
            <a:pPr>
              <a:spcAft>
                <a:spcPts val="500"/>
              </a:spcAft>
              <a:defRPr sz="700" b="0">
                <a:solidFill>
                  <a:srgbClr val="5F6C7A"/>
                </a:solidFill>
                <a:latin typeface="Aptos"/>
              </a:defRPr>
            </a:pPr>
            <a:r>
              <a:t>Enterprise architecture decision brief  |  27 Oct 2026  |  Pricing and feature status should be revalidated at procurement</a:t>
            </a:r>
          </a:p>
        </p:txBody>
      </p:sp>
      <p:sp>
        <p:nvSpPr>
          <p:cNvPr id="22" name="TextBox 21"/>
          <p:cNvSpPr txBox="1"/>
          <p:nvPr/>
        </p:nvSpPr>
        <p:spPr>
          <a:xfrm>
            <a:off x="11155680" y="6510528"/>
            <a:ext cx="457200" cy="201168"/>
          </a:xfrm>
          <a:prstGeom prst="rect">
            <a:avLst/>
          </a:prstGeom>
          <a:noFill/>
        </p:spPr>
        <p:txBody>
          <a:bodyPr wrap="square" lIns="45720" rIns="45720" anchor="t">
            <a:spAutoFit/>
          </a:bodyPr>
          <a:lstStyle/>
          <a:p>
            <a:pPr algn="r">
              <a:spcAft>
                <a:spcPts val="500"/>
              </a:spcAft>
              <a:defRPr sz="800" b="0">
                <a:solidFill>
                  <a:srgbClr val="5F6C7A"/>
                </a:solidFill>
                <a:latin typeface="Aptos"/>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438912"/>
          </a:xfrm>
          <a:prstGeom prst="rect">
            <a:avLst/>
          </a:prstGeom>
          <a:noFill/>
        </p:spPr>
        <p:txBody>
          <a:bodyPr wrap="square" lIns="45720" rIns="45720" anchor="t">
            <a:spAutoFit/>
          </a:bodyPr>
          <a:lstStyle/>
          <a:p>
            <a:pPr>
              <a:spcAft>
                <a:spcPts val="500"/>
              </a:spcAft>
              <a:defRPr sz="2600" b="1">
                <a:solidFill>
                  <a:srgbClr val="12233D"/>
                </a:solidFill>
                <a:latin typeface="Aptos"/>
              </a:defRPr>
            </a:pPr>
            <a:r>
              <a:t>Weighted decision scorecard (initial hypothesis)</a:t>
            </a:r>
          </a:p>
        </p:txBody>
      </p:sp>
      <p:sp>
        <p:nvSpPr>
          <p:cNvPr id="4" name="TextBox 3"/>
          <p:cNvSpPr txBox="1"/>
          <p:nvPr/>
        </p:nvSpPr>
        <p:spPr>
          <a:xfrm>
            <a:off x="530352" y="749808"/>
            <a:ext cx="10972800" cy="384048"/>
          </a:xfrm>
          <a:prstGeom prst="rect">
            <a:avLst/>
          </a:prstGeom>
          <a:noFill/>
        </p:spPr>
        <p:txBody>
          <a:bodyPr wrap="square" lIns="45720" rIns="45720" anchor="t">
            <a:spAutoFit/>
          </a:bodyPr>
          <a:lstStyle/>
          <a:p>
            <a:pPr>
              <a:spcAft>
                <a:spcPts val="500"/>
              </a:spcAft>
              <a:defRPr sz="1100" b="0">
                <a:solidFill>
                  <a:srgbClr val="5F6C7A"/>
                </a:solidFill>
                <a:latin typeface="Aptos"/>
              </a:defRPr>
            </a:pPr>
            <a:r>
              <a:t>Scores are provisional architecture judgments; replace with evidence from the PoC</a:t>
            </a:r>
          </a:p>
        </p:txBody>
      </p:sp>
      <p:sp>
        <p:nvSpPr>
          <p:cNvPr id="5" name="Rectangle 4"/>
          <p:cNvSpPr/>
          <p:nvPr/>
        </p:nvSpPr>
        <p:spPr>
          <a:xfrm>
            <a:off x="530352" y="1170432"/>
            <a:ext cx="11064240" cy="22860"/>
          </a:xfrm>
          <a:prstGeom prst="rect">
            <a:avLst/>
          </a:prstGeom>
          <a:solidFill>
            <a:srgbClr val="0082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66960" y="91440"/>
            <a:ext cx="1554480" cy="201168"/>
          </a:xfrm>
          <a:prstGeom prst="rect">
            <a:avLst/>
          </a:prstGeom>
          <a:noFill/>
        </p:spPr>
        <p:txBody>
          <a:bodyPr wrap="square" lIns="45720" rIns="45720" anchor="t">
            <a:spAutoFit/>
          </a:bodyPr>
          <a:lstStyle/>
          <a:p>
            <a:pPr algn="r">
              <a:spcAft>
                <a:spcPts val="500"/>
              </a:spcAft>
              <a:defRPr sz="800" b="1">
                <a:solidFill>
                  <a:srgbClr val="008284"/>
                </a:solidFill>
                <a:latin typeface="Aptos"/>
              </a:defRPr>
            </a:pPr>
            <a:r>
              <a:t>DECISION</a:t>
            </a:r>
          </a:p>
        </p:txBody>
      </p:sp>
      <p:graphicFrame>
        <p:nvGraphicFramePr>
          <p:cNvPr id="7" name="Table 6"/>
          <p:cNvGraphicFramePr>
            <a:graphicFrameLocks noGrp="1"/>
          </p:cNvGraphicFramePr>
          <p:nvPr/>
        </p:nvGraphicFramePr>
        <p:xfrm>
          <a:off x="594360" y="1371600"/>
          <a:ext cx="10972800" cy="4480560"/>
        </p:xfrm>
        <a:graphic>
          <a:graphicData uri="http://schemas.openxmlformats.org/drawingml/2006/table">
            <a:tbl>
              <a:tblPr firstRow="1" bandRow="1">
                <a:tableStyleId>{5C22544A-7EE6-4342-B048-85BDC9FD1C3A}</a:tableStyleId>
              </a:tblPr>
              <a:tblGrid>
                <a:gridCol w="2194560"/>
                <a:gridCol w="777240"/>
                <a:gridCol w="1325880"/>
                <a:gridCol w="1325880"/>
                <a:gridCol w="5349240"/>
              </a:tblGrid>
              <a:tr h="448056">
                <a:tc>
                  <a:txBody>
                    <a:bodyPr/>
                    <a:lstStyle/>
                    <a:p>
                      <a:pPr>
                        <a:spcAft>
                          <a:spcPts val="0"/>
                        </a:spcAft>
                        <a:defRPr sz="900" b="1">
                          <a:solidFill>
                            <a:srgbClr val="FFFFFF"/>
                          </a:solidFill>
                          <a:latin typeface="Aptos"/>
                        </a:defRPr>
                      </a:pPr>
                      <a:r>
                        <a:t>Criterion</a:t>
                      </a:r>
                    </a:p>
                  </a:txBody>
                  <a:tcPr marL="64008" marR="45720" marT="36576" marB="27432" anchor="ctr">
                    <a:solidFill>
                      <a:srgbClr val="12233D"/>
                    </a:solidFill>
                  </a:tcPr>
                </a:tc>
                <a:tc>
                  <a:txBody>
                    <a:bodyPr/>
                    <a:lstStyle/>
                    <a:p>
                      <a:pPr>
                        <a:spcAft>
                          <a:spcPts val="0"/>
                        </a:spcAft>
                        <a:defRPr sz="900" b="1">
                          <a:solidFill>
                            <a:srgbClr val="FFFFFF"/>
                          </a:solidFill>
                          <a:latin typeface="Aptos"/>
                        </a:defRPr>
                      </a:pPr>
                      <a:r>
                        <a:t>Weight</a:t>
                      </a:r>
                    </a:p>
                  </a:txBody>
                  <a:tcPr marL="64008" marR="45720" marT="36576" marB="27432" anchor="ctr">
                    <a:solidFill>
                      <a:srgbClr val="12233D"/>
                    </a:solidFill>
                  </a:tcPr>
                </a:tc>
                <a:tc>
                  <a:txBody>
                    <a:bodyPr/>
                    <a:lstStyle/>
                    <a:p>
                      <a:pPr>
                        <a:spcAft>
                          <a:spcPts val="0"/>
                        </a:spcAft>
                        <a:defRPr sz="900" b="1">
                          <a:solidFill>
                            <a:srgbClr val="FFFFFF"/>
                          </a:solidFill>
                          <a:latin typeface="Aptos"/>
                        </a:defRPr>
                      </a:pPr>
                      <a:r>
                        <a:t>Foundry (1–5)</a:t>
                      </a:r>
                    </a:p>
                  </a:txBody>
                  <a:tcPr marL="64008" marR="45720" marT="36576" marB="27432" anchor="ctr">
                    <a:solidFill>
                      <a:srgbClr val="12233D"/>
                    </a:solidFill>
                  </a:tcPr>
                </a:tc>
                <a:tc>
                  <a:txBody>
                    <a:bodyPr/>
                    <a:lstStyle/>
                    <a:p>
                      <a:pPr>
                        <a:spcAft>
                          <a:spcPts val="0"/>
                        </a:spcAft>
                        <a:defRPr sz="900" b="1">
                          <a:solidFill>
                            <a:srgbClr val="FFFFFF"/>
                          </a:solidFill>
                          <a:latin typeface="Aptos"/>
                        </a:defRPr>
                      </a:pPr>
                      <a:r>
                        <a:t>AgentCore (1–5)</a:t>
                      </a:r>
                    </a:p>
                  </a:txBody>
                  <a:tcPr marL="64008" marR="45720" marT="36576" marB="27432" anchor="ctr">
                    <a:solidFill>
                      <a:srgbClr val="12233D"/>
                    </a:solidFill>
                  </a:tcPr>
                </a:tc>
                <a:tc>
                  <a:txBody>
                    <a:bodyPr/>
                    <a:lstStyle/>
                    <a:p>
                      <a:pPr>
                        <a:spcAft>
                          <a:spcPts val="0"/>
                        </a:spcAft>
                        <a:defRPr sz="900" b="1">
                          <a:solidFill>
                            <a:srgbClr val="FFFFFF"/>
                          </a:solidFill>
                          <a:latin typeface="Aptos"/>
                        </a:defRPr>
                      </a:pPr>
                      <a:r>
                        <a:t>Why it matters here</a:t>
                      </a:r>
                    </a:p>
                  </a:txBody>
                  <a:tcPr marL="64008" marR="45720" marT="36576" marB="27432" anchor="ctr">
                    <a:solidFill>
                      <a:srgbClr val="12233D"/>
                    </a:solidFill>
                  </a:tcPr>
                </a:tc>
              </a:tr>
              <a:tr h="448056">
                <a:tc>
                  <a:txBody>
                    <a:bodyPr/>
                    <a:lstStyle/>
                    <a:p>
                      <a:pPr>
                        <a:spcAft>
                          <a:spcPts val="0"/>
                        </a:spcAft>
                        <a:defRPr sz="900" b="0">
                          <a:solidFill>
                            <a:srgbClr val="283443"/>
                          </a:solidFill>
                          <a:latin typeface="Aptos"/>
                        </a:defRPr>
                      </a:pPr>
                      <a:r>
                        <a:t>Entra identity / governance</a:t>
                      </a:r>
                    </a:p>
                  </a:txBody>
                  <a:tcPr marL="64008" marR="45720" marT="36576" marB="27432" anchor="ctr">
                    <a:solidFill>
                      <a:srgbClr val="FFFFFF"/>
                    </a:solidFill>
                  </a:tcPr>
                </a:tc>
                <a:tc>
                  <a:txBody>
                    <a:bodyPr/>
                    <a:lstStyle/>
                    <a:p>
                      <a:pPr>
                        <a:spcAft>
                          <a:spcPts val="0"/>
                        </a:spcAft>
                        <a:defRPr sz="900" b="0">
                          <a:solidFill>
                            <a:srgbClr val="283443"/>
                          </a:solidFill>
                          <a:latin typeface="Aptos"/>
                        </a:defRPr>
                      </a:pPr>
                      <a:r>
                        <a:t>15%</a:t>
                      </a:r>
                    </a:p>
                  </a:txBody>
                  <a:tcPr marL="64008" marR="45720" marT="36576" marB="27432" anchor="ctr">
                    <a:solidFill>
                      <a:srgbClr val="FFFFFF"/>
                    </a:solidFill>
                  </a:tcPr>
                </a:tc>
                <a:tc>
                  <a:txBody>
                    <a:bodyPr/>
                    <a:lstStyle/>
                    <a:p>
                      <a:pPr>
                        <a:spcAft>
                          <a:spcPts val="0"/>
                        </a:spcAft>
                        <a:defRPr sz="900" b="0">
                          <a:solidFill>
                            <a:srgbClr val="283443"/>
                          </a:solidFill>
                          <a:latin typeface="Aptos"/>
                        </a:defRPr>
                      </a:pPr>
                      <a:r>
                        <a:t>5</a:t>
                      </a:r>
                    </a:p>
                  </a:txBody>
                  <a:tcPr marL="64008" marR="45720" marT="36576" marB="27432" anchor="ctr">
                    <a:solidFill>
                      <a:srgbClr val="FFFFFF"/>
                    </a:solidFill>
                  </a:tcPr>
                </a:tc>
                <a:tc>
                  <a:txBody>
                    <a:bodyPr/>
                    <a:lstStyle/>
                    <a:p>
                      <a:pPr>
                        <a:spcAft>
                          <a:spcPts val="0"/>
                        </a:spcAft>
                        <a:defRPr sz="900" b="0">
                          <a:solidFill>
                            <a:srgbClr val="283443"/>
                          </a:solidFill>
                          <a:latin typeface="Aptos"/>
                        </a:defRPr>
                      </a:pPr>
                      <a:r>
                        <a:t>4</a:t>
                      </a:r>
                    </a:p>
                  </a:txBody>
                  <a:tcPr marL="64008" marR="45720" marT="36576" marB="27432" anchor="ctr">
                    <a:solidFill>
                      <a:srgbClr val="FFFFFF"/>
                    </a:solidFill>
                  </a:tcPr>
                </a:tc>
                <a:tc>
                  <a:txBody>
                    <a:bodyPr/>
                    <a:lstStyle/>
                    <a:p>
                      <a:pPr>
                        <a:spcAft>
                          <a:spcPts val="0"/>
                        </a:spcAft>
                        <a:defRPr sz="900" b="0">
                          <a:solidFill>
                            <a:srgbClr val="283443"/>
                          </a:solidFill>
                          <a:latin typeface="Aptos"/>
                        </a:defRPr>
                      </a:pPr>
                      <a:r>
                        <a:t>Entra is selected IdP; validate equivalent user and workload flows.</a:t>
                      </a:r>
                    </a:p>
                  </a:txBody>
                  <a:tcPr marL="64008" marR="45720" marT="36576" marB="27432" anchor="ctr">
                    <a:solidFill>
                      <a:srgbClr val="FFFFFF"/>
                    </a:solidFill>
                  </a:tcPr>
                </a:tc>
              </a:tr>
              <a:tr h="448056">
                <a:tc>
                  <a:txBody>
                    <a:bodyPr/>
                    <a:lstStyle/>
                    <a:p>
                      <a:pPr>
                        <a:spcAft>
                          <a:spcPts val="0"/>
                        </a:spcAft>
                        <a:defRPr sz="900" b="0">
                          <a:solidFill>
                            <a:srgbClr val="283443"/>
                          </a:solidFill>
                          <a:latin typeface="Aptos"/>
                        </a:defRPr>
                      </a:pPr>
                      <a:r>
                        <a:t>Kong mandatory routing</a:t>
                      </a:r>
                    </a:p>
                  </a:txBody>
                  <a:tcPr marL="64008" marR="45720" marT="36576" marB="27432" anchor="ctr">
                    <a:solidFill>
                      <a:srgbClr val="F2F6FA"/>
                    </a:solidFill>
                  </a:tcPr>
                </a:tc>
                <a:tc>
                  <a:txBody>
                    <a:bodyPr/>
                    <a:lstStyle/>
                    <a:p>
                      <a:pPr>
                        <a:spcAft>
                          <a:spcPts val="0"/>
                        </a:spcAft>
                        <a:defRPr sz="900" b="0">
                          <a:solidFill>
                            <a:srgbClr val="283443"/>
                          </a:solidFill>
                          <a:latin typeface="Aptos"/>
                        </a:defRPr>
                      </a:pPr>
                      <a:r>
                        <a:t>15%</a:t>
                      </a:r>
                    </a:p>
                  </a:txBody>
                  <a:tcPr marL="64008" marR="45720" marT="36576" marB="27432" anchor="ctr">
                    <a:solidFill>
                      <a:srgbClr val="F2F6FA"/>
                    </a:solidFill>
                  </a:tcPr>
                </a:tc>
                <a:tc>
                  <a:txBody>
                    <a:bodyPr/>
                    <a:lstStyle/>
                    <a:p>
                      <a:pPr>
                        <a:spcAft>
                          <a:spcPts val="0"/>
                        </a:spcAft>
                        <a:defRPr sz="900" b="0">
                          <a:solidFill>
                            <a:srgbClr val="283443"/>
                          </a:solidFill>
                          <a:latin typeface="Aptos"/>
                        </a:defRPr>
                      </a:pPr>
                      <a:r>
                        <a:t>3*</a:t>
                      </a:r>
                    </a:p>
                  </a:txBody>
                  <a:tcPr marL="64008" marR="45720" marT="36576" marB="27432" anchor="ctr">
                    <a:solidFill>
                      <a:srgbClr val="F2F6FA"/>
                    </a:solidFill>
                  </a:tcPr>
                </a:tc>
                <a:tc>
                  <a:txBody>
                    <a:bodyPr/>
                    <a:lstStyle/>
                    <a:p>
                      <a:pPr>
                        <a:spcAft>
                          <a:spcPts val="0"/>
                        </a:spcAft>
                        <a:defRPr sz="900" b="0">
                          <a:solidFill>
                            <a:srgbClr val="283443"/>
                          </a:solidFill>
                          <a:latin typeface="Aptos"/>
                        </a:defRPr>
                      </a:pPr>
                      <a:r>
                        <a:t>3*</a:t>
                      </a:r>
                    </a:p>
                  </a:txBody>
                  <a:tcPr marL="64008" marR="45720" marT="36576" marB="27432" anchor="ctr">
                    <a:solidFill>
                      <a:srgbClr val="F2F6FA"/>
                    </a:solidFill>
                  </a:tcPr>
                </a:tc>
                <a:tc>
                  <a:txBody>
                    <a:bodyPr/>
                    <a:lstStyle/>
                    <a:p>
                      <a:pPr>
                        <a:spcAft>
                          <a:spcPts val="0"/>
                        </a:spcAft>
                        <a:defRPr sz="900" b="0">
                          <a:solidFill>
                            <a:srgbClr val="283443"/>
                          </a:solidFill>
                          <a:latin typeface="Aptos"/>
                        </a:defRPr>
                      </a:pPr>
                      <a:r>
                        <a:t>Both require proof; platform-managed model/tool paths may be hard to mediate.</a:t>
                      </a:r>
                    </a:p>
                  </a:txBody>
                  <a:tcPr marL="64008" marR="45720" marT="36576" marB="27432" anchor="ctr">
                    <a:solidFill>
                      <a:srgbClr val="F2F6FA"/>
                    </a:solidFill>
                  </a:tcPr>
                </a:tc>
              </a:tr>
              <a:tr h="448056">
                <a:tc>
                  <a:txBody>
                    <a:bodyPr/>
                    <a:lstStyle/>
                    <a:p>
                      <a:pPr>
                        <a:spcAft>
                          <a:spcPts val="0"/>
                        </a:spcAft>
                        <a:defRPr sz="900" b="0">
                          <a:solidFill>
                            <a:srgbClr val="283443"/>
                          </a:solidFill>
                          <a:latin typeface="Aptos"/>
                        </a:defRPr>
                      </a:pPr>
                      <a:r>
                        <a:t>Azure data / Databricks</a:t>
                      </a:r>
                    </a:p>
                  </a:txBody>
                  <a:tcPr marL="64008" marR="45720" marT="36576" marB="27432" anchor="ctr">
                    <a:solidFill>
                      <a:srgbClr val="FFFFFF"/>
                    </a:solidFill>
                  </a:tcPr>
                </a:tc>
                <a:tc>
                  <a:txBody>
                    <a:bodyPr/>
                    <a:lstStyle/>
                    <a:p>
                      <a:pPr>
                        <a:spcAft>
                          <a:spcPts val="0"/>
                        </a:spcAft>
                        <a:defRPr sz="900" b="0">
                          <a:solidFill>
                            <a:srgbClr val="283443"/>
                          </a:solidFill>
                          <a:latin typeface="Aptos"/>
                        </a:defRPr>
                      </a:pPr>
                      <a:r>
                        <a:t>15%</a:t>
                      </a:r>
                    </a:p>
                  </a:txBody>
                  <a:tcPr marL="64008" marR="45720" marT="36576" marB="27432" anchor="ctr">
                    <a:solidFill>
                      <a:srgbClr val="FFFFFF"/>
                    </a:solidFill>
                  </a:tcPr>
                </a:tc>
                <a:tc>
                  <a:txBody>
                    <a:bodyPr/>
                    <a:lstStyle/>
                    <a:p>
                      <a:pPr>
                        <a:spcAft>
                          <a:spcPts val="0"/>
                        </a:spcAft>
                        <a:defRPr sz="900" b="0">
                          <a:solidFill>
                            <a:srgbClr val="283443"/>
                          </a:solidFill>
                          <a:latin typeface="Aptos"/>
                        </a:defRPr>
                      </a:pPr>
                      <a:r>
                        <a:t>5</a:t>
                      </a:r>
                    </a:p>
                  </a:txBody>
                  <a:tcPr marL="64008" marR="45720" marT="36576" marB="27432" anchor="ctr">
                    <a:solidFill>
                      <a:srgbClr val="FFFFFF"/>
                    </a:solidFill>
                  </a:tcPr>
                </a:tc>
                <a:tc>
                  <a:txBody>
                    <a:bodyPr/>
                    <a:lstStyle/>
                    <a:p>
                      <a:pPr>
                        <a:spcAft>
                          <a:spcPts val="0"/>
                        </a:spcAft>
                        <a:defRPr sz="900" b="0">
                          <a:solidFill>
                            <a:srgbClr val="283443"/>
                          </a:solidFill>
                          <a:latin typeface="Aptos"/>
                        </a:defRPr>
                      </a:pPr>
                      <a:r>
                        <a:t>3</a:t>
                      </a:r>
                    </a:p>
                  </a:txBody>
                  <a:tcPr marL="64008" marR="45720" marT="36576" marB="27432" anchor="ctr">
                    <a:solidFill>
                      <a:srgbClr val="FFFFFF"/>
                    </a:solidFill>
                  </a:tcPr>
                </a:tc>
                <a:tc>
                  <a:txBody>
                    <a:bodyPr/>
                    <a:lstStyle/>
                    <a:p>
                      <a:pPr>
                        <a:spcAft>
                          <a:spcPts val="0"/>
                        </a:spcAft>
                        <a:defRPr sz="900" b="0">
                          <a:solidFill>
                            <a:srgbClr val="283443"/>
                          </a:solidFill>
                          <a:latin typeface="Aptos"/>
                        </a:defRPr>
                      </a:pPr>
                      <a:r>
                        <a:t>Azure data gravity and network/data-boundary friction.</a:t>
                      </a:r>
                    </a:p>
                  </a:txBody>
                  <a:tcPr marL="64008" marR="45720" marT="36576" marB="27432" anchor="ctr">
                    <a:solidFill>
                      <a:srgbClr val="FFFFFF"/>
                    </a:solidFill>
                  </a:tcPr>
                </a:tc>
              </a:tr>
              <a:tr h="448056">
                <a:tc>
                  <a:txBody>
                    <a:bodyPr/>
                    <a:lstStyle/>
                    <a:p>
                      <a:pPr>
                        <a:spcAft>
                          <a:spcPts val="0"/>
                        </a:spcAft>
                        <a:defRPr sz="900" b="0">
                          <a:solidFill>
                            <a:srgbClr val="283443"/>
                          </a:solidFill>
                          <a:latin typeface="Aptos"/>
                        </a:defRPr>
                      </a:pPr>
                      <a:r>
                        <a:t>Dynatrace / OTel observability</a:t>
                      </a:r>
                    </a:p>
                  </a:txBody>
                  <a:tcPr marL="64008" marR="45720" marT="36576" marB="27432" anchor="ctr">
                    <a:solidFill>
                      <a:srgbClr val="F2F6FA"/>
                    </a:solidFill>
                  </a:tcPr>
                </a:tc>
                <a:tc>
                  <a:txBody>
                    <a:bodyPr/>
                    <a:lstStyle/>
                    <a:p>
                      <a:pPr>
                        <a:spcAft>
                          <a:spcPts val="0"/>
                        </a:spcAft>
                        <a:defRPr sz="900" b="0">
                          <a:solidFill>
                            <a:srgbClr val="283443"/>
                          </a:solidFill>
                          <a:latin typeface="Aptos"/>
                        </a:defRPr>
                      </a:pPr>
                      <a:r>
                        <a:t>10%</a:t>
                      </a:r>
                    </a:p>
                  </a:txBody>
                  <a:tcPr marL="64008" marR="45720" marT="36576" marB="27432" anchor="ctr">
                    <a:solidFill>
                      <a:srgbClr val="F2F6FA"/>
                    </a:solidFill>
                  </a:tcPr>
                </a:tc>
                <a:tc>
                  <a:txBody>
                    <a:bodyPr/>
                    <a:lstStyle/>
                    <a:p>
                      <a:pPr>
                        <a:spcAft>
                          <a:spcPts val="0"/>
                        </a:spcAft>
                        <a:defRPr sz="900" b="0">
                          <a:solidFill>
                            <a:srgbClr val="283443"/>
                          </a:solidFill>
                          <a:latin typeface="Aptos"/>
                        </a:defRPr>
                      </a:pPr>
                      <a:r>
                        <a:t>4</a:t>
                      </a:r>
                    </a:p>
                  </a:txBody>
                  <a:tcPr marL="64008" marR="45720" marT="36576" marB="27432" anchor="ctr">
                    <a:solidFill>
                      <a:srgbClr val="F2F6FA"/>
                    </a:solidFill>
                  </a:tcPr>
                </a:tc>
                <a:tc>
                  <a:txBody>
                    <a:bodyPr/>
                    <a:lstStyle/>
                    <a:p>
                      <a:pPr>
                        <a:spcAft>
                          <a:spcPts val="0"/>
                        </a:spcAft>
                        <a:defRPr sz="900" b="0">
                          <a:solidFill>
                            <a:srgbClr val="283443"/>
                          </a:solidFill>
                          <a:latin typeface="Aptos"/>
                        </a:defRPr>
                      </a:pPr>
                      <a:r>
                        <a:t>4</a:t>
                      </a:r>
                    </a:p>
                  </a:txBody>
                  <a:tcPr marL="64008" marR="45720" marT="36576" marB="27432" anchor="ctr">
                    <a:solidFill>
                      <a:srgbClr val="F2F6FA"/>
                    </a:solidFill>
                  </a:tcPr>
                </a:tc>
                <a:tc>
                  <a:txBody>
                    <a:bodyPr/>
                    <a:lstStyle/>
                    <a:p>
                      <a:pPr>
                        <a:spcAft>
                          <a:spcPts val="0"/>
                        </a:spcAft>
                        <a:defRPr sz="900" b="0">
                          <a:solidFill>
                            <a:srgbClr val="283443"/>
                          </a:solidFill>
                          <a:latin typeface="Aptos"/>
                        </a:defRPr>
                      </a:pPr>
                      <a:r>
                        <a:t>Both have viable telemetry paths; end-to-end trace continuity is the test.</a:t>
                      </a:r>
                    </a:p>
                  </a:txBody>
                  <a:tcPr marL="64008" marR="45720" marT="36576" marB="27432" anchor="ctr">
                    <a:solidFill>
                      <a:srgbClr val="F2F6FA"/>
                    </a:solidFill>
                  </a:tcPr>
                </a:tc>
              </a:tr>
              <a:tr h="448056">
                <a:tc>
                  <a:txBody>
                    <a:bodyPr/>
                    <a:lstStyle/>
                    <a:p>
                      <a:pPr>
                        <a:spcAft>
                          <a:spcPts val="0"/>
                        </a:spcAft>
                        <a:defRPr sz="900" b="0">
                          <a:solidFill>
                            <a:srgbClr val="283443"/>
                          </a:solidFill>
                          <a:latin typeface="Aptos"/>
                        </a:defRPr>
                      </a:pPr>
                      <a:r>
                        <a:t>Developer experience / use cases</a:t>
                      </a:r>
                    </a:p>
                  </a:txBody>
                  <a:tcPr marL="64008" marR="45720" marT="36576" marB="27432" anchor="ctr">
                    <a:solidFill>
                      <a:srgbClr val="FFFFFF"/>
                    </a:solidFill>
                  </a:tcPr>
                </a:tc>
                <a:tc>
                  <a:txBody>
                    <a:bodyPr/>
                    <a:lstStyle/>
                    <a:p>
                      <a:pPr>
                        <a:spcAft>
                          <a:spcPts val="0"/>
                        </a:spcAft>
                        <a:defRPr sz="900" b="0">
                          <a:solidFill>
                            <a:srgbClr val="283443"/>
                          </a:solidFill>
                          <a:latin typeface="Aptos"/>
                        </a:defRPr>
                      </a:pPr>
                      <a:r>
                        <a:t>10%</a:t>
                      </a:r>
                    </a:p>
                  </a:txBody>
                  <a:tcPr marL="64008" marR="45720" marT="36576" marB="27432" anchor="ctr">
                    <a:solidFill>
                      <a:srgbClr val="FFFFFF"/>
                    </a:solidFill>
                  </a:tcPr>
                </a:tc>
                <a:tc>
                  <a:txBody>
                    <a:bodyPr/>
                    <a:lstStyle/>
                    <a:p>
                      <a:pPr>
                        <a:spcAft>
                          <a:spcPts val="0"/>
                        </a:spcAft>
                        <a:defRPr sz="900" b="0">
                          <a:solidFill>
                            <a:srgbClr val="283443"/>
                          </a:solidFill>
                          <a:latin typeface="Aptos"/>
                        </a:defRPr>
                      </a:pPr>
                      <a:r>
                        <a:t>4</a:t>
                      </a:r>
                    </a:p>
                  </a:txBody>
                  <a:tcPr marL="64008" marR="45720" marT="36576" marB="27432" anchor="ctr">
                    <a:solidFill>
                      <a:srgbClr val="FFFFFF"/>
                    </a:solidFill>
                  </a:tcPr>
                </a:tc>
                <a:tc>
                  <a:txBody>
                    <a:bodyPr/>
                    <a:lstStyle/>
                    <a:p>
                      <a:pPr>
                        <a:spcAft>
                          <a:spcPts val="0"/>
                        </a:spcAft>
                        <a:defRPr sz="900" b="0">
                          <a:solidFill>
                            <a:srgbClr val="283443"/>
                          </a:solidFill>
                          <a:latin typeface="Aptos"/>
                        </a:defRPr>
                      </a:pPr>
                      <a:r>
                        <a:t>5</a:t>
                      </a:r>
                    </a:p>
                  </a:txBody>
                  <a:tcPr marL="64008" marR="45720" marT="36576" marB="27432" anchor="ctr">
                    <a:solidFill>
                      <a:srgbClr val="FFFFFF"/>
                    </a:solidFill>
                  </a:tcPr>
                </a:tc>
                <a:tc>
                  <a:txBody>
                    <a:bodyPr/>
                    <a:lstStyle/>
                    <a:p>
                      <a:pPr>
                        <a:spcAft>
                          <a:spcPts val="0"/>
                        </a:spcAft>
                        <a:defRPr sz="900" b="0">
                          <a:solidFill>
                            <a:srgbClr val="283443"/>
                          </a:solidFill>
                          <a:latin typeface="Aptos"/>
                        </a:defRPr>
                      </a:pPr>
                      <a:r>
                        <a:t>Foundry lowers Azure-native friction; AgentCore modularity can suit custom runtimes.</a:t>
                      </a:r>
                    </a:p>
                  </a:txBody>
                  <a:tcPr marL="64008" marR="45720" marT="36576" marB="27432" anchor="ctr">
                    <a:solidFill>
                      <a:srgbClr val="FFFFFF"/>
                    </a:solidFill>
                  </a:tcPr>
                </a:tc>
              </a:tr>
              <a:tr h="448056">
                <a:tc>
                  <a:txBody>
                    <a:bodyPr/>
                    <a:lstStyle/>
                    <a:p>
                      <a:pPr>
                        <a:spcAft>
                          <a:spcPts val="0"/>
                        </a:spcAft>
                        <a:defRPr sz="900" b="0">
                          <a:solidFill>
                            <a:srgbClr val="283443"/>
                          </a:solidFill>
                          <a:latin typeface="Aptos"/>
                        </a:defRPr>
                      </a:pPr>
                      <a:r>
                        <a:t>Security / isolation / guardrails</a:t>
                      </a:r>
                    </a:p>
                  </a:txBody>
                  <a:tcPr marL="64008" marR="45720" marT="36576" marB="27432" anchor="ctr">
                    <a:solidFill>
                      <a:srgbClr val="F2F6FA"/>
                    </a:solidFill>
                  </a:tcPr>
                </a:tc>
                <a:tc>
                  <a:txBody>
                    <a:bodyPr/>
                    <a:lstStyle/>
                    <a:p>
                      <a:pPr>
                        <a:spcAft>
                          <a:spcPts val="0"/>
                        </a:spcAft>
                        <a:defRPr sz="900" b="0">
                          <a:solidFill>
                            <a:srgbClr val="283443"/>
                          </a:solidFill>
                          <a:latin typeface="Aptos"/>
                        </a:defRPr>
                      </a:pPr>
                      <a:r>
                        <a:t>10%</a:t>
                      </a:r>
                    </a:p>
                  </a:txBody>
                  <a:tcPr marL="64008" marR="45720" marT="36576" marB="27432" anchor="ctr">
                    <a:solidFill>
                      <a:srgbClr val="F2F6FA"/>
                    </a:solidFill>
                  </a:tcPr>
                </a:tc>
                <a:tc>
                  <a:txBody>
                    <a:bodyPr/>
                    <a:lstStyle/>
                    <a:p>
                      <a:pPr>
                        <a:spcAft>
                          <a:spcPts val="0"/>
                        </a:spcAft>
                        <a:defRPr sz="900" b="0">
                          <a:solidFill>
                            <a:srgbClr val="283443"/>
                          </a:solidFill>
                          <a:latin typeface="Aptos"/>
                        </a:defRPr>
                      </a:pPr>
                      <a:r>
                        <a:t>4</a:t>
                      </a:r>
                    </a:p>
                  </a:txBody>
                  <a:tcPr marL="64008" marR="45720" marT="36576" marB="27432" anchor="ctr">
                    <a:solidFill>
                      <a:srgbClr val="F2F6FA"/>
                    </a:solidFill>
                  </a:tcPr>
                </a:tc>
                <a:tc>
                  <a:txBody>
                    <a:bodyPr/>
                    <a:lstStyle/>
                    <a:p>
                      <a:pPr>
                        <a:spcAft>
                          <a:spcPts val="0"/>
                        </a:spcAft>
                        <a:defRPr sz="900" b="0">
                          <a:solidFill>
                            <a:srgbClr val="283443"/>
                          </a:solidFill>
                          <a:latin typeface="Aptos"/>
                        </a:defRPr>
                      </a:pPr>
                      <a:r>
                        <a:t>4</a:t>
                      </a:r>
                    </a:p>
                  </a:txBody>
                  <a:tcPr marL="64008" marR="45720" marT="36576" marB="27432" anchor="ctr">
                    <a:solidFill>
                      <a:srgbClr val="F2F6FA"/>
                    </a:solidFill>
                  </a:tcPr>
                </a:tc>
                <a:tc>
                  <a:txBody>
                    <a:bodyPr/>
                    <a:lstStyle/>
                    <a:p>
                      <a:pPr>
                        <a:spcAft>
                          <a:spcPts val="0"/>
                        </a:spcAft>
                        <a:defRPr sz="900" b="0">
                          <a:solidFill>
                            <a:srgbClr val="283443"/>
                          </a:solidFill>
                          <a:latin typeface="Aptos"/>
                        </a:defRPr>
                      </a:pPr>
                      <a:r>
                        <a:t>Different strengths; security depends on implementation and threat testing.</a:t>
                      </a:r>
                    </a:p>
                  </a:txBody>
                  <a:tcPr marL="64008" marR="45720" marT="36576" marB="27432" anchor="ctr">
                    <a:solidFill>
                      <a:srgbClr val="F2F6FA"/>
                    </a:solidFill>
                  </a:tcPr>
                </a:tc>
              </a:tr>
              <a:tr h="448056">
                <a:tc>
                  <a:txBody>
                    <a:bodyPr/>
                    <a:lstStyle/>
                    <a:p>
                      <a:pPr>
                        <a:spcAft>
                          <a:spcPts val="0"/>
                        </a:spcAft>
                        <a:defRPr sz="900" b="0">
                          <a:solidFill>
                            <a:srgbClr val="283443"/>
                          </a:solidFill>
                          <a:latin typeface="Aptos"/>
                        </a:defRPr>
                      </a:pPr>
                      <a:r>
                        <a:t>TCO / operational overhead</a:t>
                      </a:r>
                    </a:p>
                  </a:txBody>
                  <a:tcPr marL="64008" marR="45720" marT="36576" marB="27432" anchor="ctr">
                    <a:solidFill>
                      <a:srgbClr val="FFFFFF"/>
                    </a:solidFill>
                  </a:tcPr>
                </a:tc>
                <a:tc>
                  <a:txBody>
                    <a:bodyPr/>
                    <a:lstStyle/>
                    <a:p>
                      <a:pPr>
                        <a:spcAft>
                          <a:spcPts val="0"/>
                        </a:spcAft>
                        <a:defRPr sz="900" b="0">
                          <a:solidFill>
                            <a:srgbClr val="283443"/>
                          </a:solidFill>
                          <a:latin typeface="Aptos"/>
                        </a:defRPr>
                      </a:pPr>
                      <a:r>
                        <a:t>10%</a:t>
                      </a:r>
                    </a:p>
                  </a:txBody>
                  <a:tcPr marL="64008" marR="45720" marT="36576" marB="27432" anchor="ctr">
                    <a:solidFill>
                      <a:srgbClr val="FFFFFF"/>
                    </a:solidFill>
                  </a:tcPr>
                </a:tc>
                <a:tc>
                  <a:txBody>
                    <a:bodyPr/>
                    <a:lstStyle/>
                    <a:p>
                      <a:pPr>
                        <a:spcAft>
                          <a:spcPts val="0"/>
                        </a:spcAft>
                        <a:defRPr sz="900" b="0">
                          <a:solidFill>
                            <a:srgbClr val="283443"/>
                          </a:solidFill>
                          <a:latin typeface="Aptos"/>
                        </a:defRPr>
                      </a:pPr>
                      <a:r>
                        <a:t>4</a:t>
                      </a:r>
                    </a:p>
                  </a:txBody>
                  <a:tcPr marL="64008" marR="45720" marT="36576" marB="27432" anchor="ctr">
                    <a:solidFill>
                      <a:srgbClr val="FFFFFF"/>
                    </a:solidFill>
                  </a:tcPr>
                </a:tc>
                <a:tc>
                  <a:txBody>
                    <a:bodyPr/>
                    <a:lstStyle/>
                    <a:p>
                      <a:pPr>
                        <a:spcAft>
                          <a:spcPts val="0"/>
                        </a:spcAft>
                        <a:defRPr sz="900" b="0">
                          <a:solidFill>
                            <a:srgbClr val="283443"/>
                          </a:solidFill>
                          <a:latin typeface="Aptos"/>
                        </a:defRPr>
                      </a:pPr>
                      <a:r>
                        <a:t>3</a:t>
                      </a:r>
                    </a:p>
                  </a:txBody>
                  <a:tcPr marL="64008" marR="45720" marT="36576" marB="27432" anchor="ctr">
                    <a:solidFill>
                      <a:srgbClr val="FFFFFF"/>
                    </a:solidFill>
                  </a:tcPr>
                </a:tc>
                <a:tc>
                  <a:txBody>
                    <a:bodyPr/>
                    <a:lstStyle/>
                    <a:p>
                      <a:pPr>
                        <a:spcAft>
                          <a:spcPts val="0"/>
                        </a:spcAft>
                        <a:defRPr sz="900" b="0">
                          <a:solidFill>
                            <a:srgbClr val="283443"/>
                          </a:solidFill>
                          <a:latin typeface="Aptos"/>
                        </a:defRPr>
                      </a:pPr>
                      <a:r>
                        <a:t>Hypothesis only; measure task-based cost and staffing.</a:t>
                      </a:r>
                    </a:p>
                  </a:txBody>
                  <a:tcPr marL="64008" marR="45720" marT="36576" marB="27432" anchor="ctr">
                    <a:solidFill>
                      <a:srgbClr val="FFFFFF"/>
                    </a:solidFill>
                  </a:tcPr>
                </a:tc>
              </a:tr>
              <a:tr h="448056">
                <a:tc>
                  <a:txBody>
                    <a:bodyPr/>
                    <a:lstStyle/>
                    <a:p>
                      <a:pPr>
                        <a:spcAft>
                          <a:spcPts val="0"/>
                        </a:spcAft>
                        <a:defRPr sz="900" b="0">
                          <a:solidFill>
                            <a:srgbClr val="283443"/>
                          </a:solidFill>
                          <a:latin typeface="Aptos"/>
                        </a:defRPr>
                      </a:pPr>
                      <a:r>
                        <a:t>Portability / future-proofing</a:t>
                      </a:r>
                    </a:p>
                  </a:txBody>
                  <a:tcPr marL="64008" marR="45720" marT="36576" marB="27432" anchor="ctr">
                    <a:solidFill>
                      <a:srgbClr val="F2F6FA"/>
                    </a:solidFill>
                  </a:tcPr>
                </a:tc>
                <a:tc>
                  <a:txBody>
                    <a:bodyPr/>
                    <a:lstStyle/>
                    <a:p>
                      <a:pPr>
                        <a:spcAft>
                          <a:spcPts val="0"/>
                        </a:spcAft>
                        <a:defRPr sz="900" b="0">
                          <a:solidFill>
                            <a:srgbClr val="283443"/>
                          </a:solidFill>
                          <a:latin typeface="Aptos"/>
                        </a:defRPr>
                      </a:pPr>
                      <a:r>
                        <a:t>10%</a:t>
                      </a:r>
                    </a:p>
                  </a:txBody>
                  <a:tcPr marL="64008" marR="45720" marT="36576" marB="27432" anchor="ctr">
                    <a:solidFill>
                      <a:srgbClr val="F2F6FA"/>
                    </a:solidFill>
                  </a:tcPr>
                </a:tc>
                <a:tc>
                  <a:txBody>
                    <a:bodyPr/>
                    <a:lstStyle/>
                    <a:p>
                      <a:pPr>
                        <a:spcAft>
                          <a:spcPts val="0"/>
                        </a:spcAft>
                        <a:defRPr sz="900" b="0">
                          <a:solidFill>
                            <a:srgbClr val="283443"/>
                          </a:solidFill>
                          <a:latin typeface="Aptos"/>
                        </a:defRPr>
                      </a:pPr>
                      <a:r>
                        <a:t>4</a:t>
                      </a:r>
                    </a:p>
                  </a:txBody>
                  <a:tcPr marL="64008" marR="45720" marT="36576" marB="27432" anchor="ctr">
                    <a:solidFill>
                      <a:srgbClr val="F2F6FA"/>
                    </a:solidFill>
                  </a:tcPr>
                </a:tc>
                <a:tc>
                  <a:txBody>
                    <a:bodyPr/>
                    <a:lstStyle/>
                    <a:p>
                      <a:pPr>
                        <a:spcAft>
                          <a:spcPts val="0"/>
                        </a:spcAft>
                        <a:defRPr sz="900" b="0">
                          <a:solidFill>
                            <a:srgbClr val="283443"/>
                          </a:solidFill>
                          <a:latin typeface="Aptos"/>
                        </a:defRPr>
                      </a:pPr>
                      <a:r>
                        <a:t>5</a:t>
                      </a:r>
                    </a:p>
                  </a:txBody>
                  <a:tcPr marL="64008" marR="45720" marT="36576" marB="27432" anchor="ctr">
                    <a:solidFill>
                      <a:srgbClr val="F2F6FA"/>
                    </a:solidFill>
                  </a:tcPr>
                </a:tc>
                <a:tc>
                  <a:txBody>
                    <a:bodyPr/>
                    <a:lstStyle/>
                    <a:p>
                      <a:pPr>
                        <a:spcAft>
                          <a:spcPts val="0"/>
                        </a:spcAft>
                        <a:defRPr sz="900" b="0">
                          <a:solidFill>
                            <a:srgbClr val="283443"/>
                          </a:solidFill>
                          <a:latin typeface="Aptos"/>
                        </a:defRPr>
                      </a:pPr>
                      <a:r>
                        <a:t>AgentCore modularity; Foundry broad framework/model support. Both have lock-in.</a:t>
                      </a:r>
                    </a:p>
                  </a:txBody>
                  <a:tcPr marL="64008" marR="45720" marT="36576" marB="27432" anchor="ctr">
                    <a:solidFill>
                      <a:srgbClr val="F2F6FA"/>
                    </a:solidFill>
                  </a:tcPr>
                </a:tc>
              </a:tr>
              <a:tr h="448056">
                <a:tc>
                  <a:txBody>
                    <a:bodyPr/>
                    <a:lstStyle/>
                    <a:p>
                      <a:pPr>
                        <a:spcAft>
                          <a:spcPts val="0"/>
                        </a:spcAft>
                        <a:defRPr sz="900" b="0">
                          <a:solidFill>
                            <a:srgbClr val="283443"/>
                          </a:solidFill>
                          <a:latin typeface="Aptos"/>
                        </a:defRPr>
                      </a:pPr>
                      <a:r>
                        <a:t>Production maturity / governance</a:t>
                      </a:r>
                    </a:p>
                  </a:txBody>
                  <a:tcPr marL="64008" marR="45720" marT="36576" marB="27432" anchor="ctr">
                    <a:solidFill>
                      <a:srgbClr val="FFFFFF"/>
                    </a:solidFill>
                  </a:tcPr>
                </a:tc>
                <a:tc>
                  <a:txBody>
                    <a:bodyPr/>
                    <a:lstStyle/>
                    <a:p>
                      <a:pPr>
                        <a:spcAft>
                          <a:spcPts val="0"/>
                        </a:spcAft>
                        <a:defRPr sz="900" b="0">
                          <a:solidFill>
                            <a:srgbClr val="283443"/>
                          </a:solidFill>
                          <a:latin typeface="Aptos"/>
                        </a:defRPr>
                      </a:pPr>
                      <a:r>
                        <a:t>5%</a:t>
                      </a:r>
                    </a:p>
                  </a:txBody>
                  <a:tcPr marL="64008" marR="45720" marT="36576" marB="27432" anchor="ctr">
                    <a:solidFill>
                      <a:srgbClr val="FFFFFF"/>
                    </a:solidFill>
                  </a:tcPr>
                </a:tc>
                <a:tc>
                  <a:txBody>
                    <a:bodyPr/>
                    <a:lstStyle/>
                    <a:p>
                      <a:pPr>
                        <a:spcAft>
                          <a:spcPts val="0"/>
                        </a:spcAft>
                        <a:defRPr sz="900" b="0">
                          <a:solidFill>
                            <a:srgbClr val="283443"/>
                          </a:solidFill>
                          <a:latin typeface="Aptos"/>
                        </a:defRPr>
                      </a:pPr>
                      <a:r>
                        <a:t>4</a:t>
                      </a:r>
                    </a:p>
                  </a:txBody>
                  <a:tcPr marL="64008" marR="45720" marT="36576" marB="27432" anchor="ctr">
                    <a:solidFill>
                      <a:srgbClr val="FFFFFF"/>
                    </a:solidFill>
                  </a:tcPr>
                </a:tc>
                <a:tc>
                  <a:txBody>
                    <a:bodyPr/>
                    <a:lstStyle/>
                    <a:p>
                      <a:pPr>
                        <a:spcAft>
                          <a:spcPts val="0"/>
                        </a:spcAft>
                        <a:defRPr sz="900" b="0">
                          <a:solidFill>
                            <a:srgbClr val="283443"/>
                          </a:solidFill>
                          <a:latin typeface="Aptos"/>
                        </a:defRPr>
                      </a:pPr>
                      <a:r>
                        <a:t>4</a:t>
                      </a:r>
                    </a:p>
                  </a:txBody>
                  <a:tcPr marL="64008" marR="45720" marT="36576" marB="27432" anchor="ctr">
                    <a:solidFill>
                      <a:srgbClr val="FFFFFF"/>
                    </a:solidFill>
                  </a:tcPr>
                </a:tc>
                <a:tc>
                  <a:txBody>
                    <a:bodyPr/>
                    <a:lstStyle/>
                    <a:p>
                      <a:pPr>
                        <a:spcAft>
                          <a:spcPts val="0"/>
                        </a:spcAft>
                        <a:defRPr sz="900" b="0">
                          <a:solidFill>
                            <a:srgbClr val="283443"/>
                          </a:solidFill>
                          <a:latin typeface="Aptos"/>
                        </a:defRPr>
                      </a:pPr>
                      <a:r>
                        <a:t>Validate region, quotas, SLAs, preview features and release controls.</a:t>
                      </a:r>
                    </a:p>
                  </a:txBody>
                  <a:tcPr marL="64008" marR="45720" marT="36576" marB="27432" anchor="ctr">
                    <a:solidFill>
                      <a:srgbClr val="FFFFFF"/>
                    </a:solidFill>
                  </a:tcPr>
                </a:tc>
              </a:tr>
            </a:tbl>
          </a:graphicData>
        </a:graphic>
      </p:graphicFrame>
      <p:sp>
        <p:nvSpPr>
          <p:cNvPr id="8" name="TextBox 7"/>
          <p:cNvSpPr txBox="1"/>
          <p:nvPr/>
        </p:nvSpPr>
        <p:spPr>
          <a:xfrm>
            <a:off x="713232" y="5925312"/>
            <a:ext cx="10698480" cy="228600"/>
          </a:xfrm>
          <a:prstGeom prst="rect">
            <a:avLst/>
          </a:prstGeom>
          <a:noFill/>
        </p:spPr>
        <p:txBody>
          <a:bodyPr wrap="square" lIns="45720" rIns="45720" anchor="t">
            <a:spAutoFit/>
          </a:bodyPr>
          <a:lstStyle/>
          <a:p>
            <a:pPr>
              <a:spcAft>
                <a:spcPts val="500"/>
              </a:spcAft>
              <a:defRPr sz="1000" b="1">
                <a:solidFill>
                  <a:srgbClr val="A54242"/>
                </a:solidFill>
                <a:latin typeface="Aptos"/>
              </a:defRPr>
            </a:pPr>
            <a:r>
              <a:t>*Kong score is deliberately provisional and can become a hard fail if any model call bypasses Kong. Do not use weighted totals to override a failed mandatory control.</a:t>
            </a:r>
          </a:p>
        </p:txBody>
      </p:sp>
      <p:sp>
        <p:nvSpPr>
          <p:cNvPr id="9" name="TextBox 8"/>
          <p:cNvSpPr txBox="1"/>
          <p:nvPr/>
        </p:nvSpPr>
        <p:spPr>
          <a:xfrm>
            <a:off x="530352" y="6537960"/>
            <a:ext cx="8961120" cy="164592"/>
          </a:xfrm>
          <a:prstGeom prst="rect">
            <a:avLst/>
          </a:prstGeom>
          <a:noFill/>
        </p:spPr>
        <p:txBody>
          <a:bodyPr wrap="square" lIns="45720" rIns="45720" anchor="t">
            <a:spAutoFit/>
          </a:bodyPr>
          <a:lstStyle/>
          <a:p>
            <a:pPr>
              <a:spcAft>
                <a:spcPts val="500"/>
              </a:spcAft>
              <a:defRPr sz="700" b="0">
                <a:solidFill>
                  <a:srgbClr val="5F6C7A"/>
                </a:solidFill>
                <a:latin typeface="Aptos"/>
              </a:defRPr>
            </a:pPr>
            <a:r>
              <a:t>Enterprise architecture decision brief  |  27 Oct 2026  |  Pricing and feature status should be revalidated at procurement</a:t>
            </a:r>
          </a:p>
        </p:txBody>
      </p:sp>
      <p:sp>
        <p:nvSpPr>
          <p:cNvPr id="10" name="TextBox 9"/>
          <p:cNvSpPr txBox="1"/>
          <p:nvPr/>
        </p:nvSpPr>
        <p:spPr>
          <a:xfrm>
            <a:off x="11155680" y="6510528"/>
            <a:ext cx="457200" cy="201168"/>
          </a:xfrm>
          <a:prstGeom prst="rect">
            <a:avLst/>
          </a:prstGeom>
          <a:noFill/>
        </p:spPr>
        <p:txBody>
          <a:bodyPr wrap="square" lIns="45720" rIns="45720" anchor="t">
            <a:spAutoFit/>
          </a:bodyPr>
          <a:lstStyle/>
          <a:p>
            <a:pPr algn="r">
              <a:spcAft>
                <a:spcPts val="500"/>
              </a:spcAft>
              <a:defRPr sz="800" b="0">
                <a:solidFill>
                  <a:srgbClr val="5F6C7A"/>
                </a:solidFill>
                <a:latin typeface="Aptos"/>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438912"/>
          </a:xfrm>
          <a:prstGeom prst="rect">
            <a:avLst/>
          </a:prstGeom>
          <a:noFill/>
        </p:spPr>
        <p:txBody>
          <a:bodyPr wrap="square" lIns="45720" rIns="45720" anchor="t">
            <a:spAutoFit/>
          </a:bodyPr>
          <a:lstStyle/>
          <a:p>
            <a:pPr>
              <a:spcAft>
                <a:spcPts val="500"/>
              </a:spcAft>
              <a:defRPr sz="2600" b="1">
                <a:solidFill>
                  <a:srgbClr val="12233D"/>
                </a:solidFill>
                <a:latin typeface="Aptos"/>
              </a:defRPr>
            </a:pPr>
            <a:r>
              <a:t>Operational overhead and future-proofing</a:t>
            </a:r>
          </a:p>
        </p:txBody>
      </p:sp>
      <p:sp>
        <p:nvSpPr>
          <p:cNvPr id="4" name="TextBox 3"/>
          <p:cNvSpPr txBox="1"/>
          <p:nvPr/>
        </p:nvSpPr>
        <p:spPr>
          <a:xfrm>
            <a:off x="530352" y="749808"/>
            <a:ext cx="10972800" cy="384048"/>
          </a:xfrm>
          <a:prstGeom prst="rect">
            <a:avLst/>
          </a:prstGeom>
          <a:noFill/>
        </p:spPr>
        <p:txBody>
          <a:bodyPr wrap="square" lIns="45720" rIns="45720" anchor="t">
            <a:spAutoFit/>
          </a:bodyPr>
          <a:lstStyle/>
          <a:p>
            <a:pPr>
              <a:spcAft>
                <a:spcPts val="500"/>
              </a:spcAft>
              <a:defRPr sz="1100" b="0">
                <a:solidFill>
                  <a:srgbClr val="5F6C7A"/>
                </a:solidFill>
                <a:latin typeface="Aptos"/>
              </a:defRPr>
            </a:pPr>
            <a:r>
              <a:t>Reduce lock-in through enterprise abstractions, not by pretending the platforms are identical</a:t>
            </a:r>
          </a:p>
        </p:txBody>
      </p:sp>
      <p:sp>
        <p:nvSpPr>
          <p:cNvPr id="5" name="Rectangle 4"/>
          <p:cNvSpPr/>
          <p:nvPr/>
        </p:nvSpPr>
        <p:spPr>
          <a:xfrm>
            <a:off x="530352" y="1170432"/>
            <a:ext cx="11064240" cy="22860"/>
          </a:xfrm>
          <a:prstGeom prst="rect">
            <a:avLst/>
          </a:prstGeom>
          <a:solidFill>
            <a:srgbClr val="0082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66960" y="91440"/>
            <a:ext cx="1554480" cy="201168"/>
          </a:xfrm>
          <a:prstGeom prst="rect">
            <a:avLst/>
          </a:prstGeom>
          <a:noFill/>
        </p:spPr>
        <p:txBody>
          <a:bodyPr wrap="square" lIns="45720" rIns="45720" anchor="t">
            <a:spAutoFit/>
          </a:bodyPr>
          <a:lstStyle/>
          <a:p>
            <a:pPr algn="r">
              <a:spcAft>
                <a:spcPts val="500"/>
              </a:spcAft>
              <a:defRPr sz="800" b="1">
                <a:solidFill>
                  <a:srgbClr val="008284"/>
                </a:solidFill>
                <a:latin typeface="Aptos"/>
              </a:defRPr>
            </a:pPr>
            <a:r>
              <a:t>OPERATING MODEL</a:t>
            </a:r>
          </a:p>
        </p:txBody>
      </p:sp>
      <p:sp>
        <p:nvSpPr>
          <p:cNvPr id="7" name="Rounded Rectangle 6"/>
          <p:cNvSpPr/>
          <p:nvPr/>
        </p:nvSpPr>
        <p:spPr>
          <a:xfrm>
            <a:off x="594360" y="1417320"/>
            <a:ext cx="5349240" cy="1965960"/>
          </a:xfrm>
          <a:prstGeom prst="roundRect">
            <a:avLst/>
          </a:prstGeom>
          <a:solidFill>
            <a:srgbClr val="F2F6FA"/>
          </a:solidFill>
          <a:ln>
            <a:solidFill>
              <a:srgbClr val="DB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417320"/>
            <a:ext cx="64008" cy="1965960"/>
          </a:xfrm>
          <a:prstGeom prst="rect">
            <a:avLst/>
          </a:prstGeom>
          <a:solidFill>
            <a:srgbClr val="0082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527048"/>
            <a:ext cx="5074920" cy="320040"/>
          </a:xfrm>
          <a:prstGeom prst="rect">
            <a:avLst/>
          </a:prstGeom>
          <a:noFill/>
        </p:spPr>
        <p:txBody>
          <a:bodyPr wrap="square" lIns="45720" rIns="45720" anchor="t">
            <a:spAutoFit/>
          </a:bodyPr>
          <a:lstStyle/>
          <a:p>
            <a:pPr>
              <a:spcAft>
                <a:spcPts val="500"/>
              </a:spcAft>
              <a:defRPr sz="1500" b="1">
                <a:solidFill>
                  <a:srgbClr val="12233D"/>
                </a:solidFill>
                <a:latin typeface="Aptos"/>
              </a:defRPr>
            </a:pPr>
            <a:r>
              <a:t>Foundry: likely lower friction when…</a:t>
            </a:r>
          </a:p>
        </p:txBody>
      </p:sp>
      <p:sp>
        <p:nvSpPr>
          <p:cNvPr id="10" name="TextBox 9"/>
          <p:cNvSpPr txBox="1"/>
          <p:nvPr/>
        </p:nvSpPr>
        <p:spPr>
          <a:xfrm>
            <a:off x="758952" y="1892808"/>
            <a:ext cx="5074920" cy="1399031"/>
          </a:xfrm>
          <a:prstGeom prst="rect">
            <a:avLst/>
          </a:prstGeom>
          <a:noFill/>
        </p:spPr>
        <p:txBody>
          <a:bodyPr wrap="square" lIns="45720" rIns="45720" anchor="t">
            <a:spAutoFit/>
          </a:bodyPr>
          <a:lstStyle/>
          <a:p>
            <a:pPr>
              <a:spcAft>
                <a:spcPts val="500"/>
              </a:spcAft>
              <a:defRPr sz="1200" b="0">
                <a:solidFill>
                  <a:srgbClr val="283443"/>
                </a:solidFill>
                <a:latin typeface="Aptos"/>
              </a:defRPr>
            </a:pPr>
            <a:r>
              <a:t>• Azure network, identity and data services are the dominant path</a:t>
            </a:r>
          </a:p>
          <a:p>
            <a:pPr>
              <a:spcAft>
                <a:spcPts val="500"/>
              </a:spcAft>
              <a:defRPr sz="1200" b="0">
                <a:solidFill>
                  <a:srgbClr val="283443"/>
                </a:solidFill>
                <a:latin typeface="Aptos"/>
              </a:defRPr>
            </a:pPr>
            <a:r>
              <a:t>• Teams want prompt-first and hosted-code options</a:t>
            </a:r>
          </a:p>
          <a:p>
            <a:pPr>
              <a:spcAft>
                <a:spcPts val="500"/>
              </a:spcAft>
              <a:defRPr sz="1200" b="0">
                <a:solidFill>
                  <a:srgbClr val="283443"/>
                </a:solidFill>
                <a:latin typeface="Aptos"/>
              </a:defRPr>
            </a:pPr>
            <a:r>
              <a:t>• Entra identity and Azure governance should be native</a:t>
            </a:r>
          </a:p>
          <a:p>
            <a:pPr>
              <a:spcAft>
                <a:spcPts val="500"/>
              </a:spcAft>
              <a:defRPr sz="1200" b="0">
                <a:solidFill>
                  <a:srgbClr val="283443"/>
                </a:solidFill>
                <a:latin typeface="Aptos"/>
              </a:defRPr>
            </a:pPr>
            <a:r>
              <a:t>• Teams benefit from a managed lifecycle and publishing surface</a:t>
            </a:r>
          </a:p>
        </p:txBody>
      </p:sp>
      <p:sp>
        <p:nvSpPr>
          <p:cNvPr id="11" name="Rounded Rectangle 10"/>
          <p:cNvSpPr/>
          <p:nvPr/>
        </p:nvSpPr>
        <p:spPr>
          <a:xfrm>
            <a:off x="6172200" y="1417320"/>
            <a:ext cx="5349240" cy="1965960"/>
          </a:xfrm>
          <a:prstGeom prst="roundRect">
            <a:avLst/>
          </a:prstGeom>
          <a:solidFill>
            <a:srgbClr val="F2F6FA"/>
          </a:solidFill>
          <a:ln>
            <a:solidFill>
              <a:srgbClr val="DB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417320"/>
            <a:ext cx="64008" cy="1965960"/>
          </a:xfrm>
          <a:prstGeom prst="rect">
            <a:avLst/>
          </a:prstGeom>
          <a:solidFill>
            <a:srgbClr val="2563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36792" y="1527048"/>
            <a:ext cx="5074920" cy="320040"/>
          </a:xfrm>
          <a:prstGeom prst="rect">
            <a:avLst/>
          </a:prstGeom>
          <a:noFill/>
        </p:spPr>
        <p:txBody>
          <a:bodyPr wrap="square" lIns="45720" rIns="45720" anchor="t">
            <a:spAutoFit/>
          </a:bodyPr>
          <a:lstStyle/>
          <a:p>
            <a:pPr>
              <a:spcAft>
                <a:spcPts val="500"/>
              </a:spcAft>
              <a:defRPr sz="1500" b="1">
                <a:solidFill>
                  <a:srgbClr val="12233D"/>
                </a:solidFill>
                <a:latin typeface="Aptos"/>
              </a:defRPr>
            </a:pPr>
            <a:r>
              <a:t>AgentCore: likely stronger when…</a:t>
            </a:r>
          </a:p>
        </p:txBody>
      </p:sp>
      <p:sp>
        <p:nvSpPr>
          <p:cNvPr id="14" name="TextBox 13"/>
          <p:cNvSpPr txBox="1"/>
          <p:nvPr/>
        </p:nvSpPr>
        <p:spPr>
          <a:xfrm>
            <a:off x="6336792" y="1892808"/>
            <a:ext cx="5074920" cy="1399031"/>
          </a:xfrm>
          <a:prstGeom prst="rect">
            <a:avLst/>
          </a:prstGeom>
          <a:noFill/>
        </p:spPr>
        <p:txBody>
          <a:bodyPr wrap="square" lIns="45720" rIns="45720" anchor="t">
            <a:spAutoFit/>
          </a:bodyPr>
          <a:lstStyle/>
          <a:p>
            <a:pPr>
              <a:spcAft>
                <a:spcPts val="500"/>
              </a:spcAft>
              <a:defRPr sz="1200" b="0">
                <a:solidFill>
                  <a:srgbClr val="283443"/>
                </a:solidFill>
                <a:latin typeface="Aptos"/>
              </a:defRPr>
            </a:pPr>
            <a:r>
              <a:t>• Agents need modular runtime capabilities across frameworks</a:t>
            </a:r>
          </a:p>
          <a:p>
            <a:pPr>
              <a:spcAft>
                <a:spcPts val="500"/>
              </a:spcAft>
              <a:defRPr sz="1200" b="0">
                <a:solidFill>
                  <a:srgbClr val="283443"/>
                </a:solidFill>
                <a:latin typeface="Aptos"/>
              </a:defRPr>
            </a:pPr>
            <a:r>
              <a:t>• Browser/code sandboxing and memory are central requirements</a:t>
            </a:r>
          </a:p>
          <a:p>
            <a:pPr>
              <a:spcAft>
                <a:spcPts val="500"/>
              </a:spcAft>
              <a:defRPr sz="1200" b="0">
                <a:solidFill>
                  <a:srgbClr val="283443"/>
                </a:solidFill>
                <a:latin typeface="Aptos"/>
              </a:defRPr>
            </a:pPr>
            <a:r>
              <a:t>• Workloads are AWS-native or need explicit service-by-service choice</a:t>
            </a:r>
          </a:p>
          <a:p>
            <a:pPr>
              <a:spcAft>
                <a:spcPts val="500"/>
              </a:spcAft>
              <a:defRPr sz="1200" b="0">
                <a:solidFill>
                  <a:srgbClr val="283443"/>
                </a:solidFill>
                <a:latin typeface="Aptos"/>
              </a:defRPr>
            </a:pPr>
            <a:r>
              <a:t>• Team accepts more integration and cloud-operations design</a:t>
            </a:r>
          </a:p>
        </p:txBody>
      </p:sp>
      <p:sp>
        <p:nvSpPr>
          <p:cNvPr id="15" name="TextBox 14"/>
          <p:cNvSpPr txBox="1"/>
          <p:nvPr/>
        </p:nvSpPr>
        <p:spPr>
          <a:xfrm>
            <a:off x="685800" y="3703320"/>
            <a:ext cx="10789920" cy="320040"/>
          </a:xfrm>
          <a:prstGeom prst="rect">
            <a:avLst/>
          </a:prstGeom>
          <a:noFill/>
        </p:spPr>
        <p:txBody>
          <a:bodyPr wrap="square" lIns="45720" rIns="45720" anchor="t">
            <a:spAutoFit/>
          </a:bodyPr>
          <a:lstStyle/>
          <a:p>
            <a:pPr>
              <a:spcAft>
                <a:spcPts val="500"/>
              </a:spcAft>
              <a:defRPr sz="1700" b="1">
                <a:solidFill>
                  <a:srgbClr val="12233D"/>
                </a:solidFill>
                <a:latin typeface="Aptos"/>
              </a:defRPr>
            </a:pPr>
            <a:r>
              <a:t>Enterprise portability controls</a:t>
            </a:r>
          </a:p>
        </p:txBody>
      </p:sp>
      <p:sp>
        <p:nvSpPr>
          <p:cNvPr id="16" name="TextBox 15"/>
          <p:cNvSpPr txBox="1"/>
          <p:nvPr/>
        </p:nvSpPr>
        <p:spPr>
          <a:xfrm>
            <a:off x="713232" y="4069080"/>
            <a:ext cx="10698480" cy="1600200"/>
          </a:xfrm>
          <a:prstGeom prst="rect">
            <a:avLst/>
          </a:prstGeom>
          <a:noFill/>
        </p:spPr>
        <p:txBody>
          <a:bodyPr wrap="square" lIns="73152" rIns="73152" tIns="36576" bIns="36576">
            <a:spAutoFit/>
          </a:bodyPr>
          <a:lstStyle/>
          <a:p>
            <a:pPr>
              <a:spcAft>
                <a:spcPts val="400"/>
              </a:spcAft>
              <a:defRPr sz="1300">
                <a:solidFill>
                  <a:srgbClr val="283443"/>
                </a:solidFill>
                <a:latin typeface="Aptos"/>
              </a:defRPr>
            </a:pPr>
            <a:r>
              <a:t>•  Standardize a framework-neutral agent contract, OpenTelemetry conventions, MCP/API tool schemas, identity claims and evaluation datasets.</a:t>
            </a:r>
          </a:p>
          <a:p>
            <a:pPr>
              <a:spcAft>
                <a:spcPts val="400"/>
              </a:spcAft>
              <a:defRPr sz="1300">
                <a:solidFill>
                  <a:srgbClr val="283443"/>
                </a:solidFill>
                <a:latin typeface="Aptos"/>
              </a:defRPr>
            </a:pPr>
            <a:r>
              <a:t>•  Keep business tools in enterprise-owned APIs/MCP servers; keep policy and data authorization outside prompts.</a:t>
            </a:r>
          </a:p>
          <a:p>
            <a:pPr>
              <a:spcAft>
                <a:spcPts val="400"/>
              </a:spcAft>
              <a:defRPr sz="1300">
                <a:solidFill>
                  <a:srgbClr val="283443"/>
                </a:solidFill>
                <a:latin typeface="Aptos"/>
              </a:defRPr>
            </a:pPr>
            <a:r>
              <a:t>•  Store prompts, tool definitions, evaluation sets and deployment configuration in source control; use CI/CD and versioned releases.</a:t>
            </a:r>
          </a:p>
          <a:p>
            <a:pPr>
              <a:spcAft>
                <a:spcPts val="400"/>
              </a:spcAft>
              <a:defRPr sz="1300">
                <a:solidFill>
                  <a:srgbClr val="283443"/>
                </a:solidFill>
                <a:latin typeface="Aptos"/>
              </a:defRPr>
            </a:pPr>
            <a:r>
              <a:t>•  Maintain a model/provider abstraction behind Kong and a migration runbook; measure the cost of replacing platform-specific memory, tools and publishing.</a:t>
            </a:r>
          </a:p>
        </p:txBody>
      </p:sp>
      <p:sp>
        <p:nvSpPr>
          <p:cNvPr id="17" name="TextBox 16"/>
          <p:cNvSpPr txBox="1"/>
          <p:nvPr/>
        </p:nvSpPr>
        <p:spPr>
          <a:xfrm>
            <a:off x="530352" y="6537960"/>
            <a:ext cx="8961120" cy="164592"/>
          </a:xfrm>
          <a:prstGeom prst="rect">
            <a:avLst/>
          </a:prstGeom>
          <a:noFill/>
        </p:spPr>
        <p:txBody>
          <a:bodyPr wrap="square" lIns="45720" rIns="45720" anchor="t">
            <a:spAutoFit/>
          </a:bodyPr>
          <a:lstStyle/>
          <a:p>
            <a:pPr>
              <a:spcAft>
                <a:spcPts val="500"/>
              </a:spcAft>
              <a:defRPr sz="700" b="0">
                <a:solidFill>
                  <a:srgbClr val="5F6C7A"/>
                </a:solidFill>
                <a:latin typeface="Aptos"/>
              </a:defRPr>
            </a:pPr>
            <a:r>
              <a:t>Enterprise architecture decision brief  |  27 Oct 2026  |  Pricing and feature status should be revalidated at procurement</a:t>
            </a:r>
          </a:p>
        </p:txBody>
      </p:sp>
      <p:sp>
        <p:nvSpPr>
          <p:cNvPr id="18" name="TextBox 17"/>
          <p:cNvSpPr txBox="1"/>
          <p:nvPr/>
        </p:nvSpPr>
        <p:spPr>
          <a:xfrm>
            <a:off x="11155680" y="6510528"/>
            <a:ext cx="457200" cy="201168"/>
          </a:xfrm>
          <a:prstGeom prst="rect">
            <a:avLst/>
          </a:prstGeom>
          <a:noFill/>
        </p:spPr>
        <p:txBody>
          <a:bodyPr wrap="square" lIns="45720" rIns="45720" anchor="t">
            <a:spAutoFit/>
          </a:bodyPr>
          <a:lstStyle/>
          <a:p>
            <a:pPr algn="r">
              <a:spcAft>
                <a:spcPts val="500"/>
              </a:spcAft>
              <a:defRPr sz="800" b="0">
                <a:solidFill>
                  <a:srgbClr val="5F6C7A"/>
                </a:solidFill>
                <a:latin typeface="Aptos"/>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438912"/>
          </a:xfrm>
          <a:prstGeom prst="rect">
            <a:avLst/>
          </a:prstGeom>
          <a:noFill/>
        </p:spPr>
        <p:txBody>
          <a:bodyPr wrap="square" lIns="45720" rIns="45720" anchor="t">
            <a:spAutoFit/>
          </a:bodyPr>
          <a:lstStyle/>
          <a:p>
            <a:pPr>
              <a:spcAft>
                <a:spcPts val="500"/>
              </a:spcAft>
              <a:defRPr sz="2600" b="1">
                <a:solidFill>
                  <a:srgbClr val="12233D"/>
                </a:solidFill>
                <a:latin typeface="Aptos"/>
              </a:defRPr>
            </a:pPr>
            <a:r>
              <a:t>Proof of value: four-week decision path</a:t>
            </a:r>
          </a:p>
        </p:txBody>
      </p:sp>
      <p:sp>
        <p:nvSpPr>
          <p:cNvPr id="4" name="TextBox 3"/>
          <p:cNvSpPr txBox="1"/>
          <p:nvPr/>
        </p:nvSpPr>
        <p:spPr>
          <a:xfrm>
            <a:off x="530352" y="749808"/>
            <a:ext cx="10972800" cy="384048"/>
          </a:xfrm>
          <a:prstGeom prst="rect">
            <a:avLst/>
          </a:prstGeom>
          <a:noFill/>
        </p:spPr>
        <p:txBody>
          <a:bodyPr wrap="square" lIns="45720" rIns="45720" anchor="t">
            <a:spAutoFit/>
          </a:bodyPr>
          <a:lstStyle/>
          <a:p>
            <a:pPr>
              <a:spcAft>
                <a:spcPts val="500"/>
              </a:spcAft>
              <a:defRPr sz="1100" b="0">
                <a:solidFill>
                  <a:srgbClr val="5F6C7A"/>
                </a:solidFill>
                <a:latin typeface="Aptos"/>
              </a:defRPr>
            </a:pPr>
            <a:r>
              <a:t>Run the same representative workloads on both platforms; use hard gates before scoring</a:t>
            </a:r>
          </a:p>
        </p:txBody>
      </p:sp>
      <p:sp>
        <p:nvSpPr>
          <p:cNvPr id="5" name="Rectangle 4"/>
          <p:cNvSpPr/>
          <p:nvPr/>
        </p:nvSpPr>
        <p:spPr>
          <a:xfrm>
            <a:off x="530352" y="1170432"/>
            <a:ext cx="11064240" cy="22860"/>
          </a:xfrm>
          <a:prstGeom prst="rect">
            <a:avLst/>
          </a:prstGeom>
          <a:solidFill>
            <a:srgbClr val="0082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66960" y="91440"/>
            <a:ext cx="1554480" cy="201168"/>
          </a:xfrm>
          <a:prstGeom prst="rect">
            <a:avLst/>
          </a:prstGeom>
          <a:noFill/>
        </p:spPr>
        <p:txBody>
          <a:bodyPr wrap="square" lIns="45720" rIns="45720" anchor="t">
            <a:spAutoFit/>
          </a:bodyPr>
          <a:lstStyle/>
          <a:p>
            <a:pPr algn="r">
              <a:spcAft>
                <a:spcPts val="500"/>
              </a:spcAft>
              <a:defRPr sz="800" b="1">
                <a:solidFill>
                  <a:srgbClr val="008284"/>
                </a:solidFill>
                <a:latin typeface="Aptos"/>
              </a:defRPr>
            </a:pPr>
            <a:r>
              <a:t>PLAN</a:t>
            </a:r>
          </a:p>
        </p:txBody>
      </p:sp>
      <p:graphicFrame>
        <p:nvGraphicFramePr>
          <p:cNvPr id="7" name="Table 6"/>
          <p:cNvGraphicFramePr>
            <a:graphicFrameLocks noGrp="1"/>
          </p:cNvGraphicFramePr>
          <p:nvPr/>
        </p:nvGraphicFramePr>
        <p:xfrm>
          <a:off x="594360" y="1371600"/>
          <a:ext cx="10972800" cy="4434840"/>
        </p:xfrm>
        <a:graphic>
          <a:graphicData uri="http://schemas.openxmlformats.org/drawingml/2006/table">
            <a:tbl>
              <a:tblPr firstRow="1" bandRow="1">
                <a:tableStyleId>{5C22544A-7EE6-4342-B048-85BDC9FD1C3A}</a:tableStyleId>
              </a:tblPr>
              <a:tblGrid>
                <a:gridCol w="1417320"/>
                <a:gridCol w="4754880"/>
                <a:gridCol w="4800600"/>
              </a:tblGrid>
              <a:tr h="886968">
                <a:tc>
                  <a:txBody>
                    <a:bodyPr/>
                    <a:lstStyle/>
                    <a:p>
                      <a:pPr>
                        <a:spcAft>
                          <a:spcPts val="0"/>
                        </a:spcAft>
                        <a:defRPr sz="1000" b="1">
                          <a:solidFill>
                            <a:srgbClr val="FFFFFF"/>
                          </a:solidFill>
                          <a:latin typeface="Aptos"/>
                        </a:defRPr>
                      </a:pPr>
                      <a:r>
                        <a:t>Week</a:t>
                      </a:r>
                    </a:p>
                  </a:txBody>
                  <a:tcPr marL="64008" marR="45720" marT="36576" marB="27432" anchor="ctr">
                    <a:solidFill>
                      <a:srgbClr val="12233D"/>
                    </a:solidFill>
                  </a:tcPr>
                </a:tc>
                <a:tc>
                  <a:txBody>
                    <a:bodyPr/>
                    <a:lstStyle/>
                    <a:p>
                      <a:pPr>
                        <a:spcAft>
                          <a:spcPts val="0"/>
                        </a:spcAft>
                        <a:defRPr sz="1000" b="1">
                          <a:solidFill>
                            <a:srgbClr val="FFFFFF"/>
                          </a:solidFill>
                          <a:latin typeface="Aptos"/>
                        </a:defRPr>
                      </a:pPr>
                      <a:r>
                        <a:t>Work</a:t>
                      </a:r>
                    </a:p>
                  </a:txBody>
                  <a:tcPr marL="64008" marR="45720" marT="36576" marB="27432" anchor="ctr">
                    <a:solidFill>
                      <a:srgbClr val="12233D"/>
                    </a:solidFill>
                  </a:tcPr>
                </a:tc>
                <a:tc>
                  <a:txBody>
                    <a:bodyPr/>
                    <a:lstStyle/>
                    <a:p>
                      <a:pPr>
                        <a:spcAft>
                          <a:spcPts val="0"/>
                        </a:spcAft>
                        <a:defRPr sz="1000" b="1">
                          <a:solidFill>
                            <a:srgbClr val="FFFFFF"/>
                          </a:solidFill>
                          <a:latin typeface="Aptos"/>
                        </a:defRPr>
                      </a:pPr>
                      <a:r>
                        <a:t>Exit evidence</a:t>
                      </a:r>
                    </a:p>
                  </a:txBody>
                  <a:tcPr marL="64008" marR="45720" marT="36576" marB="27432" anchor="ctr">
                    <a:solidFill>
                      <a:srgbClr val="12233D"/>
                    </a:solidFill>
                  </a:tcPr>
                </a:tc>
              </a:tr>
              <a:tr h="886968">
                <a:tc>
                  <a:txBody>
                    <a:bodyPr/>
                    <a:lstStyle/>
                    <a:p>
                      <a:pPr>
                        <a:spcAft>
                          <a:spcPts val="0"/>
                        </a:spcAft>
                        <a:defRPr sz="1000" b="0">
                          <a:solidFill>
                            <a:srgbClr val="283443"/>
                          </a:solidFill>
                          <a:latin typeface="Aptos"/>
                        </a:defRPr>
                      </a:pPr>
                      <a:r>
                        <a:t>1 — Design</a:t>
                      </a:r>
                    </a:p>
                  </a:txBody>
                  <a:tcPr marL="64008" marR="45720" marT="36576" marB="27432" anchor="ctr">
                    <a:solidFill>
                      <a:srgbClr val="FFFFFF"/>
                    </a:solidFill>
                  </a:tcPr>
                </a:tc>
                <a:tc>
                  <a:txBody>
                    <a:bodyPr/>
                    <a:lstStyle/>
                    <a:p>
                      <a:pPr>
                        <a:spcAft>
                          <a:spcPts val="0"/>
                        </a:spcAft>
                        <a:defRPr sz="1000" b="0">
                          <a:solidFill>
                            <a:srgbClr val="283443"/>
                          </a:solidFill>
                          <a:latin typeface="Aptos"/>
                        </a:defRPr>
                      </a:pPr>
                      <a:r>
                        <a:t>Select 3–4 representative agents; define threat model, token/tool patterns, traffic profile, cost worksheet and trace schema.</a:t>
                      </a:r>
                    </a:p>
                  </a:txBody>
                  <a:tcPr marL="64008" marR="45720" marT="36576" marB="27432" anchor="ctr">
                    <a:solidFill>
                      <a:srgbClr val="FFFFFF"/>
                    </a:solidFill>
                  </a:tcPr>
                </a:tc>
                <a:tc>
                  <a:txBody>
                    <a:bodyPr/>
                    <a:lstStyle/>
                    <a:p>
                      <a:pPr>
                        <a:spcAft>
                          <a:spcPts val="0"/>
                        </a:spcAft>
                        <a:defRPr sz="1000" b="0">
                          <a:solidFill>
                            <a:srgbClr val="283443"/>
                          </a:solidFill>
                          <a:latin typeface="Aptos"/>
                        </a:defRPr>
                      </a:pPr>
                      <a:r>
                        <a:t>Signed acceptance criteria, test data, workload baseline and architecture diagrams.</a:t>
                      </a:r>
                    </a:p>
                  </a:txBody>
                  <a:tcPr marL="64008" marR="45720" marT="36576" marB="27432" anchor="ctr">
                    <a:solidFill>
                      <a:srgbClr val="FFFFFF"/>
                    </a:solidFill>
                  </a:tcPr>
                </a:tc>
              </a:tr>
              <a:tr h="886968">
                <a:tc>
                  <a:txBody>
                    <a:bodyPr/>
                    <a:lstStyle/>
                    <a:p>
                      <a:pPr>
                        <a:spcAft>
                          <a:spcPts val="0"/>
                        </a:spcAft>
                        <a:defRPr sz="1000" b="0">
                          <a:solidFill>
                            <a:srgbClr val="283443"/>
                          </a:solidFill>
                          <a:latin typeface="Aptos"/>
                        </a:defRPr>
                      </a:pPr>
                      <a:r>
                        <a:t>2 — Build</a:t>
                      </a:r>
                    </a:p>
                  </a:txBody>
                  <a:tcPr marL="64008" marR="45720" marT="36576" marB="27432" anchor="ctr">
                    <a:solidFill>
                      <a:srgbClr val="F2F6FA"/>
                    </a:solidFill>
                  </a:tcPr>
                </a:tc>
                <a:tc>
                  <a:txBody>
                    <a:bodyPr/>
                    <a:lstStyle/>
                    <a:p>
                      <a:pPr>
                        <a:spcAft>
                          <a:spcPts val="0"/>
                        </a:spcAft>
                        <a:defRPr sz="1000" b="0">
                          <a:solidFill>
                            <a:srgbClr val="283443"/>
                          </a:solidFill>
                          <a:latin typeface="Aptos"/>
                        </a:defRPr>
                      </a:pPr>
                      <a:r>
                        <a:t>Implement one prompt-based workflow, one code-first/multi-step agent, one Databricks retrieval/query use case, and one sandbox/tool-use case where relevant.</a:t>
                      </a:r>
                    </a:p>
                  </a:txBody>
                  <a:tcPr marL="64008" marR="45720" marT="36576" marB="27432" anchor="ctr">
                    <a:solidFill>
                      <a:srgbClr val="F2F6FA"/>
                    </a:solidFill>
                  </a:tcPr>
                </a:tc>
                <a:tc>
                  <a:txBody>
                    <a:bodyPr/>
                    <a:lstStyle/>
                    <a:p>
                      <a:pPr>
                        <a:spcAft>
                          <a:spcPts val="0"/>
                        </a:spcAft>
                        <a:defRPr sz="1000" b="0">
                          <a:solidFill>
                            <a:srgbClr val="283443"/>
                          </a:solidFill>
                          <a:latin typeface="Aptos"/>
                        </a:defRPr>
                      </a:pPr>
                      <a:r>
                        <a:t>Repeatable IaC/CI-CD deployment; Entra, Kong and Dynatrace integrations wired.</a:t>
                      </a:r>
                    </a:p>
                  </a:txBody>
                  <a:tcPr marL="64008" marR="45720" marT="36576" marB="27432" anchor="ctr">
                    <a:solidFill>
                      <a:srgbClr val="F2F6FA"/>
                    </a:solidFill>
                  </a:tcPr>
                </a:tc>
              </a:tr>
              <a:tr h="886968">
                <a:tc>
                  <a:txBody>
                    <a:bodyPr/>
                    <a:lstStyle/>
                    <a:p>
                      <a:pPr>
                        <a:spcAft>
                          <a:spcPts val="0"/>
                        </a:spcAft>
                        <a:defRPr sz="1000" b="0">
                          <a:solidFill>
                            <a:srgbClr val="283443"/>
                          </a:solidFill>
                          <a:latin typeface="Aptos"/>
                        </a:defRPr>
                      </a:pPr>
                      <a:r>
                        <a:t>3 — Test</a:t>
                      </a:r>
                    </a:p>
                  </a:txBody>
                  <a:tcPr marL="64008" marR="45720" marT="36576" marB="27432" anchor="ctr">
                    <a:solidFill>
                      <a:srgbClr val="FFFFFF"/>
                    </a:solidFill>
                  </a:tcPr>
                </a:tc>
                <a:tc>
                  <a:txBody>
                    <a:bodyPr/>
                    <a:lstStyle/>
                    <a:p>
                      <a:pPr>
                        <a:spcAft>
                          <a:spcPts val="0"/>
                        </a:spcAft>
                        <a:defRPr sz="1000" b="0">
                          <a:solidFill>
                            <a:srgbClr val="283443"/>
                          </a:solidFill>
                          <a:latin typeface="Aptos"/>
                        </a:defRPr>
                      </a:pPr>
                      <a:r>
                        <a:t>Run functional, load, failure, safety, authorization, gateway-bypass, trace continuity and data-exfiltration tests.</a:t>
                      </a:r>
                    </a:p>
                  </a:txBody>
                  <a:tcPr marL="64008" marR="45720" marT="36576" marB="27432" anchor="ctr">
                    <a:solidFill>
                      <a:srgbClr val="FFFFFF"/>
                    </a:solidFill>
                  </a:tcPr>
                </a:tc>
                <a:tc>
                  <a:txBody>
                    <a:bodyPr/>
                    <a:lstStyle/>
                    <a:p>
                      <a:pPr>
                        <a:spcAft>
                          <a:spcPts val="0"/>
                        </a:spcAft>
                        <a:defRPr sz="1000" b="0">
                          <a:solidFill>
                            <a:srgbClr val="283443"/>
                          </a:solidFill>
                          <a:latin typeface="Aptos"/>
                        </a:defRPr>
                      </a:pPr>
                      <a:r>
                        <a:t>Test results, failure modes, p50/p95 latency, task success, tokens, costs and operator effort.</a:t>
                      </a:r>
                    </a:p>
                  </a:txBody>
                  <a:tcPr marL="64008" marR="45720" marT="36576" marB="27432" anchor="ctr">
                    <a:solidFill>
                      <a:srgbClr val="FFFFFF"/>
                    </a:solidFill>
                  </a:tcPr>
                </a:tc>
              </a:tr>
              <a:tr h="886968">
                <a:tc>
                  <a:txBody>
                    <a:bodyPr/>
                    <a:lstStyle/>
                    <a:p>
                      <a:pPr>
                        <a:spcAft>
                          <a:spcPts val="0"/>
                        </a:spcAft>
                        <a:defRPr sz="1000" b="0">
                          <a:solidFill>
                            <a:srgbClr val="283443"/>
                          </a:solidFill>
                          <a:latin typeface="Aptos"/>
                        </a:defRPr>
                      </a:pPr>
                      <a:r>
                        <a:t>4 — Decide</a:t>
                      </a:r>
                    </a:p>
                  </a:txBody>
                  <a:tcPr marL="64008" marR="45720" marT="36576" marB="27432" anchor="ctr">
                    <a:solidFill>
                      <a:srgbClr val="F2F6FA"/>
                    </a:solidFill>
                  </a:tcPr>
                </a:tc>
                <a:tc>
                  <a:txBody>
                    <a:bodyPr/>
                    <a:lstStyle/>
                    <a:p>
                      <a:pPr>
                        <a:spcAft>
                          <a:spcPts val="0"/>
                        </a:spcAft>
                        <a:defRPr sz="1000" b="0">
                          <a:solidFill>
                            <a:srgbClr val="283443"/>
                          </a:solidFill>
                          <a:latin typeface="Aptos"/>
                        </a:defRPr>
                      </a:pPr>
                      <a:r>
                        <a:t>Calculate cost per successful task; review developer feedback, operational runbooks, feature/region availability and lock-in.</a:t>
                      </a:r>
                    </a:p>
                  </a:txBody>
                  <a:tcPr marL="64008" marR="45720" marT="36576" marB="27432" anchor="ctr">
                    <a:solidFill>
                      <a:srgbClr val="F2F6FA"/>
                    </a:solidFill>
                  </a:tcPr>
                </a:tc>
                <a:tc>
                  <a:txBody>
                    <a:bodyPr/>
                    <a:lstStyle/>
                    <a:p>
                      <a:pPr>
                        <a:spcAft>
                          <a:spcPts val="0"/>
                        </a:spcAft>
                        <a:defRPr sz="1000" b="0">
                          <a:solidFill>
                            <a:srgbClr val="283443"/>
                          </a:solidFill>
                          <a:latin typeface="Aptos"/>
                        </a:defRPr>
                      </a:pPr>
                      <a:r>
                        <a:t>Architecture Review Board recommendation: default, allowed exceptions, remediation items and 90-day rollout plan.</a:t>
                      </a:r>
                    </a:p>
                  </a:txBody>
                  <a:tcPr marL="64008" marR="45720" marT="36576" marB="27432" anchor="ctr">
                    <a:solidFill>
                      <a:srgbClr val="F2F6FA"/>
                    </a:solidFill>
                  </a:tcPr>
                </a:tc>
              </a:tr>
            </a:tbl>
          </a:graphicData>
        </a:graphic>
      </p:graphicFrame>
      <p:sp>
        <p:nvSpPr>
          <p:cNvPr id="8" name="TextBox 7"/>
          <p:cNvSpPr txBox="1"/>
          <p:nvPr/>
        </p:nvSpPr>
        <p:spPr>
          <a:xfrm>
            <a:off x="713232" y="5925312"/>
            <a:ext cx="10789920" cy="274320"/>
          </a:xfrm>
          <a:prstGeom prst="rect">
            <a:avLst/>
          </a:prstGeom>
          <a:noFill/>
        </p:spPr>
        <p:txBody>
          <a:bodyPr wrap="square" lIns="45720" rIns="45720" anchor="t">
            <a:spAutoFit/>
          </a:bodyPr>
          <a:lstStyle/>
          <a:p>
            <a:pPr>
              <a:spcAft>
                <a:spcPts val="500"/>
              </a:spcAft>
              <a:defRPr sz="1100" b="1">
                <a:solidFill>
                  <a:srgbClr val="A54242"/>
                </a:solidFill>
                <a:latin typeface="Aptos"/>
              </a:defRPr>
            </a:pPr>
            <a:r>
              <a:t>Hard gates: Kong compliance • Entra identity/least privilege • Databricks authorization • Dynatrace trace continuity • acceptable safety and TCO.</a:t>
            </a:r>
          </a:p>
        </p:txBody>
      </p:sp>
      <p:sp>
        <p:nvSpPr>
          <p:cNvPr id="9" name="TextBox 8"/>
          <p:cNvSpPr txBox="1"/>
          <p:nvPr/>
        </p:nvSpPr>
        <p:spPr>
          <a:xfrm>
            <a:off x="530352" y="6537960"/>
            <a:ext cx="8961120" cy="164592"/>
          </a:xfrm>
          <a:prstGeom prst="rect">
            <a:avLst/>
          </a:prstGeom>
          <a:noFill/>
        </p:spPr>
        <p:txBody>
          <a:bodyPr wrap="square" lIns="45720" rIns="45720" anchor="t">
            <a:spAutoFit/>
          </a:bodyPr>
          <a:lstStyle/>
          <a:p>
            <a:pPr>
              <a:spcAft>
                <a:spcPts val="500"/>
              </a:spcAft>
              <a:defRPr sz="700" b="0">
                <a:solidFill>
                  <a:srgbClr val="5F6C7A"/>
                </a:solidFill>
                <a:latin typeface="Aptos"/>
              </a:defRPr>
            </a:pPr>
            <a:r>
              <a:t>Enterprise architecture decision brief  |  27 Oct 2026  |  Pricing and feature status should be revalidated at procurement</a:t>
            </a:r>
          </a:p>
        </p:txBody>
      </p:sp>
      <p:sp>
        <p:nvSpPr>
          <p:cNvPr id="10" name="TextBox 9"/>
          <p:cNvSpPr txBox="1"/>
          <p:nvPr/>
        </p:nvSpPr>
        <p:spPr>
          <a:xfrm>
            <a:off x="11155680" y="6510528"/>
            <a:ext cx="457200" cy="201168"/>
          </a:xfrm>
          <a:prstGeom prst="rect">
            <a:avLst/>
          </a:prstGeom>
          <a:noFill/>
        </p:spPr>
        <p:txBody>
          <a:bodyPr wrap="square" lIns="45720" rIns="45720" anchor="t">
            <a:spAutoFit/>
          </a:bodyPr>
          <a:lstStyle/>
          <a:p>
            <a:pPr algn="r">
              <a:spcAft>
                <a:spcPts val="500"/>
              </a:spcAft>
              <a:defRPr sz="800" b="0">
                <a:solidFill>
                  <a:srgbClr val="5F6C7A"/>
                </a:solidFill>
                <a:latin typeface="Aptos"/>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11480"/>
            <a:ext cx="10789920" cy="320040"/>
          </a:xfrm>
          <a:prstGeom prst="rect">
            <a:avLst/>
          </a:prstGeom>
          <a:noFill/>
        </p:spPr>
        <p:txBody>
          <a:bodyPr wrap="square" lIns="45720" rIns="45720" anchor="t">
            <a:spAutoFit/>
          </a:bodyPr>
          <a:lstStyle/>
          <a:p>
            <a:pPr>
              <a:spcAft>
                <a:spcPts val="500"/>
              </a:spcAft>
              <a:defRPr sz="1100" b="1">
                <a:solidFill>
                  <a:srgbClr val="73D6D2"/>
                </a:solidFill>
                <a:latin typeface="Aptos"/>
              </a:defRPr>
            </a:pPr>
            <a:r>
              <a:t>DECISION REQUEST</a:t>
            </a:r>
          </a:p>
        </p:txBody>
      </p:sp>
      <p:sp>
        <p:nvSpPr>
          <p:cNvPr id="4" name="TextBox 3"/>
          <p:cNvSpPr txBox="1"/>
          <p:nvPr/>
        </p:nvSpPr>
        <p:spPr>
          <a:xfrm>
            <a:off x="658368" y="914400"/>
            <a:ext cx="10789920" cy="685800"/>
          </a:xfrm>
          <a:prstGeom prst="rect">
            <a:avLst/>
          </a:prstGeom>
          <a:noFill/>
        </p:spPr>
        <p:txBody>
          <a:bodyPr wrap="square" lIns="45720" rIns="45720" anchor="t">
            <a:spAutoFit/>
          </a:bodyPr>
          <a:lstStyle/>
          <a:p>
            <a:pPr>
              <a:spcAft>
                <a:spcPts val="500"/>
              </a:spcAft>
              <a:defRPr sz="2900" b="1">
                <a:solidFill>
                  <a:srgbClr val="FFFFFF"/>
                </a:solidFill>
                <a:latin typeface="Aptos"/>
              </a:defRPr>
            </a:pPr>
            <a:r>
              <a:t>Approve a conditional standardization PoC</a:t>
            </a:r>
          </a:p>
        </p:txBody>
      </p:sp>
      <p:sp>
        <p:nvSpPr>
          <p:cNvPr id="5" name="TextBox 4"/>
          <p:cNvSpPr txBox="1"/>
          <p:nvPr/>
        </p:nvSpPr>
        <p:spPr>
          <a:xfrm>
            <a:off x="713232" y="1828800"/>
            <a:ext cx="10607040" cy="960120"/>
          </a:xfrm>
          <a:prstGeom prst="rect">
            <a:avLst/>
          </a:prstGeom>
          <a:noFill/>
        </p:spPr>
        <p:txBody>
          <a:bodyPr wrap="square" lIns="45720" rIns="45720" anchor="t">
            <a:spAutoFit/>
          </a:bodyPr>
          <a:lstStyle/>
          <a:p>
            <a:pPr>
              <a:spcAft>
                <a:spcPts val="500"/>
              </a:spcAft>
              <a:defRPr sz="1800" b="0">
                <a:solidFill>
                  <a:srgbClr val="FFFFFF"/>
                </a:solidFill>
                <a:latin typeface="Aptos"/>
              </a:defRPr>
            </a:pPr>
            <a:r>
              <a:t>Provisional default: Microsoft Foundry Agent Service for Azure-centric workloads. Keep AWS Bedrock AgentCore as a governed exception path for use cases where its modular runtime capabilities demonstrably win.</a:t>
            </a:r>
          </a:p>
        </p:txBody>
      </p:sp>
      <p:sp>
        <p:nvSpPr>
          <p:cNvPr id="6" name="Rounded Rectangle 5"/>
          <p:cNvSpPr/>
          <p:nvPr/>
        </p:nvSpPr>
        <p:spPr>
          <a:xfrm>
            <a:off x="685800" y="3337560"/>
            <a:ext cx="3246120" cy="1508760"/>
          </a:xfrm>
          <a:prstGeom prst="roundRect">
            <a:avLst/>
          </a:prstGeom>
          <a:solidFill>
            <a:srgbClr val="1D3855"/>
          </a:solidFill>
          <a:ln>
            <a:solidFill>
              <a:srgbClr val="0082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3547872"/>
            <a:ext cx="2880360" cy="320040"/>
          </a:xfrm>
          <a:prstGeom prst="rect">
            <a:avLst/>
          </a:prstGeom>
          <a:noFill/>
        </p:spPr>
        <p:txBody>
          <a:bodyPr wrap="square" lIns="45720" rIns="45720" anchor="t">
            <a:spAutoFit/>
          </a:bodyPr>
          <a:lstStyle/>
          <a:p>
            <a:pPr>
              <a:spcAft>
                <a:spcPts val="500"/>
              </a:spcAft>
              <a:defRPr sz="1600" b="1">
                <a:solidFill>
                  <a:srgbClr val="FFFFFF"/>
                </a:solidFill>
                <a:latin typeface="Aptos"/>
              </a:defRPr>
            </a:pPr>
            <a:r>
              <a:t>Approve</a:t>
            </a:r>
          </a:p>
        </p:txBody>
      </p:sp>
      <p:sp>
        <p:nvSpPr>
          <p:cNvPr id="8" name="TextBox 7"/>
          <p:cNvSpPr txBox="1"/>
          <p:nvPr/>
        </p:nvSpPr>
        <p:spPr>
          <a:xfrm>
            <a:off x="850392" y="3977639"/>
            <a:ext cx="2880360" cy="713232"/>
          </a:xfrm>
          <a:prstGeom prst="rect">
            <a:avLst/>
          </a:prstGeom>
          <a:noFill/>
        </p:spPr>
        <p:txBody>
          <a:bodyPr wrap="square" lIns="45720" rIns="45720" anchor="t">
            <a:spAutoFit/>
          </a:bodyPr>
          <a:lstStyle/>
          <a:p>
            <a:pPr>
              <a:spcAft>
                <a:spcPts val="500"/>
              </a:spcAft>
              <a:defRPr sz="1200" b="0">
                <a:solidFill>
                  <a:srgbClr val="DBE4ED"/>
                </a:solidFill>
                <a:latin typeface="Aptos"/>
              </a:defRPr>
            </a:pPr>
            <a:r>
              <a:t>Four-week comparative PoC with identical use cases and agreed acceptance gates.</a:t>
            </a:r>
          </a:p>
        </p:txBody>
      </p:sp>
      <p:sp>
        <p:nvSpPr>
          <p:cNvPr id="9" name="Rounded Rectangle 8"/>
          <p:cNvSpPr/>
          <p:nvPr/>
        </p:nvSpPr>
        <p:spPr>
          <a:xfrm>
            <a:off x="4343400" y="3337560"/>
            <a:ext cx="3246120" cy="1508760"/>
          </a:xfrm>
          <a:prstGeom prst="roundRect">
            <a:avLst/>
          </a:prstGeom>
          <a:solidFill>
            <a:srgbClr val="1D3855"/>
          </a:solidFill>
          <a:ln>
            <a:solidFill>
              <a:srgbClr val="CF7E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07992" y="3547872"/>
            <a:ext cx="2880360" cy="320040"/>
          </a:xfrm>
          <a:prstGeom prst="rect">
            <a:avLst/>
          </a:prstGeom>
          <a:noFill/>
        </p:spPr>
        <p:txBody>
          <a:bodyPr wrap="square" lIns="45720" rIns="45720" anchor="t">
            <a:spAutoFit/>
          </a:bodyPr>
          <a:lstStyle/>
          <a:p>
            <a:pPr>
              <a:spcAft>
                <a:spcPts val="500"/>
              </a:spcAft>
              <a:defRPr sz="1600" b="1">
                <a:solidFill>
                  <a:srgbClr val="FFFFFF"/>
                </a:solidFill>
                <a:latin typeface="Aptos"/>
              </a:defRPr>
            </a:pPr>
            <a:r>
              <a:t>Require</a:t>
            </a:r>
          </a:p>
        </p:txBody>
      </p:sp>
      <p:sp>
        <p:nvSpPr>
          <p:cNvPr id="11" name="TextBox 10"/>
          <p:cNvSpPr txBox="1"/>
          <p:nvPr/>
        </p:nvSpPr>
        <p:spPr>
          <a:xfrm>
            <a:off x="4507992" y="3977639"/>
            <a:ext cx="2880360" cy="713232"/>
          </a:xfrm>
          <a:prstGeom prst="rect">
            <a:avLst/>
          </a:prstGeom>
          <a:noFill/>
        </p:spPr>
        <p:txBody>
          <a:bodyPr wrap="square" lIns="45720" rIns="45720" anchor="t">
            <a:spAutoFit/>
          </a:bodyPr>
          <a:lstStyle/>
          <a:p>
            <a:pPr>
              <a:spcAft>
                <a:spcPts val="500"/>
              </a:spcAft>
              <a:defRPr sz="1200" b="0">
                <a:solidFill>
                  <a:srgbClr val="DBE4ED"/>
                </a:solidFill>
                <a:latin typeface="Aptos"/>
              </a:defRPr>
            </a:pPr>
            <a:r>
              <a:t>Kong mediation, Entra least privilege, Databricks controls, Dynatrace traces and task-based TCO.</a:t>
            </a:r>
          </a:p>
        </p:txBody>
      </p:sp>
      <p:sp>
        <p:nvSpPr>
          <p:cNvPr id="12" name="Rounded Rectangle 11"/>
          <p:cNvSpPr/>
          <p:nvPr/>
        </p:nvSpPr>
        <p:spPr>
          <a:xfrm>
            <a:off x="8001000" y="3337560"/>
            <a:ext cx="3246120" cy="1508760"/>
          </a:xfrm>
          <a:prstGeom prst="roundRect">
            <a:avLst/>
          </a:prstGeom>
          <a:solidFill>
            <a:srgbClr val="1D3855"/>
          </a:solidFill>
          <a:ln>
            <a:solidFill>
              <a:srgbClr val="2563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65592" y="3547872"/>
            <a:ext cx="2880360" cy="320040"/>
          </a:xfrm>
          <a:prstGeom prst="rect">
            <a:avLst/>
          </a:prstGeom>
          <a:noFill/>
        </p:spPr>
        <p:txBody>
          <a:bodyPr wrap="square" lIns="45720" rIns="45720" anchor="t">
            <a:spAutoFit/>
          </a:bodyPr>
          <a:lstStyle/>
          <a:p>
            <a:pPr>
              <a:spcAft>
                <a:spcPts val="500"/>
              </a:spcAft>
              <a:defRPr sz="1600" b="1">
                <a:solidFill>
                  <a:srgbClr val="FFFFFF"/>
                </a:solidFill>
                <a:latin typeface="Aptos"/>
              </a:defRPr>
            </a:pPr>
            <a:r>
              <a:t>Decide</a:t>
            </a:r>
          </a:p>
        </p:txBody>
      </p:sp>
      <p:sp>
        <p:nvSpPr>
          <p:cNvPr id="14" name="TextBox 13"/>
          <p:cNvSpPr txBox="1"/>
          <p:nvPr/>
        </p:nvSpPr>
        <p:spPr>
          <a:xfrm>
            <a:off x="8165592" y="3977639"/>
            <a:ext cx="2880360" cy="713232"/>
          </a:xfrm>
          <a:prstGeom prst="rect">
            <a:avLst/>
          </a:prstGeom>
          <a:noFill/>
        </p:spPr>
        <p:txBody>
          <a:bodyPr wrap="square" lIns="45720" rIns="45720" anchor="t">
            <a:spAutoFit/>
          </a:bodyPr>
          <a:lstStyle/>
          <a:p>
            <a:pPr>
              <a:spcAft>
                <a:spcPts val="500"/>
              </a:spcAft>
              <a:defRPr sz="1200" b="0">
                <a:solidFill>
                  <a:srgbClr val="DBE4ED"/>
                </a:solidFill>
                <a:latin typeface="Aptos"/>
              </a:defRPr>
            </a:pPr>
            <a:r>
              <a:t>Use measured results to set default patterns, exception criteria, ownership and rollout sequence.</a:t>
            </a:r>
          </a:p>
        </p:txBody>
      </p:sp>
      <p:sp>
        <p:nvSpPr>
          <p:cNvPr id="15" name="TextBox 14"/>
          <p:cNvSpPr txBox="1"/>
          <p:nvPr/>
        </p:nvSpPr>
        <p:spPr>
          <a:xfrm>
            <a:off x="713232" y="5623560"/>
            <a:ext cx="10698480" cy="502920"/>
          </a:xfrm>
          <a:prstGeom prst="rect">
            <a:avLst/>
          </a:prstGeom>
          <a:noFill/>
        </p:spPr>
        <p:txBody>
          <a:bodyPr wrap="square" lIns="45720" rIns="45720" anchor="t">
            <a:spAutoFit/>
          </a:bodyPr>
          <a:lstStyle/>
          <a:p>
            <a:pPr>
              <a:spcAft>
                <a:spcPts val="500"/>
              </a:spcAft>
              <a:defRPr sz="1400" b="1">
                <a:solidFill>
                  <a:srgbClr val="DBE4ED"/>
                </a:solidFill>
                <a:latin typeface="Aptos"/>
              </a:defRPr>
            </a:pPr>
            <a:r>
              <a:t>Final principle: one enterprise governance model, a small number of paved-road agent patterns, and runtime choice justified by evidence—not ideology.</a:t>
            </a:r>
          </a:p>
        </p:txBody>
      </p:sp>
      <p:sp>
        <p:nvSpPr>
          <p:cNvPr id="16" name="TextBox 15"/>
          <p:cNvSpPr txBox="1"/>
          <p:nvPr/>
        </p:nvSpPr>
        <p:spPr>
          <a:xfrm>
            <a:off x="713232" y="6446520"/>
            <a:ext cx="10698480" cy="182880"/>
          </a:xfrm>
          <a:prstGeom prst="rect">
            <a:avLst/>
          </a:prstGeom>
          <a:noFill/>
        </p:spPr>
        <p:txBody>
          <a:bodyPr wrap="square" lIns="45720" rIns="45720" anchor="t">
            <a:spAutoFit/>
          </a:bodyPr>
          <a:lstStyle/>
          <a:p>
            <a:pPr>
              <a:spcAft>
                <a:spcPts val="500"/>
              </a:spcAft>
              <a:defRPr sz="800" b="0">
                <a:solidFill>
                  <a:srgbClr val="BECBDA"/>
                </a:solidFill>
                <a:latin typeface="Aptos"/>
              </a:defRPr>
            </a:pPr>
            <a:r>
              <a:t>Prepared 27 October 2026 • Confirm current service names, regional availability, previews/GA and contractual pricing before approval.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438912"/>
          </a:xfrm>
          <a:prstGeom prst="rect">
            <a:avLst/>
          </a:prstGeom>
          <a:noFill/>
        </p:spPr>
        <p:txBody>
          <a:bodyPr wrap="square" lIns="45720" rIns="45720" anchor="t">
            <a:spAutoFit/>
          </a:bodyPr>
          <a:lstStyle/>
          <a:p>
            <a:pPr>
              <a:spcAft>
                <a:spcPts val="500"/>
              </a:spcAft>
              <a:defRPr sz="2600" b="1">
                <a:solidFill>
                  <a:srgbClr val="12233D"/>
                </a:solidFill>
                <a:latin typeface="Aptos"/>
              </a:defRPr>
            </a:pPr>
            <a:r>
              <a:t>Sources and validation notes</a:t>
            </a:r>
          </a:p>
        </p:txBody>
      </p:sp>
      <p:sp>
        <p:nvSpPr>
          <p:cNvPr id="4" name="TextBox 3"/>
          <p:cNvSpPr txBox="1"/>
          <p:nvPr/>
        </p:nvSpPr>
        <p:spPr>
          <a:xfrm>
            <a:off x="530352" y="749808"/>
            <a:ext cx="10972800" cy="384048"/>
          </a:xfrm>
          <a:prstGeom prst="rect">
            <a:avLst/>
          </a:prstGeom>
          <a:noFill/>
        </p:spPr>
        <p:txBody>
          <a:bodyPr wrap="square" lIns="45720" rIns="45720" anchor="t">
            <a:spAutoFit/>
          </a:bodyPr>
          <a:lstStyle/>
          <a:p>
            <a:pPr>
              <a:spcAft>
                <a:spcPts val="500"/>
              </a:spcAft>
              <a:defRPr sz="1100" b="0">
                <a:solidFill>
                  <a:srgbClr val="5F6C7A"/>
                </a:solidFill>
                <a:latin typeface="Aptos"/>
              </a:defRPr>
            </a:pPr>
            <a:r>
              <a:t>Official product documentation consulted for this decision brief</a:t>
            </a:r>
          </a:p>
        </p:txBody>
      </p:sp>
      <p:sp>
        <p:nvSpPr>
          <p:cNvPr id="5" name="Rectangle 4"/>
          <p:cNvSpPr/>
          <p:nvPr/>
        </p:nvSpPr>
        <p:spPr>
          <a:xfrm>
            <a:off x="530352" y="1170432"/>
            <a:ext cx="11064240" cy="22860"/>
          </a:xfrm>
          <a:prstGeom prst="rect">
            <a:avLst/>
          </a:prstGeom>
          <a:solidFill>
            <a:srgbClr val="0082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66960" y="91440"/>
            <a:ext cx="1554480" cy="201168"/>
          </a:xfrm>
          <a:prstGeom prst="rect">
            <a:avLst/>
          </a:prstGeom>
          <a:noFill/>
        </p:spPr>
        <p:txBody>
          <a:bodyPr wrap="square" lIns="45720" rIns="45720" anchor="t">
            <a:spAutoFit/>
          </a:bodyPr>
          <a:lstStyle/>
          <a:p>
            <a:pPr algn="r">
              <a:spcAft>
                <a:spcPts val="500"/>
              </a:spcAft>
              <a:defRPr sz="800" b="1">
                <a:solidFill>
                  <a:srgbClr val="008284"/>
                </a:solidFill>
                <a:latin typeface="Aptos"/>
              </a:defRPr>
            </a:pPr>
            <a:r>
              <a:t>APPENDIX</a:t>
            </a:r>
          </a:p>
        </p:txBody>
      </p:sp>
      <p:sp>
        <p:nvSpPr>
          <p:cNvPr id="7" name="TextBox 6"/>
          <p:cNvSpPr txBox="1"/>
          <p:nvPr/>
        </p:nvSpPr>
        <p:spPr>
          <a:xfrm>
            <a:off x="685800" y="1417320"/>
            <a:ext cx="10789920" cy="4526280"/>
          </a:xfrm>
          <a:prstGeom prst="rect">
            <a:avLst/>
          </a:prstGeom>
          <a:noFill/>
        </p:spPr>
        <p:txBody>
          <a:bodyPr wrap="square" lIns="73152" rIns="73152" tIns="36576" bIns="36576">
            <a:spAutoFit/>
          </a:bodyPr>
          <a:lstStyle/>
          <a:p>
            <a:pPr>
              <a:spcAft>
                <a:spcPts val="700"/>
              </a:spcAft>
              <a:defRPr sz="1100">
                <a:solidFill>
                  <a:srgbClr val="283443"/>
                </a:solidFill>
                <a:latin typeface="Aptos"/>
              </a:defRPr>
            </a:pPr>
            <a:r>
              <a:t>•  Amazon Bedrock AgentCore pricing — https://aws.amazon.com/bedrock/agentcore/pricing/</a:t>
            </a:r>
          </a:p>
          <a:p>
            <a:pPr>
              <a:spcAft>
                <a:spcPts val="700"/>
              </a:spcAft>
              <a:defRPr sz="1100">
                <a:solidFill>
                  <a:srgbClr val="283443"/>
                </a:solidFill>
                <a:latin typeface="Aptos"/>
              </a:defRPr>
            </a:pPr>
            <a:r>
              <a:t>•  Amazon Bedrock AgentCore overview — https://docs.aws.amazon.com/bedrock-agentcore/latest/devguide/what-is-bedrock-agentcore.html</a:t>
            </a:r>
          </a:p>
          <a:p>
            <a:pPr>
              <a:spcAft>
                <a:spcPts val="700"/>
              </a:spcAft>
              <a:defRPr sz="1100">
                <a:solidFill>
                  <a:srgbClr val="283443"/>
                </a:solidFill>
                <a:latin typeface="Aptos"/>
              </a:defRPr>
            </a:pPr>
            <a:r>
              <a:t>•  AgentCore observability — https://docs.aws.amazon.com/bedrock-agentcore/latest/devguide/observability.html</a:t>
            </a:r>
          </a:p>
          <a:p>
            <a:pPr>
              <a:spcAft>
                <a:spcPts val="700"/>
              </a:spcAft>
              <a:defRPr sz="1100">
                <a:solidFill>
                  <a:srgbClr val="283443"/>
                </a:solidFill>
                <a:latin typeface="Aptos"/>
              </a:defRPr>
            </a:pPr>
            <a:r>
              <a:t>•  Microsoft Foundry Agent Service overview — https://learn.microsoft.com/en-us/azure/ai-services/agents/overview</a:t>
            </a:r>
          </a:p>
          <a:p>
            <a:pPr>
              <a:spcAft>
                <a:spcPts val="700"/>
              </a:spcAft>
              <a:defRPr sz="1100">
                <a:solidFill>
                  <a:srgbClr val="283443"/>
                </a:solidFill>
                <a:latin typeface="Aptos"/>
              </a:defRPr>
            </a:pPr>
            <a:r>
              <a:t>•  Foundry Agent Service pricing — https://azure.microsoft.com/en-us/pricing/details/foundry-agent-service/</a:t>
            </a:r>
          </a:p>
          <a:p>
            <a:pPr>
              <a:spcAft>
                <a:spcPts val="700"/>
              </a:spcAft>
              <a:defRPr sz="1100">
                <a:solidFill>
                  <a:srgbClr val="283443"/>
                </a:solidFill>
                <a:latin typeface="Aptos"/>
              </a:defRPr>
            </a:pPr>
            <a:r>
              <a:t>•  Foundry hosted agents — https://learn.microsoft.com/en-us/azure/foundry/agents/concepts/hosted-agents</a:t>
            </a:r>
          </a:p>
          <a:p>
            <a:pPr>
              <a:spcAft>
                <a:spcPts val="700"/>
              </a:spcAft>
              <a:defRPr sz="1100">
                <a:solidFill>
                  <a:srgbClr val="283443"/>
                </a:solidFill>
                <a:latin typeface="Aptos"/>
              </a:defRPr>
            </a:pPr>
            <a:r>
              <a:t>•  Foundry agent identity — https://learn.microsoft.com/en-us/azure/foundry/agents/concepts/agent-identity</a:t>
            </a:r>
          </a:p>
          <a:p>
            <a:pPr>
              <a:spcAft>
                <a:spcPts val="700"/>
              </a:spcAft>
              <a:defRPr sz="1100">
                <a:solidFill>
                  <a:srgbClr val="283443"/>
                </a:solidFill>
                <a:latin typeface="Aptos"/>
              </a:defRPr>
            </a:pPr>
            <a:r>
              <a:t>•  Foundry observability — https://learn.microsoft.com/en-us/azure/ai-foundry/concepts/observability?view=foundry</a:t>
            </a:r>
          </a:p>
          <a:p>
            <a:pPr>
              <a:spcAft>
                <a:spcPts val="700"/>
              </a:spcAft>
              <a:defRPr sz="1100">
                <a:solidFill>
                  <a:srgbClr val="283443"/>
                </a:solidFill>
                <a:latin typeface="Aptos"/>
              </a:defRPr>
            </a:pPr>
            <a:r>
              <a:t>•  Databricks OAuth/service principal authentication — https://docs.databricks.com/aws/en/dev-tools/auth/oauth-m2m</a:t>
            </a:r>
          </a:p>
        </p:txBody>
      </p:sp>
      <p:sp>
        <p:nvSpPr>
          <p:cNvPr id="8" name="TextBox 7"/>
          <p:cNvSpPr txBox="1"/>
          <p:nvPr/>
        </p:nvSpPr>
        <p:spPr>
          <a:xfrm>
            <a:off x="713232" y="5989320"/>
            <a:ext cx="10789920" cy="320040"/>
          </a:xfrm>
          <a:prstGeom prst="rect">
            <a:avLst/>
          </a:prstGeom>
          <a:noFill/>
        </p:spPr>
        <p:txBody>
          <a:bodyPr wrap="square" lIns="45720" rIns="45720" anchor="t">
            <a:spAutoFit/>
          </a:bodyPr>
          <a:lstStyle/>
          <a:p>
            <a:pPr>
              <a:spcAft>
                <a:spcPts val="500"/>
              </a:spcAft>
              <a:defRPr sz="1000" b="0">
                <a:solidFill>
                  <a:srgbClr val="5F6C7A"/>
                </a:solidFill>
                <a:latin typeface="Aptos"/>
              </a:defRPr>
            </a:pPr>
            <a:r>
              <a:t>Scope note: Kong and Dynatrace are treated as enterprise-mandated components. Their license costs, exact supported integrations and routing/telemetry behavior must be validated against the organization's versions and configuration.</a:t>
            </a:r>
          </a:p>
        </p:txBody>
      </p:sp>
      <p:sp>
        <p:nvSpPr>
          <p:cNvPr id="9" name="TextBox 8"/>
          <p:cNvSpPr txBox="1"/>
          <p:nvPr/>
        </p:nvSpPr>
        <p:spPr>
          <a:xfrm>
            <a:off x="530352" y="6537960"/>
            <a:ext cx="8961120" cy="164592"/>
          </a:xfrm>
          <a:prstGeom prst="rect">
            <a:avLst/>
          </a:prstGeom>
          <a:noFill/>
        </p:spPr>
        <p:txBody>
          <a:bodyPr wrap="square" lIns="45720" rIns="45720" anchor="t">
            <a:spAutoFit/>
          </a:bodyPr>
          <a:lstStyle/>
          <a:p>
            <a:pPr>
              <a:spcAft>
                <a:spcPts val="500"/>
              </a:spcAft>
              <a:defRPr sz="700" b="0">
                <a:solidFill>
                  <a:srgbClr val="5F6C7A"/>
                </a:solidFill>
                <a:latin typeface="Aptos"/>
              </a:defRPr>
            </a:pPr>
            <a:r>
              <a:t>Enterprise architecture decision brief  |  27 Oct 2026  |  Pricing and feature status should be revalidated at procurement</a:t>
            </a:r>
          </a:p>
        </p:txBody>
      </p:sp>
      <p:sp>
        <p:nvSpPr>
          <p:cNvPr id="10" name="TextBox 9"/>
          <p:cNvSpPr txBox="1"/>
          <p:nvPr/>
        </p:nvSpPr>
        <p:spPr>
          <a:xfrm>
            <a:off x="11155680" y="6510528"/>
            <a:ext cx="457200" cy="201168"/>
          </a:xfrm>
          <a:prstGeom prst="rect">
            <a:avLst/>
          </a:prstGeom>
          <a:noFill/>
        </p:spPr>
        <p:txBody>
          <a:bodyPr wrap="square" lIns="45720" rIns="45720" anchor="t">
            <a:spAutoFit/>
          </a:bodyPr>
          <a:lstStyle/>
          <a:p>
            <a:pPr algn="r">
              <a:spcAft>
                <a:spcPts val="500"/>
              </a:spcAft>
              <a:defRPr sz="800" b="0">
                <a:solidFill>
                  <a:srgbClr val="5F6C7A"/>
                </a:solidFill>
                <a:latin typeface="Aptos"/>
              </a:defRPr>
            </a:pPr>
            <a: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